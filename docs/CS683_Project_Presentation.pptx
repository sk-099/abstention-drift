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5.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B1B"/>
                </a:solidFill>
                <a:latin typeface="Calibri"/>
              </a:defRPr>
            </a:pPr>
            <a:r>
              <a:rPr sz="1300" b="0" i="0" u="none" strike="noStrike">
                <a:solidFill>
                  <a:srgbClr val="1B1B1B"/>
                </a:solidFill>
                <a:latin typeface="Calibri"/>
              </a:rPr>
              <a:t>% unanswerable by turn position</a:t>
            </a:r>
          </a:p>
        </c:rich>
      </c:tx>
      <c:layout/>
      <c:overlay val="0"/>
    </c:title>
    <c:autoTitleDeleted val="0"/>
    <c:plotArea>
      <c:layout/>
      <c:barChart>
        <c:barDir val="col"/>
        <c:grouping val="clustered"/>
        <c:varyColors val="0"/>
        <c:ser>
          <c:idx val="0"/>
          <c:order val="0"/>
          <c:tx>
            <c:strRef>
              <c:f>Sheet1!$B$1</c:f>
              <c:strCache>
                <c:ptCount val="1"/>
                <c:pt idx="0">
                  <c:v>MTRAG</c:v>
                </c:pt>
              </c:strCache>
            </c:strRef>
          </c:tx>
          <c:spPr>
            <a:solidFill>
              <a:srgbClr val="2A78D6"/>
            </a:solidFill>
            <a:effectLst/>
          </c:spPr>
          <c:invertIfNegative val="0"/>
          <c:dLbls>
            <c:numFmt formatCode="0.0" sourceLinked="0"/>
            <c:txPr>
              <a:bodyPr/>
              <a:lstStyle/>
              <a:p>
                <a:pPr>
                  <a:defRPr b="0" i="0" strike="noStrike" sz="1000" u="none">
                    <a:solidFill>
                      <a:srgbClr val="1B1B1B"/>
                    </a:solidFill>
                    <a:latin typeface="Arial"/>
                  </a:defRPr>
                </a:pPr>
              </a:p>
            </c:txPr>
            <c:showLegendKey val="0"/>
            <c:showVal val="1"/>
            <c:showCatName val="0"/>
            <c:showSerName val="0"/>
            <c:showPercent val="0"/>
            <c:showBubbleSize val="0"/>
            <c:showLeaderLines val="0"/>
          </c:dLbls>
          <c:cat>
            <c:multiLvlStrRef>
              <c:f>Sheet1!$A$2:$A$4</c:f>
              <c:multiLvlStrCache>
                <c:ptCount val="3"/>
                <c:lvl>
                  <c:pt idx="0">
                    <c:v>Turns 1–2</c:v>
                  </c:pt>
                  <c:pt idx="1">
                    <c:v>Turns 3–5</c:v>
                  </c:pt>
                  <c:pt idx="2">
                    <c:v>Turns 6+</c:v>
                  </c:pt>
                </c:lvl>
              </c:multiLvlStrCache>
            </c:multiLvlStrRef>
          </c:cat>
          <c:val>
            <c:numRef>
              <c:f>Sheet1!$B$2:$B$4</c:f>
              <c:numCache>
                <c:formatCode>General</c:formatCode>
                <c:ptCount val="3"/>
                <c:pt idx="0">
                  <c:v>5</c:v>
                </c:pt>
                <c:pt idx="1">
                  <c:v>6.8</c:v>
                </c:pt>
                <c:pt idx="2">
                  <c:v>7.4</c:v>
                </c:pt>
              </c:numCache>
            </c:numRef>
          </c:val>
        </c:ser>
        <c:ser>
          <c:idx val="1"/>
          <c:order val="1"/>
          <c:tx>
            <c:strRef>
              <c:f>Sheet1!$C$1</c:f>
              <c:strCache>
                <c:ptCount val="1"/>
                <c:pt idx="0">
                  <c:v>MTRAG-UN</c:v>
                </c:pt>
              </c:strCache>
            </c:strRef>
          </c:tx>
          <c:spPr>
            <a:solidFill>
              <a:srgbClr val="EB6834"/>
            </a:solidFill>
            <a:effectLst/>
          </c:spPr>
          <c:invertIfNegative val="0"/>
          <c:dLbls>
            <c:numFmt formatCode="0.0" sourceLinked="0"/>
            <c:txPr>
              <a:bodyPr/>
              <a:lstStyle/>
              <a:p>
                <a:pPr>
                  <a:defRPr b="0" i="0" strike="noStrike" sz="1000" u="none">
                    <a:solidFill>
                      <a:srgbClr val="1B1B1B"/>
                    </a:solidFill>
                    <a:latin typeface="Arial"/>
                  </a:defRPr>
                </a:pPr>
              </a:p>
            </c:txPr>
            <c:showLegendKey val="0"/>
            <c:showVal val="1"/>
            <c:showCatName val="0"/>
            <c:showSerName val="0"/>
            <c:showPercent val="0"/>
            <c:showBubbleSize val="0"/>
            <c:showLeaderLines val="0"/>
          </c:dLbls>
          <c:cat>
            <c:multiLvlStrRef>
              <c:f>Sheet1!$A$2:$A$4</c:f>
              <c:multiLvlStrCache>
                <c:ptCount val="3"/>
                <c:lvl>
                  <c:pt idx="0">
                    <c:v>Turns 1–2</c:v>
                  </c:pt>
                  <c:pt idx="1">
                    <c:v>Turns 3–5</c:v>
                  </c:pt>
                  <c:pt idx="2">
                    <c:v>Turns 6+</c:v>
                  </c:pt>
                </c:lvl>
              </c:multiLvlStrCache>
            </c:multiLvlStrRef>
          </c:cat>
          <c:val>
            <c:numRef>
              <c:f>Sheet1!$C$2:$C$4</c:f>
              <c:numCache>
                <c:formatCode>General</c:formatCode>
                <c:ptCount val="3"/>
                <c:pt idx="0">
                  <c:v>9.4</c:v>
                </c:pt>
                <c:pt idx="1">
                  <c:v>13.8</c:v>
                </c:pt>
                <c:pt idx="2">
                  <c:v>33.7</c:v>
                </c:pt>
              </c:numCache>
            </c:numRef>
          </c:val>
        </c:ser>
        <c:dLbls>
          <c:numFmt formatCode="0.0" sourceLinked="0"/>
          <c:txPr>
            <a:bodyPr/>
            <a:lstStyle/>
            <a:p>
              <a:pPr>
                <a:defRPr b="0" i="0" strike="noStrike" sz="1000" u="none">
                  <a:solidFill>
                    <a:srgbClr val="1B1B1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5B5B"/>
                </a:solidFill>
                <a:latin typeface="Calibri"/>
              </a:defRPr>
            </a:pPr>
            <a:endParaRPr lang="en-US"/>
          </a:p>
        </c:txPr>
        <c:crossAx val="2094734552"/>
        <c:crosses val="autoZero"/>
        <c:auto val="1"/>
        <c:lblAlgn val="ctr"/>
        <c:noMultiLvlLbl val="1"/>
      </c:catAx>
      <c:valAx>
        <c:axId val="2094734552"/>
        <c:scaling>
          <c:orientation val="minMax"/>
          <c:max val="40"/>
        </c:scaling>
        <c:delete val="0"/>
        <c:axPos val="l"/>
        <c:majorGridlines>
          <c:spPr>
            <a:ln w="6350" cap="flat">
              <a:solidFill>
                <a:srgbClr val="E6E6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B5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1B1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Dev AUROC</c:v>
                </c:pt>
              </c:strCache>
            </c:strRef>
          </c:tx>
          <c:spPr>
            <a:solidFill>
              <a:srgbClr val="2A78D6"/>
            </a:solidFill>
            <a:effectLst/>
          </c:spPr>
          <c:invertIfNegative val="0"/>
          <c:dLbls>
            <c:numFmt formatCode="0.000" sourceLinked="0"/>
            <c:txPr>
              <a:bodyPr/>
              <a:lstStyle/>
              <a:p>
                <a:pPr>
                  <a:defRPr b="0" i="0" strike="noStrike" sz="1000" u="none">
                    <a:solidFill>
                      <a:srgbClr val="1B1B1B"/>
                    </a:solidFill>
                    <a:latin typeface="Arial"/>
                  </a:defRPr>
                </a:pPr>
              </a:p>
            </c:txPr>
            <c:showLegendKey val="0"/>
            <c:showVal val="1"/>
            <c:showCatName val="0"/>
            <c:showSerName val="0"/>
            <c:showPercent val="0"/>
            <c:showBubbleSize val="0"/>
            <c:showLeaderLines val="0"/>
          </c:dLbls>
          <c:cat>
            <c:multiLvlStrRef>
              <c:f>Sheet1!$A$2:$A$8</c:f>
              <c:multiLvlStrCache>
                <c:ptCount val="7"/>
                <c:lvl>
                  <c:pt idx="0">
                    <c:v>DeBERTa, concatenated, real+syn.</c:v>
                  </c:pt>
                  <c:pt idx="1">
                    <c:v>DeBERTa, concatenated, real only</c:v>
                  </c:pt>
                  <c:pt idx="2">
                    <c:v>DeBERTa, per passage, real+syn.</c:v>
                  </c:pt>
                  <c:pt idx="3">
                    <c:v>DeBERTa, per passage, real only</c:v>
                  </c:pt>
                  <c:pt idx="4">
                    <c:v>Re-ranker, untrained (S2-rr)</c:v>
                  </c:pt>
                  <c:pt idx="5">
                    <c:v>Re-ranker fine-tuned, real only (S3)</c:v>
                  </c:pt>
                  <c:pt idx="6">
                    <c:v>Re-ranker fine-tuned, real+syn. (S4)</c:v>
                  </c:pt>
                </c:lvl>
              </c:multiLvlStrCache>
            </c:multiLvlStrRef>
          </c:cat>
          <c:val>
            <c:numRef>
              <c:f>Sheet1!$B$2:$B$8</c:f>
              <c:numCache>
                <c:formatCode>General</c:formatCode>
                <c:ptCount val="7"/>
                <c:pt idx="0">
                  <c:v>0.658</c:v>
                </c:pt>
                <c:pt idx="1">
                  <c:v>0.562</c:v>
                </c:pt>
                <c:pt idx="2">
                  <c:v>0.651</c:v>
                </c:pt>
                <c:pt idx="3">
                  <c:v>0.538</c:v>
                </c:pt>
                <c:pt idx="4">
                  <c:v>0.741</c:v>
                </c:pt>
                <c:pt idx="5">
                  <c:v>0.66</c:v>
                </c:pt>
                <c:pt idx="6">
                  <c:v>0.747</c:v>
                </c:pt>
              </c:numCache>
            </c:numRef>
          </c:val>
        </c:ser>
        <c:dLbls>
          <c:numFmt formatCode="0.000" sourceLinked="0"/>
          <c:txPr>
            <a:bodyPr/>
            <a:lstStyle/>
            <a:p>
              <a:pPr>
                <a:defRPr b="0" i="0" strike="noStrike" sz="1000" u="none">
                  <a:solidFill>
                    <a:srgbClr val="1B1B1B"/>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5B5B"/>
                </a:solidFill>
                <a:latin typeface="Calibri"/>
              </a:defRPr>
            </a:pPr>
            <a:endParaRPr lang="en-US"/>
          </a:p>
        </c:txPr>
        <c:crossAx val="2094734552"/>
        <c:crosses val="autoZero"/>
        <c:auto val="1"/>
        <c:lblAlgn val="ctr"/>
        <c:noMultiLvlLbl val="1"/>
      </c:catAx>
      <c:valAx>
        <c:axId val="2094734552"/>
        <c:scaling>
          <c:orientation val="minMax"/>
          <c:max val="0.8"/>
          <c:min val="0.4"/>
        </c:scaling>
        <c:delete val="0"/>
        <c:axPos val="b"/>
        <c:majorGridlines>
          <c:spPr>
            <a:ln w="6350" cap="flat">
              <a:solidFill>
                <a:srgbClr val="E6E6E6"/>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5B5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B1B"/>
                </a:solidFill>
                <a:latin typeface="Calibri"/>
              </a:defRPr>
            </a:pPr>
            <a:r>
              <a:rPr sz="1300" b="0" i="0" u="none" strike="noStrike">
                <a:solidFill>
                  <a:srgbClr val="1B1B1B"/>
                </a:solidFill>
                <a:latin typeface="Calibri"/>
              </a:rPr>
              <a:t>MTRAG-UN test (97 unanswerable)</a:t>
            </a:r>
          </a:p>
        </c:rich>
      </c:tx>
      <c:layout/>
      <c:overlay val="0"/>
    </c:title>
    <c:autoTitleDeleted val="0"/>
    <c:plotArea>
      <c:layout/>
      <c:lineChart>
        <c:varyColors val="0"/>
        <c:ser>
          <c:idx val="0"/>
          <c:order val="0"/>
          <c:tx>
            <c:strRef>
              <c:f>Sheet1!$B$1</c:f>
              <c:strCache>
                <c:ptCount val="1"/>
                <c:pt idx="0">
                  <c:v>S0</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BAF7A"/>
              </a:solidFill>
              <a:ln w="9525" cap="flat">
                <a:solidFill>
                  <a:srgbClr val="1BAF7A"/>
                </a:solidFill>
                <a:prstDash val="solid"/>
                <a:round/>
              </a:ln>
              <a:effectLst/>
            </c:spPr>
          </c:marker>
          <c:cat>
            <c:multiLvlStrRef>
              <c:f>Sheet1!$A$2:$A$4</c:f>
              <c:multiLvlStrCache>
                <c:ptCount val="3"/>
                <c:lvl>
                  <c:pt idx="0">
                    <c:v>Turns 1–2</c:v>
                  </c:pt>
                  <c:pt idx="1">
                    <c:v>Turns 3–5</c:v>
                  </c:pt>
                  <c:pt idx="2">
                    <c:v>Turns 6+</c:v>
                  </c:pt>
                </c:lvl>
              </c:multiLvlStrCache>
            </c:multiLvlStrRef>
          </c:cat>
          <c:val>
            <c:numRef>
              <c:f>Sheet1!$B$2:$B$4</c:f>
              <c:numCache>
                <c:formatCode>General</c:formatCode>
                <c:ptCount val="3"/>
                <c:pt idx="0">
                  <c:v>0.538</c:v>
                </c:pt>
                <c:pt idx="1">
                  <c:v>0.536</c:v>
                </c:pt>
                <c:pt idx="2">
                  <c:v>0.589</c:v>
                </c:pt>
              </c:numCache>
            </c:numRef>
          </c:val>
          <c:smooth val="0"/>
        </c:ser>
        <c:ser>
          <c:idx val="1"/>
          <c:order val="1"/>
          <c:tx>
            <c:strRef>
              <c:f>Sheet1!$C$1</c:f>
              <c:strCache>
                <c:ptCount val="1"/>
                <c:pt idx="0">
                  <c:v>S2</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Sheet1!$A$2:$A$4</c:f>
              <c:multiLvlStrCache>
                <c:ptCount val="3"/>
                <c:lvl>
                  <c:pt idx="0">
                    <c:v>Turns 1–2</c:v>
                  </c:pt>
                  <c:pt idx="1">
                    <c:v>Turns 3–5</c:v>
                  </c:pt>
                  <c:pt idx="2">
                    <c:v>Turns 6+</c:v>
                  </c:pt>
                </c:lvl>
              </c:multiLvlStrCache>
            </c:multiLvlStrRef>
          </c:cat>
          <c:val>
            <c:numRef>
              <c:f>Sheet1!$C$2:$C$4</c:f>
              <c:numCache>
                <c:formatCode>General</c:formatCode>
                <c:ptCount val="3"/>
                <c:pt idx="0">
                  <c:v>0.538</c:v>
                </c:pt>
                <c:pt idx="1">
                  <c:v>0.393</c:v>
                </c:pt>
                <c:pt idx="2">
                  <c:v>0.482</c:v>
                </c:pt>
              </c:numCache>
            </c:numRef>
          </c:val>
          <c:smooth val="0"/>
        </c:ser>
        <c:ser>
          <c:idx val="2"/>
          <c:order val="2"/>
          <c:tx>
            <c:strRef>
              <c:f>Sheet1!$D$1</c:f>
              <c:strCache>
                <c:ptCount val="1"/>
                <c:pt idx="0">
                  <c:v>S4</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Sheet1!$A$2:$A$4</c:f>
              <c:multiLvlStrCache>
                <c:ptCount val="3"/>
                <c:lvl>
                  <c:pt idx="0">
                    <c:v>Turns 1–2</c:v>
                  </c:pt>
                  <c:pt idx="1">
                    <c:v>Turns 3–5</c:v>
                  </c:pt>
                  <c:pt idx="2">
                    <c:v>Turns 6+</c:v>
                  </c:pt>
                </c:lvl>
              </c:multiLvlStrCache>
            </c:multiLvlStrRef>
          </c:cat>
          <c:val>
            <c:numRef>
              <c:f>Sheet1!$D$2:$D$4</c:f>
              <c:numCache>
                <c:formatCode>General</c:formatCode>
                <c:ptCount val="3"/>
                <c:pt idx="0">
                  <c:v>0.538</c:v>
                </c:pt>
                <c:pt idx="1">
                  <c:v>0.393</c:v>
                </c:pt>
                <c:pt idx="2">
                  <c:v>0.536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5B5B"/>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6E6E6"/>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B5B"/>
                </a:solidFill>
                <a:latin typeface="Calibri"/>
              </a:defRPr>
            </a:pPr>
            <a:endParaRPr lang="en-US"/>
          </a:p>
        </c:txPr>
        <c:crossAx val="2094734554"/>
        <c:crosses val="autoZero"/>
        <c:crossBetween val="between"/>
        <c:majorUnit val="0.25"/>
      </c:valAx>
      <c:spPr>
        <a:noFill/>
        <a:ln>
          <a:noFill/>
        </a:ln>
        <a:effectLst/>
      </c:spPr>
    </c:plotArea>
    <c:legend>
      <c:legendPos val="b"/>
      <c:overlay val="0"/>
      <c:txPr>
        <a:bodyPr/>
        <a:lstStyle/>
        <a:p>
          <a:pPr>
            <a:defRPr sz="1100">
              <a:solidFill>
                <a:srgbClr val="1B1B1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B1B"/>
                </a:solidFill>
                <a:latin typeface="Calibri"/>
              </a:defRPr>
            </a:pPr>
            <a:r>
              <a:rPr sz="1300" b="0" i="0" u="none" strike="noStrike">
                <a:solidFill>
                  <a:srgbClr val="1B1B1B"/>
                </a:solidFill>
                <a:latin typeface="Calibri"/>
              </a:rPr>
              <a:t>Controlled probe</a:t>
            </a:r>
          </a:p>
        </c:rich>
      </c:tx>
      <c:layout/>
      <c:overlay val="0"/>
    </c:title>
    <c:autoTitleDeleted val="0"/>
    <c:plotArea>
      <c:layout/>
      <c:lineChart>
        <c:varyColors val="0"/>
        <c:ser>
          <c:idx val="0"/>
          <c:order val="0"/>
          <c:tx>
            <c:strRef>
              <c:f>Sheet1!$B$1</c:f>
              <c:strCache>
                <c:ptCount val="1"/>
                <c:pt idx="0">
                  <c:v>Generator (with history)</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Sheet1!$A$2:$A$4</c:f>
              <c:multiLvlStrCache>
                <c:ptCount val="3"/>
                <c:lvl>
                  <c:pt idx="0">
                    <c:v>Turns 1–2</c:v>
                  </c:pt>
                  <c:pt idx="1">
                    <c:v>Turns 3–5</c:v>
                  </c:pt>
                  <c:pt idx="2">
                    <c:v>Turns 6+</c:v>
                  </c:pt>
                </c:lvl>
              </c:multiLvlStrCache>
            </c:multiLvlStrRef>
          </c:cat>
          <c:val>
            <c:numRef>
              <c:f>Sheet1!$B$2:$B$4</c:f>
              <c:numCache>
                <c:formatCode>General</c:formatCode>
                <c:ptCount val="3"/>
                <c:pt idx="0">
                  <c:v>0.404</c:v>
                </c:pt>
                <c:pt idx="1">
                  <c:v>0.401</c:v>
                </c:pt>
                <c:pt idx="2">
                  <c:v>0.46</c:v>
                </c:pt>
              </c:numCache>
            </c:numRef>
          </c:val>
          <c:smooth val="0"/>
        </c:ser>
        <c:ser>
          <c:idx val="1"/>
          <c:order val="1"/>
          <c:tx>
            <c:strRef>
              <c:f>Sheet1!$C$1</c:f>
              <c:strCache>
                <c:ptCount val="1"/>
                <c:pt idx="0">
                  <c:v>Checker (S4 gate)</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Sheet1!$A$2:$A$4</c:f>
              <c:multiLvlStrCache>
                <c:ptCount val="3"/>
                <c:lvl>
                  <c:pt idx="0">
                    <c:v>Turns 1–2</c:v>
                  </c:pt>
                  <c:pt idx="1">
                    <c:v>Turns 3–5</c:v>
                  </c:pt>
                  <c:pt idx="2">
                    <c:v>Turns 6+</c:v>
                  </c:pt>
                </c:lvl>
              </c:multiLvlStrCache>
            </c:multiLvlStrRef>
          </c:cat>
          <c:val>
            <c:numRef>
              <c:f>Sheet1!$C$2:$C$4</c:f>
              <c:numCache>
                <c:formatCode>General</c:formatCode>
                <c:ptCount val="3"/>
                <c:pt idx="0">
                  <c:v>0.312</c:v>
                </c:pt>
                <c:pt idx="1">
                  <c:v>0.182</c:v>
                </c:pt>
                <c:pt idx="2">
                  <c:v>0.32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5B5B"/>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6E6E6"/>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B5B"/>
                </a:solidFill>
                <a:latin typeface="Calibri"/>
              </a:defRPr>
            </a:pPr>
            <a:endParaRPr lang="en-US"/>
          </a:p>
        </c:txPr>
        <c:crossAx val="2094734554"/>
        <c:crosses val="autoZero"/>
        <c:crossBetween val="between"/>
        <c:majorUnit val="0.25"/>
      </c:valAx>
      <c:spPr>
        <a:noFill/>
        <a:ln>
          <a:noFill/>
        </a:ln>
        <a:effectLst/>
      </c:spPr>
    </c:plotArea>
    <c:legend>
      <c:legendPos val="b"/>
      <c:overlay val="0"/>
      <c:txPr>
        <a:bodyPr/>
        <a:lstStyle/>
        <a:p>
          <a:pPr>
            <a:defRPr sz="1100">
              <a:solidFill>
                <a:srgbClr val="1B1B1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Unanswerable newly caught</c:v>
                </c:pt>
              </c:strCache>
            </c:strRef>
          </c:tx>
          <c:spPr>
            <a:solidFill>
              <a:srgbClr val="2A78D6"/>
            </a:solidFill>
            <a:effectLst/>
          </c:spPr>
          <c:invertIfNegative val="0"/>
          <c:dLbls>
            <c:numFmt formatCode="#,##0" sourceLinked="0"/>
            <c:txPr>
              <a:bodyPr/>
              <a:lstStyle/>
              <a:p>
                <a:pPr>
                  <a:defRPr b="0" i="0" strike="noStrike" sz="1100" u="none">
                    <a:solidFill>
                      <a:srgbClr val="1B1B1B"/>
                    </a:solidFill>
                    <a:latin typeface="Arial"/>
                  </a:defRPr>
                </a:pPr>
              </a:p>
            </c:txPr>
            <c:showLegendKey val="0"/>
            <c:showVal val="1"/>
            <c:showCatName val="0"/>
            <c:showSerName val="0"/>
            <c:showPercent val="0"/>
            <c:showBubbleSize val="0"/>
            <c:showLeaderLines val="0"/>
          </c:dLbls>
          <c:cat>
            <c:multiLvlStrRef>
              <c:f>Sheet1!$A$2:$A$4</c:f>
              <c:multiLvlStrCache>
                <c:ptCount val="3"/>
                <c:lvl>
                  <c:pt idx="0">
                    <c:v>S2-rr (re-ranker)</c:v>
                  </c:pt>
                  <c:pt idx="1">
                    <c:v>S3 (real only)</c:v>
                  </c:pt>
                  <c:pt idx="2">
                    <c:v>S4 (real + synthetic)</c:v>
                  </c:pt>
                </c:lvl>
              </c:multiLvlStrCache>
            </c:multiLvlStrRef>
          </c:cat>
          <c:val>
            <c:numRef>
              <c:f>Sheet1!$B$2:$B$4</c:f>
              <c:numCache>
                <c:formatCode>General</c:formatCode>
                <c:ptCount val="3"/>
                <c:pt idx="0">
                  <c:v>8</c:v>
                </c:pt>
                <c:pt idx="1">
                  <c:v>5</c:v>
                </c:pt>
                <c:pt idx="2">
                  <c:v>3</c:v>
                </c:pt>
              </c:numCache>
            </c:numRef>
          </c:val>
        </c:ser>
        <c:ser>
          <c:idx val="1"/>
          <c:order val="1"/>
          <c:tx>
            <c:strRef>
              <c:f>Sheet1!$C$1</c:f>
              <c:strCache>
                <c:ptCount val="1"/>
                <c:pt idx="0">
                  <c:v>Answerable newly refused</c:v>
                </c:pt>
              </c:strCache>
            </c:strRef>
          </c:tx>
          <c:spPr>
            <a:solidFill>
              <a:srgbClr val="EB6834"/>
            </a:solidFill>
            <a:effectLst/>
          </c:spPr>
          <c:invertIfNegative val="0"/>
          <c:dLbls>
            <c:numFmt formatCode="#,##0" sourceLinked="0"/>
            <c:txPr>
              <a:bodyPr/>
              <a:lstStyle/>
              <a:p>
                <a:pPr>
                  <a:defRPr b="0" i="0" strike="noStrike" sz="1100" u="none">
                    <a:solidFill>
                      <a:srgbClr val="1B1B1B"/>
                    </a:solidFill>
                    <a:latin typeface="Arial"/>
                  </a:defRPr>
                </a:pPr>
              </a:p>
            </c:txPr>
            <c:showLegendKey val="0"/>
            <c:showVal val="1"/>
            <c:showCatName val="0"/>
            <c:showSerName val="0"/>
            <c:showPercent val="0"/>
            <c:showBubbleSize val="0"/>
            <c:showLeaderLines val="0"/>
          </c:dLbls>
          <c:cat>
            <c:multiLvlStrRef>
              <c:f>Sheet1!$A$2:$A$4</c:f>
              <c:multiLvlStrCache>
                <c:ptCount val="3"/>
                <c:lvl>
                  <c:pt idx="0">
                    <c:v>S2-rr (re-ranker)</c:v>
                  </c:pt>
                  <c:pt idx="1">
                    <c:v>S3 (real only)</c:v>
                  </c:pt>
                  <c:pt idx="2">
                    <c:v>S4 (real + synthetic)</c:v>
                  </c:pt>
                </c:lvl>
              </c:multiLvlStrCache>
            </c:multiLvlStrRef>
          </c:cat>
          <c:val>
            <c:numRef>
              <c:f>Sheet1!$C$2:$C$4</c:f>
              <c:numCache>
                <c:formatCode>General</c:formatCode>
                <c:ptCount val="3"/>
                <c:pt idx="0">
                  <c:v>13</c:v>
                </c:pt>
                <c:pt idx="1">
                  <c:v>11</c:v>
                </c:pt>
                <c:pt idx="2">
                  <c:v>8</c:v>
                </c:pt>
              </c:numCache>
            </c:numRef>
          </c:val>
        </c:ser>
        <c:dLbls>
          <c:numFmt formatCode="#,##0" sourceLinked="0"/>
          <c:txPr>
            <a:bodyPr/>
            <a:lstStyle/>
            <a:p>
              <a:pPr>
                <a:defRPr b="0" i="0" strike="noStrike" sz="1100" u="none">
                  <a:solidFill>
                    <a:srgbClr val="1B1B1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5B5B"/>
                </a:solidFill>
                <a:latin typeface="Calibri"/>
              </a:defRPr>
            </a:pPr>
            <a:endParaRPr lang="en-US"/>
          </a:p>
        </c:txPr>
        <c:crossAx val="2094734552"/>
        <c:crosses val="autoZero"/>
        <c:auto val="1"/>
        <c:lblAlgn val="ctr"/>
        <c:noMultiLvlLbl val="1"/>
      </c:catAx>
      <c:valAx>
        <c:axId val="2094734552"/>
        <c:scaling>
          <c:orientation val="minMax"/>
          <c:max val="16"/>
        </c:scaling>
        <c:delete val="0"/>
        <c:axPos val="l"/>
        <c:majorGridlines>
          <c:spPr>
            <a:ln w="6350" cap="flat">
              <a:solidFill>
                <a:srgbClr val="E6E6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B5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1B1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S0</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BAF7A"/>
              </a:solidFill>
              <a:ln w="9525" cap="flat">
                <a:solidFill>
                  <a:srgbClr val="1BAF7A"/>
                </a:solidFill>
                <a:prstDash val="solid"/>
                <a:round/>
              </a:ln>
              <a:effectLst/>
            </c:spPr>
          </c:marker>
          <c:cat>
            <c:multiLvlStrRef>
              <c:f>Sheet1!$A$2:$A$4</c:f>
              <c:multiLvlStrCache>
                <c:ptCount val="3"/>
                <c:lvl>
                  <c:pt idx="0">
                    <c:v>Turns 1–2</c:v>
                  </c:pt>
                  <c:pt idx="1">
                    <c:v>Turns 3–5</c:v>
                  </c:pt>
                  <c:pt idx="2">
                    <c:v>Turns 6+</c:v>
                  </c:pt>
                </c:lvl>
              </c:multiLvlStrCache>
            </c:multiLvlStrRef>
          </c:cat>
          <c:val>
            <c:numRef>
              <c:f>Sheet1!$B$2:$B$4</c:f>
              <c:numCache>
                <c:formatCode>General</c:formatCode>
                <c:ptCount val="3"/>
                <c:pt idx="0">
                  <c:v>0.289</c:v>
                </c:pt>
                <c:pt idx="1">
                  <c:v>0.319</c:v>
                </c:pt>
                <c:pt idx="2">
                  <c:v>0.215</c:v>
                </c:pt>
              </c:numCache>
            </c:numRef>
          </c:val>
          <c:smooth val="0"/>
        </c:ser>
        <c:ser>
          <c:idx val="1"/>
          <c:order val="1"/>
          <c:tx>
            <c:strRef>
              <c:f>Sheet1!$C$1</c:f>
              <c:strCache>
                <c:ptCount val="1"/>
                <c:pt idx="0">
                  <c:v>S2</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Sheet1!$A$2:$A$4</c:f>
              <c:multiLvlStrCache>
                <c:ptCount val="3"/>
                <c:lvl>
                  <c:pt idx="0">
                    <c:v>Turns 1–2</c:v>
                  </c:pt>
                  <c:pt idx="1">
                    <c:v>Turns 3–5</c:v>
                  </c:pt>
                  <c:pt idx="2">
                    <c:v>Turns 6+</c:v>
                  </c:pt>
                </c:lvl>
              </c:multiLvlStrCache>
            </c:multiLvlStrRef>
          </c:cat>
          <c:val>
            <c:numRef>
              <c:f>Sheet1!$C$2:$C$4</c:f>
              <c:numCache>
                <c:formatCode>General</c:formatCode>
                <c:ptCount val="3"/>
                <c:pt idx="0">
                  <c:v>0.156</c:v>
                </c:pt>
                <c:pt idx="1">
                  <c:v>0.222</c:v>
                </c:pt>
                <c:pt idx="2">
                  <c:v>0.159</c:v>
                </c:pt>
              </c:numCache>
            </c:numRef>
          </c:val>
          <c:smooth val="0"/>
        </c:ser>
        <c:ser>
          <c:idx val="2"/>
          <c:order val="2"/>
          <c:tx>
            <c:strRef>
              <c:f>Sheet1!$D$1</c:f>
              <c:strCache>
                <c:ptCount val="1"/>
                <c:pt idx="0">
                  <c:v>S4</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Sheet1!$A$2:$A$4</c:f>
              <c:multiLvlStrCache>
                <c:ptCount val="3"/>
                <c:lvl>
                  <c:pt idx="0">
                    <c:v>Turns 1–2</c:v>
                  </c:pt>
                  <c:pt idx="1">
                    <c:v>Turns 3–5</c:v>
                  </c:pt>
                  <c:pt idx="2">
                    <c:v>Turns 6+</c:v>
                  </c:pt>
                </c:lvl>
              </c:multiLvlStrCache>
            </c:multiLvlStrRef>
          </c:cat>
          <c:val>
            <c:numRef>
              <c:f>Sheet1!$D$2:$D$4</c:f>
              <c:numCache>
                <c:formatCode>General</c:formatCode>
                <c:ptCount val="3"/>
                <c:pt idx="0">
                  <c:v>0.167</c:v>
                </c:pt>
                <c:pt idx="1">
                  <c:v>0.237</c:v>
                </c:pt>
                <c:pt idx="2">
                  <c:v>0.206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5B5B"/>
                </a:solidFill>
                <a:latin typeface="Calibri"/>
              </a:defRPr>
            </a:pPr>
            <a:endParaRPr lang="en-US"/>
          </a:p>
        </c:txPr>
        <c:crossAx val="2094734552"/>
        <c:crosses val="autoZero"/>
        <c:auto val="1"/>
        <c:lblAlgn val="ctr"/>
        <c:noMultiLvlLbl val="1"/>
      </c:catAx>
      <c:valAx>
        <c:axId val="2094734552"/>
        <c:scaling>
          <c:orientation val="minMax"/>
          <c:max val="0.4"/>
          <c:min val="0"/>
        </c:scaling>
        <c:delete val="0"/>
        <c:axPos val="l"/>
        <c:majorGridlines>
          <c:spPr>
            <a:ln w="6350" cap="flat">
              <a:solidFill>
                <a:srgbClr val="E6E6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B5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1B1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asks whether a retrieval-augmented chatbot gets worse at saying 'I don't know' as a conversation goes on, and whether a small checker trained on cheap synthetic data can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presentation, following the structure of the project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statistic comes from the AILS-NTUA system paper at SemEval-2026 Task 8. Abstention surveys (Wen et al. 2025, Feng et al. 2024) focus on single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 is a measurement question; RQ2 tests an intervention with a strict budget on wrong refusals (at most 5% of answerable dev 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build the pipeline, measure drift properly, try to improve abstention cheaply, and analyse what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Unanswerable turns cluster late in MTRAG-UN (33.7% at turn 6+). So a raw per-turn comparison is confounded: late buckets contain different questions. We control for this with a regression and a synthetic probe.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models. The only LLM is Qwen2.5-3B-Instruct, used in three roles. BGE models come from BAAI. DeBERTa-v3-base was our first checker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3B: a 7B model does not fit in 4-bit next to the retrieval models on a 4 GB GTX 1650. Deterministic decoding makes S2, S2-rr, S3 and S4 directly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Generator and rewriter: Qwen2.5-3B-Instruct, 4-bit, via Ollama, temperature 0. The gate abstains when p &gt;= tau; tau maximises dev F1 with at most 5% of answerable dev turns refused. Because generation is deterministic, S2-rr, S3 and S4 are computed by applying the gate to S2's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removal drops the gold documents, but redundant corpora keep the answer on other pages. The LLM judge is the same 3B Qwen model, given the reference answer. Final checker data: 997 train and 224 dev examples, of which 49 and 6 are real unanswerable.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ran on one laptop. The code is a package with one script per step, so each experiment is a single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probe is the key control: because it uses the same questions at every position, a turn effect cannot come from which questions happen to appear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6 systems, 2 probes, 8 checker runs (5 DeBERTa including a rerun, 3 re-ranker), the filtering analysis, the dataset statistics and the refusal-detector sensitivity analysis = 19, plus 6 agent experiments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checker: bge-reranker-base fine-tuned per (query, passage) pair, 2 epochs, lr 1e-5, 256 tokens; P(unanswerable) is the minimum over the five passages of P(passage does not answer). Rows 1-4 were evaluated on the unfiltered dev set, rows 5-7 on the filtered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MTRAG-UN confidence intervals are wide (early bucket has only 13 unanswerable turns; CI about +/-0.05 per turn). The probe with five times more data narrows this. Controlled odds ratios: 0.97-1.06 on test, 1.08 for the generator probe, so if anything the generator refuses slightly more late in a conversation. The checker only sees the query and passages, so it cannot drift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Weaker retrieval (S0) raises recall and false abstention together. The untrained re-ranker gate (S2-rr) has the best 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are turns where the gate changed S2's decision. S2-rr: +8 correct abstentions vs +13 wrong refusals; S3: +5 vs +11; S4: +3 vs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S1, wrong refusals fall from 26.7% at turns 1-2 to 17.8% at turns 6+ (slope -0.020 per turn, CI just below zero). One possible reason: short opening questions retrieve less specific passages.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reuses every existing component. New: a retry rewrite prompt, a self-check prompt and a clarification prompt, all served by Qwen2.5-3B through LangChain's ChatOllama. The first attempt is identical to S2, so evaluation reuses the S2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Calibration on 224 dev examples picked min_p = 0.50 (best dev F1 within +5 points of false abstention). Retry-only is best when wrong refusals matter most; selective self-check is best overall F1. No-retry ablation with always-on self-check: F1 .415, FA .720.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prediction stores the full agent trace (queries tried, gate scores, decisions), which makes the agent's behaviour easy to inspect and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package is imported as a library. The conversation id is the LangGraph thread id, so the Postgres checkpointer keeps each conversation's agent state. The FAISS dense vectors were migrated to Qdrant without re-encoding, with our own BM25 sparse vectors added for hybrid search. Uploads are indexed in the background by a Celery worker.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gate baseline: S5-selective on the fixed 150-turn MTRAG-UN sample, F1 0.541 and false abstention 0.172. CI scores committed predictions on every pull request; with secrets it re-runs the agent live and adds Ragas faithfulness.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Events are streamed as guardrail SSE events, stored with the message, counted in Prometheus (Grafana panels Guardrail events and Blocked questions, alerts PromptInjectionAttempts and AnswersRedacted) and tagged in Langfuse. LLM Guard was evaluated but rejected because it pins transformers 4.51.3.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curly-apostrophe bug made the service report some refusals as answers with citations. We re-scored every saved research prediction with the fixed detector: no decision changes, so all reported numbers 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Asked to describe the query-rewriting prompt instead, the agent answered correctly from the Appendix A chunk in 17 seconds. One wrong answer (p = 0.38) passed because the selective self-check only runs at p &gt;= 0.5: the known cost of that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Next.js 16 front end on the FastAPI service, built in five phases. Screenshot from the development mode with a scripted stand-in model; with Ollama the same screens show the real model's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output uses about 7,000 characters of material: every source's guide summary plus excerpts spread over the document, which fits a 4k context. If the voice service is down the audio script is still saved, and 'Speak again' retries.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Qwen3-4B was tried but removed: about seven minutes per answer on the 4 GB GPU. BLOOM exists only as old community uploads and follows instructions poorly.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 search over tau and min_p: best abstention F1 with false abstention at most the model's own refusal rate + 10 points (5 for the gate, 5 for the self-check, as in the research calibration). Qwen2.5-3B keeps its research values. The service applies each model's own thresholds and stores them with every answer; the model menu shows a shield for calibrated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Migrations: 0003 source types and guides, 0004 Studio outputs, 0005 sharing. YouTube, web search and Kokoro were tested with simulated responses in CI; they work live on the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20 of 429 S2 answers were hedged refusals ('I don't have specific information...') that the pattern detector missed; counting them does not change the no-drift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challenges came from running an LLM pipeline on a 4 GB GPU, and from the noisy synthetic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97 real unanswerable test turns (13 early), one 3B LLM, three-exchange history window, no answer-quality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Member 1-5 with your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234440"/>
            <a:ext cx="804672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Knowing When Not to Answer</a:t>
            </a:r>
            <a:endParaRPr lang="en-US" sz="3800" dirty="0"/>
          </a:p>
        </p:txBody>
      </p:sp>
      <p:sp>
        <p:nvSpPr>
          <p:cNvPr id="3" name="Text 1"/>
          <p:cNvSpPr txBox="1"/>
          <p:nvPr/>
        </p:nvSpPr>
        <p:spPr>
          <a:xfrm>
            <a:off x="548640" y="1965960"/>
            <a:ext cx="8046720" cy="457200"/>
          </a:xfrm>
          <a:prstGeom prst="rect">
            <a:avLst/>
          </a:prstGeom>
          <a:noFill/>
          <a:ln/>
        </p:spPr>
        <p:txBody>
          <a:bodyPr wrap="square" lIns="0" tIns="0" rIns="0" bIns="0" rtlCol="0" anchor="ctr"/>
          <a:lstStyle/>
          <a:p>
            <a:pPr indent="0" marL="0">
              <a:buNone/>
            </a:pPr>
            <a:r>
              <a:rPr lang="en-US" sz="2000" i="1" dirty="0">
                <a:solidFill>
                  <a:srgbClr val="CADCFC"/>
                </a:solidFill>
                <a:latin typeface="Cambria" pitchFamily="34" charset="0"/>
                <a:ea typeface="Cambria" pitchFamily="34" charset="-122"/>
                <a:cs typeface="Cambria" pitchFamily="34" charset="-120"/>
              </a:rPr>
              <a:t>Abstention Drift in Multi-Turn Retrieval-Augmented Conversations</a:t>
            </a:r>
            <a:endParaRPr lang="en-US" sz="2000" dirty="0"/>
          </a:p>
        </p:txBody>
      </p:sp>
      <p:sp>
        <p:nvSpPr>
          <p:cNvPr id="4" name="Text 2"/>
          <p:cNvSpPr txBox="1"/>
          <p:nvPr/>
        </p:nvSpPr>
        <p:spPr>
          <a:xfrm>
            <a:off x="548640" y="3017520"/>
            <a:ext cx="8046720" cy="3200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CS683 Natural Language Processing  ·  Course Project</a:t>
            </a:r>
            <a:endParaRPr lang="en-US" sz="1400" dirty="0"/>
          </a:p>
        </p:txBody>
      </p:sp>
      <p:sp>
        <p:nvSpPr>
          <p:cNvPr id="5" name="Text 3"/>
          <p:cNvSpPr txBox="1"/>
          <p:nvPr/>
        </p:nvSpPr>
        <p:spPr>
          <a:xfrm>
            <a:off x="548640" y="3383280"/>
            <a:ext cx="8046720"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Member 1  ·  Member 2  ·  Member 3  ·  Member 4  ·  Member 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Agenda</a:t>
            </a:r>
            <a:endParaRPr lang="en-US" sz="2800" dirty="0"/>
          </a:p>
        </p:txBody>
      </p:sp>
      <p:sp>
        <p:nvSpPr>
          <p:cNvPr id="3" name="Shape 1"/>
          <p:cNvSpPr/>
          <p:nvPr/>
        </p:nvSpPr>
        <p:spPr>
          <a:xfrm>
            <a:off x="457200" y="1143000"/>
            <a:ext cx="4023360" cy="1005840"/>
          </a:xfrm>
          <a:prstGeom prst="roundRect">
            <a:avLst>
              <a:gd name="adj" fmla="val 7273"/>
            </a:avLst>
          </a:prstGeom>
          <a:solidFill>
            <a:srgbClr val="F3F5F9"/>
          </a:solidFill>
          <a:ln w="12700">
            <a:solidFill>
              <a:srgbClr val="F3F5F9"/>
            </a:solidFill>
            <a:prstDash val="solid"/>
          </a:ln>
        </p:spPr>
      </p:sp>
      <p:sp>
        <p:nvSpPr>
          <p:cNvPr id="4" name="Shape 2"/>
          <p:cNvSpPr/>
          <p:nvPr/>
        </p:nvSpPr>
        <p:spPr>
          <a:xfrm>
            <a:off x="685800" y="1453896"/>
            <a:ext cx="384048" cy="384048"/>
          </a:xfrm>
          <a:prstGeom prst="ellipse">
            <a:avLst/>
          </a:prstGeom>
          <a:solidFill>
            <a:srgbClr val="2A78D6"/>
          </a:solidFill>
          <a:ln w="12700">
            <a:solidFill>
              <a:srgbClr val="2A78D6"/>
            </a:solidFill>
            <a:prstDash val="solid"/>
          </a:ln>
        </p:spPr>
      </p:sp>
      <p:sp>
        <p:nvSpPr>
          <p:cNvPr id="5" name="Text 3"/>
          <p:cNvSpPr txBox="1"/>
          <p:nvPr/>
        </p:nvSpPr>
        <p:spPr>
          <a:xfrm>
            <a:off x="68580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34440" y="1252728"/>
            <a:ext cx="310896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Problem &amp; research questions</a:t>
            </a:r>
            <a:endParaRPr lang="en-US" sz="1600" dirty="0"/>
          </a:p>
        </p:txBody>
      </p:sp>
      <p:sp>
        <p:nvSpPr>
          <p:cNvPr id="7" name="Text 5"/>
          <p:cNvSpPr txBox="1"/>
          <p:nvPr/>
        </p:nvSpPr>
        <p:spPr>
          <a:xfrm>
            <a:off x="1234440" y="1645920"/>
            <a:ext cx="3108960" cy="411480"/>
          </a:xfrm>
          <a:prstGeom prst="rect">
            <a:avLst/>
          </a:prstGeom>
          <a:noFill/>
          <a:ln/>
        </p:spPr>
        <p:txBody>
          <a:bodyPr wrap="square" lIns="0" tIns="0" rIns="0" bIns="0" rtlCol="0" anchor="t"/>
          <a:lstStyle/>
          <a:p>
            <a:pPr indent="0" marL="0">
              <a:buNone/>
            </a:pPr>
            <a:r>
              <a:rPr lang="en-US" sz="1250" dirty="0">
                <a:solidFill>
                  <a:srgbClr val="1B1B1B"/>
                </a:solidFill>
                <a:latin typeface="Calibri" pitchFamily="34" charset="0"/>
                <a:ea typeface="Calibri" pitchFamily="34" charset="-122"/>
                <a:cs typeface="Calibri" pitchFamily="34" charset="-120"/>
              </a:rPr>
              <a:t>Motivation, RQ1 and RQ2, objectives</a:t>
            </a:r>
            <a:endParaRPr lang="en-US" sz="1250" dirty="0"/>
          </a:p>
        </p:txBody>
      </p:sp>
      <p:sp>
        <p:nvSpPr>
          <p:cNvPr id="8" name="Shape 6"/>
          <p:cNvSpPr/>
          <p:nvPr/>
        </p:nvSpPr>
        <p:spPr>
          <a:xfrm>
            <a:off x="4663440" y="1143000"/>
            <a:ext cx="4023360" cy="1005840"/>
          </a:xfrm>
          <a:prstGeom prst="roundRect">
            <a:avLst>
              <a:gd name="adj" fmla="val 7273"/>
            </a:avLst>
          </a:prstGeom>
          <a:solidFill>
            <a:srgbClr val="F3F5F9"/>
          </a:solidFill>
          <a:ln w="12700">
            <a:solidFill>
              <a:srgbClr val="F3F5F9"/>
            </a:solidFill>
            <a:prstDash val="solid"/>
          </a:ln>
        </p:spPr>
      </p:sp>
      <p:sp>
        <p:nvSpPr>
          <p:cNvPr id="9" name="Shape 7"/>
          <p:cNvSpPr/>
          <p:nvPr/>
        </p:nvSpPr>
        <p:spPr>
          <a:xfrm>
            <a:off x="4892040" y="1453896"/>
            <a:ext cx="384048" cy="384048"/>
          </a:xfrm>
          <a:prstGeom prst="ellipse">
            <a:avLst/>
          </a:prstGeom>
          <a:solidFill>
            <a:srgbClr val="EB6834"/>
          </a:solidFill>
          <a:ln w="12700">
            <a:solidFill>
              <a:srgbClr val="EB6834"/>
            </a:solidFill>
            <a:prstDash val="solid"/>
          </a:ln>
        </p:spPr>
      </p:sp>
      <p:sp>
        <p:nvSpPr>
          <p:cNvPr id="10" name="Text 8"/>
          <p:cNvSpPr txBox="1"/>
          <p:nvPr/>
        </p:nvSpPr>
        <p:spPr>
          <a:xfrm>
            <a:off x="4892040" y="1453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5440680" y="1252728"/>
            <a:ext cx="310896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Datasets &amp; models</a:t>
            </a:r>
            <a:endParaRPr lang="en-US" sz="1600" dirty="0"/>
          </a:p>
        </p:txBody>
      </p:sp>
      <p:sp>
        <p:nvSpPr>
          <p:cNvPr id="12" name="Text 10"/>
          <p:cNvSpPr txBox="1"/>
          <p:nvPr/>
        </p:nvSpPr>
        <p:spPr>
          <a:xfrm>
            <a:off x="5440680" y="1645920"/>
            <a:ext cx="3108960" cy="411480"/>
          </a:xfrm>
          <a:prstGeom prst="rect">
            <a:avLst/>
          </a:prstGeom>
          <a:noFill/>
          <a:ln/>
        </p:spPr>
        <p:txBody>
          <a:bodyPr wrap="square" lIns="0" tIns="0" rIns="0" bIns="0" rtlCol="0" anchor="t"/>
          <a:lstStyle/>
          <a:p>
            <a:pPr indent="0" marL="0">
              <a:buNone/>
            </a:pPr>
            <a:r>
              <a:rPr lang="en-US" sz="1250" dirty="0">
                <a:solidFill>
                  <a:srgbClr val="1B1B1B"/>
                </a:solidFill>
                <a:latin typeface="Calibri" pitchFamily="34" charset="0"/>
                <a:ea typeface="Calibri" pitchFamily="34" charset="-122"/>
                <a:cs typeface="Calibri" pitchFamily="34" charset="-120"/>
              </a:rPr>
              <a:t>MTRAG, MTRAG-UN, four corpora; every model we used</a:t>
            </a:r>
            <a:endParaRPr lang="en-US" sz="1250" dirty="0"/>
          </a:p>
        </p:txBody>
      </p:sp>
      <p:sp>
        <p:nvSpPr>
          <p:cNvPr id="13" name="Shape 11"/>
          <p:cNvSpPr/>
          <p:nvPr/>
        </p:nvSpPr>
        <p:spPr>
          <a:xfrm>
            <a:off x="457200" y="2331720"/>
            <a:ext cx="4023360" cy="1005840"/>
          </a:xfrm>
          <a:prstGeom prst="roundRect">
            <a:avLst>
              <a:gd name="adj" fmla="val 7273"/>
            </a:avLst>
          </a:prstGeom>
          <a:solidFill>
            <a:srgbClr val="F3F5F9"/>
          </a:solidFill>
          <a:ln w="12700">
            <a:solidFill>
              <a:srgbClr val="F3F5F9"/>
            </a:solidFill>
            <a:prstDash val="solid"/>
          </a:ln>
        </p:spPr>
      </p:sp>
      <p:sp>
        <p:nvSpPr>
          <p:cNvPr id="14" name="Shape 12"/>
          <p:cNvSpPr/>
          <p:nvPr/>
        </p:nvSpPr>
        <p:spPr>
          <a:xfrm>
            <a:off x="685800" y="2642616"/>
            <a:ext cx="384048" cy="384048"/>
          </a:xfrm>
          <a:prstGeom prst="ellipse">
            <a:avLst/>
          </a:prstGeom>
          <a:solidFill>
            <a:srgbClr val="2A78D6"/>
          </a:solidFill>
          <a:ln w="12700">
            <a:solidFill>
              <a:srgbClr val="2A78D6"/>
            </a:solidFill>
            <a:prstDash val="solid"/>
          </a:ln>
        </p:spPr>
      </p:sp>
      <p:sp>
        <p:nvSpPr>
          <p:cNvPr id="15" name="Text 13"/>
          <p:cNvSpPr txBox="1"/>
          <p:nvPr/>
        </p:nvSpPr>
        <p:spPr>
          <a:xfrm>
            <a:off x="685800" y="2642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234440" y="2441448"/>
            <a:ext cx="310896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System design &amp; implementation</a:t>
            </a:r>
            <a:endParaRPr lang="en-US" sz="1600" dirty="0"/>
          </a:p>
        </p:txBody>
      </p:sp>
      <p:sp>
        <p:nvSpPr>
          <p:cNvPr id="17" name="Text 15"/>
          <p:cNvSpPr txBox="1"/>
          <p:nvPr/>
        </p:nvSpPr>
        <p:spPr>
          <a:xfrm>
            <a:off x="1234440" y="2834640"/>
            <a:ext cx="3108960" cy="411480"/>
          </a:xfrm>
          <a:prstGeom prst="rect">
            <a:avLst/>
          </a:prstGeom>
          <a:noFill/>
          <a:ln/>
        </p:spPr>
        <p:txBody>
          <a:bodyPr wrap="square" lIns="0" tIns="0" rIns="0" bIns="0" rtlCol="0" anchor="t"/>
          <a:lstStyle/>
          <a:p>
            <a:pPr indent="0" marL="0">
              <a:buNone/>
            </a:pPr>
            <a:r>
              <a:rPr lang="en-US" sz="1250" dirty="0">
                <a:solidFill>
                  <a:srgbClr val="1B1B1B"/>
                </a:solidFill>
                <a:latin typeface="Calibri" pitchFamily="34" charset="0"/>
                <a:ea typeface="Calibri" pitchFamily="34" charset="-122"/>
                <a:cs typeface="Calibri" pitchFamily="34" charset="-120"/>
              </a:rPr>
              <a:t>Pipeline, evidence removal, checker, tech stack</a:t>
            </a:r>
            <a:endParaRPr lang="en-US" sz="1250" dirty="0"/>
          </a:p>
        </p:txBody>
      </p:sp>
      <p:sp>
        <p:nvSpPr>
          <p:cNvPr id="18" name="Shape 16"/>
          <p:cNvSpPr/>
          <p:nvPr/>
        </p:nvSpPr>
        <p:spPr>
          <a:xfrm>
            <a:off x="4663440" y="2331720"/>
            <a:ext cx="4023360" cy="1005840"/>
          </a:xfrm>
          <a:prstGeom prst="roundRect">
            <a:avLst>
              <a:gd name="adj" fmla="val 7273"/>
            </a:avLst>
          </a:prstGeom>
          <a:solidFill>
            <a:srgbClr val="F3F5F9"/>
          </a:solidFill>
          <a:ln w="12700">
            <a:solidFill>
              <a:srgbClr val="F3F5F9"/>
            </a:solidFill>
            <a:prstDash val="solid"/>
          </a:ln>
        </p:spPr>
      </p:sp>
      <p:sp>
        <p:nvSpPr>
          <p:cNvPr id="19" name="Shape 17"/>
          <p:cNvSpPr/>
          <p:nvPr/>
        </p:nvSpPr>
        <p:spPr>
          <a:xfrm>
            <a:off x="4892040" y="2642616"/>
            <a:ext cx="384048" cy="384048"/>
          </a:xfrm>
          <a:prstGeom prst="ellipse">
            <a:avLst/>
          </a:prstGeom>
          <a:solidFill>
            <a:srgbClr val="EB6834"/>
          </a:solidFill>
          <a:ln w="12700">
            <a:solidFill>
              <a:srgbClr val="EB6834"/>
            </a:solidFill>
            <a:prstDash val="solid"/>
          </a:ln>
        </p:spPr>
      </p:sp>
      <p:sp>
        <p:nvSpPr>
          <p:cNvPr id="20" name="Text 18"/>
          <p:cNvSpPr txBox="1"/>
          <p:nvPr/>
        </p:nvSpPr>
        <p:spPr>
          <a:xfrm>
            <a:off x="4892040" y="2642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5440680" y="2441448"/>
            <a:ext cx="310896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Experiments &amp; results</a:t>
            </a:r>
            <a:endParaRPr lang="en-US" sz="1600" dirty="0"/>
          </a:p>
        </p:txBody>
      </p:sp>
      <p:sp>
        <p:nvSpPr>
          <p:cNvPr id="22" name="Text 20"/>
          <p:cNvSpPr txBox="1"/>
          <p:nvPr/>
        </p:nvSpPr>
        <p:spPr>
          <a:xfrm>
            <a:off x="5440680" y="2834640"/>
            <a:ext cx="3108960" cy="411480"/>
          </a:xfrm>
          <a:prstGeom prst="rect">
            <a:avLst/>
          </a:prstGeom>
          <a:noFill/>
          <a:ln/>
        </p:spPr>
        <p:txBody>
          <a:bodyPr wrap="square" lIns="0" tIns="0" rIns="0" bIns="0" rtlCol="0" anchor="t"/>
          <a:lstStyle/>
          <a:p>
            <a:pPr indent="0" marL="0">
              <a:buNone/>
            </a:pPr>
            <a:r>
              <a:rPr lang="en-US" sz="1250" dirty="0">
                <a:solidFill>
                  <a:srgbClr val="1B1B1B"/>
                </a:solidFill>
                <a:latin typeface="Calibri" pitchFamily="34" charset="0"/>
                <a:ea typeface="Calibri" pitchFamily="34" charset="-122"/>
                <a:cs typeface="Calibri" pitchFamily="34" charset="-120"/>
              </a:rPr>
              <a:t>Six systems, probe, checker, S5 agent, service, notebook app</a:t>
            </a:r>
            <a:endParaRPr lang="en-US" sz="1250" dirty="0"/>
          </a:p>
        </p:txBody>
      </p:sp>
      <p:sp>
        <p:nvSpPr>
          <p:cNvPr id="23" name="Shape 21"/>
          <p:cNvSpPr/>
          <p:nvPr/>
        </p:nvSpPr>
        <p:spPr>
          <a:xfrm>
            <a:off x="457200" y="3520440"/>
            <a:ext cx="4023360" cy="1005840"/>
          </a:xfrm>
          <a:prstGeom prst="roundRect">
            <a:avLst>
              <a:gd name="adj" fmla="val 7273"/>
            </a:avLst>
          </a:prstGeom>
          <a:solidFill>
            <a:srgbClr val="F3F5F9"/>
          </a:solidFill>
          <a:ln w="12700">
            <a:solidFill>
              <a:srgbClr val="F3F5F9"/>
            </a:solidFill>
            <a:prstDash val="solid"/>
          </a:ln>
        </p:spPr>
      </p:sp>
      <p:sp>
        <p:nvSpPr>
          <p:cNvPr id="24" name="Shape 22"/>
          <p:cNvSpPr/>
          <p:nvPr/>
        </p:nvSpPr>
        <p:spPr>
          <a:xfrm>
            <a:off x="685800" y="3831336"/>
            <a:ext cx="384048" cy="384048"/>
          </a:xfrm>
          <a:prstGeom prst="ellipse">
            <a:avLst/>
          </a:prstGeom>
          <a:solidFill>
            <a:srgbClr val="2A78D6"/>
          </a:solidFill>
          <a:ln w="12700">
            <a:solidFill>
              <a:srgbClr val="2A78D6"/>
            </a:solidFill>
            <a:prstDash val="solid"/>
          </a:ln>
        </p:spPr>
      </p:sp>
      <p:sp>
        <p:nvSpPr>
          <p:cNvPr id="25" name="Text 23"/>
          <p:cNvSpPr txBox="1"/>
          <p:nvPr/>
        </p:nvSpPr>
        <p:spPr>
          <a:xfrm>
            <a:off x="685800" y="38313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4"/>
          <p:cNvSpPr txBox="1"/>
          <p:nvPr/>
        </p:nvSpPr>
        <p:spPr>
          <a:xfrm>
            <a:off x="1234440" y="3630168"/>
            <a:ext cx="310896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Analysis</a:t>
            </a:r>
            <a:endParaRPr lang="en-US" sz="1600" dirty="0"/>
          </a:p>
        </p:txBody>
      </p:sp>
      <p:sp>
        <p:nvSpPr>
          <p:cNvPr id="27" name="Text 25"/>
          <p:cNvSpPr txBox="1"/>
          <p:nvPr/>
        </p:nvSpPr>
        <p:spPr>
          <a:xfrm>
            <a:off x="1234440" y="4023360"/>
            <a:ext cx="3108960" cy="411480"/>
          </a:xfrm>
          <a:prstGeom prst="rect">
            <a:avLst/>
          </a:prstGeom>
          <a:noFill/>
          <a:ln/>
        </p:spPr>
        <p:txBody>
          <a:bodyPr wrap="square" lIns="0" tIns="0" rIns="0" bIns="0" rtlCol="0" anchor="t"/>
          <a:lstStyle/>
          <a:p>
            <a:pPr indent="0" marL="0">
              <a:buNone/>
            </a:pPr>
            <a:r>
              <a:rPr lang="en-US" sz="1250" dirty="0">
                <a:solidFill>
                  <a:srgbClr val="1B1B1B"/>
                </a:solidFill>
                <a:latin typeface="Calibri" pitchFamily="34" charset="0"/>
                <a:ea typeface="Calibri" pitchFamily="34" charset="-122"/>
                <a:cs typeface="Calibri" pitchFamily="34" charset="-120"/>
              </a:rPr>
              <a:t>Error analysis, challenges and how we solved them</a:t>
            </a:r>
            <a:endParaRPr lang="en-US" sz="1250" dirty="0"/>
          </a:p>
        </p:txBody>
      </p:sp>
      <p:sp>
        <p:nvSpPr>
          <p:cNvPr id="28" name="Shape 26"/>
          <p:cNvSpPr/>
          <p:nvPr/>
        </p:nvSpPr>
        <p:spPr>
          <a:xfrm>
            <a:off x="4663440" y="3520440"/>
            <a:ext cx="4023360" cy="1005840"/>
          </a:xfrm>
          <a:prstGeom prst="roundRect">
            <a:avLst>
              <a:gd name="adj" fmla="val 7273"/>
            </a:avLst>
          </a:prstGeom>
          <a:solidFill>
            <a:srgbClr val="F3F5F9"/>
          </a:solidFill>
          <a:ln w="12700">
            <a:solidFill>
              <a:srgbClr val="F3F5F9"/>
            </a:solidFill>
            <a:prstDash val="solid"/>
          </a:ln>
        </p:spPr>
      </p:sp>
      <p:sp>
        <p:nvSpPr>
          <p:cNvPr id="29" name="Shape 27"/>
          <p:cNvSpPr/>
          <p:nvPr/>
        </p:nvSpPr>
        <p:spPr>
          <a:xfrm>
            <a:off x="4892040" y="3831336"/>
            <a:ext cx="384048" cy="384048"/>
          </a:xfrm>
          <a:prstGeom prst="ellipse">
            <a:avLst/>
          </a:prstGeom>
          <a:solidFill>
            <a:srgbClr val="EB6834"/>
          </a:solidFill>
          <a:ln w="12700">
            <a:solidFill>
              <a:srgbClr val="EB6834"/>
            </a:solidFill>
            <a:prstDash val="solid"/>
          </a:ln>
        </p:spPr>
      </p:sp>
      <p:sp>
        <p:nvSpPr>
          <p:cNvPr id="30" name="Text 28"/>
          <p:cNvSpPr txBox="1"/>
          <p:nvPr/>
        </p:nvSpPr>
        <p:spPr>
          <a:xfrm>
            <a:off x="4892040" y="38313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1" name="Text 29"/>
          <p:cNvSpPr txBox="1"/>
          <p:nvPr/>
        </p:nvSpPr>
        <p:spPr>
          <a:xfrm>
            <a:off x="5440680" y="3630168"/>
            <a:ext cx="3108960" cy="41148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Conclusion</a:t>
            </a:r>
            <a:endParaRPr lang="en-US" sz="1600" dirty="0"/>
          </a:p>
        </p:txBody>
      </p:sp>
      <p:sp>
        <p:nvSpPr>
          <p:cNvPr id="32" name="Text 30"/>
          <p:cNvSpPr txBox="1"/>
          <p:nvPr/>
        </p:nvSpPr>
        <p:spPr>
          <a:xfrm>
            <a:off x="5440680" y="4023360"/>
            <a:ext cx="3108960" cy="411480"/>
          </a:xfrm>
          <a:prstGeom prst="rect">
            <a:avLst/>
          </a:prstGeom>
          <a:noFill/>
          <a:ln/>
        </p:spPr>
        <p:txBody>
          <a:bodyPr wrap="square" lIns="0" tIns="0" rIns="0" bIns="0" rtlCol="0" anchor="t"/>
          <a:lstStyle/>
          <a:p>
            <a:pPr indent="0" marL="0">
              <a:buNone/>
            </a:pPr>
            <a:r>
              <a:rPr lang="en-US" sz="1250" dirty="0">
                <a:solidFill>
                  <a:srgbClr val="1B1B1B"/>
                </a:solidFill>
                <a:latin typeface="Calibri" pitchFamily="34" charset="0"/>
                <a:ea typeface="Calibri" pitchFamily="34" charset="-122"/>
                <a:cs typeface="Calibri" pitchFamily="34" charset="-120"/>
              </a:rPr>
              <a:t>Takeaways, limitations, future work, team</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Why abstention matters in multi-turn RAG</a:t>
            </a:r>
            <a:endParaRPr lang="en-US" sz="2800" dirty="0"/>
          </a:p>
        </p:txBody>
      </p:sp>
      <p:sp>
        <p:nvSpPr>
          <p:cNvPr id="3" name="Text 1"/>
          <p:cNvSpPr txBox="1"/>
          <p:nvPr/>
        </p:nvSpPr>
        <p:spPr>
          <a:xfrm>
            <a:off x="457200" y="1325880"/>
            <a:ext cx="2560320" cy="685800"/>
          </a:xfrm>
          <a:prstGeom prst="rect">
            <a:avLst/>
          </a:prstGeom>
          <a:noFill/>
          <a:ln/>
        </p:spPr>
        <p:txBody>
          <a:bodyPr wrap="square" lIns="0" tIns="0" rIns="0" bIns="0" rtlCol="0" anchor="ctr"/>
          <a:lstStyle/>
          <a:p>
            <a:pPr indent="0" marL="0">
              <a:buNone/>
            </a:pPr>
            <a:r>
              <a:rPr lang="en-US" sz="4000" b="1" dirty="0">
                <a:solidFill>
                  <a:srgbClr val="EB6834"/>
                </a:solidFill>
                <a:latin typeface="Cambria" pitchFamily="34" charset="0"/>
                <a:ea typeface="Cambria" pitchFamily="34" charset="-122"/>
                <a:cs typeface="Cambria" pitchFamily="34" charset="-120"/>
              </a:rPr>
              <a:t>21.8%</a:t>
            </a:r>
            <a:endParaRPr lang="en-US" sz="4000" dirty="0"/>
          </a:p>
        </p:txBody>
      </p:sp>
      <p:sp>
        <p:nvSpPr>
          <p:cNvPr id="4" name="Text 2"/>
          <p:cNvSpPr txBox="1"/>
          <p:nvPr/>
        </p:nvSpPr>
        <p:spPr>
          <a:xfrm>
            <a:off x="457200" y="2011680"/>
            <a:ext cx="2560320" cy="548640"/>
          </a:xfrm>
          <a:prstGeom prst="rect">
            <a:avLst/>
          </a:prstGeom>
          <a:noFill/>
          <a:ln/>
        </p:spPr>
        <p:txBody>
          <a:bodyPr wrap="square" lIns="0" tIns="0" rIns="0" bIns="0" rtlCol="0" anchor="t"/>
          <a:lstStyle/>
          <a:p>
            <a:pPr indent="0" marL="0">
              <a:buNone/>
            </a:pPr>
            <a:r>
              <a:rPr lang="en-US" sz="1200" dirty="0">
                <a:solidFill>
                  <a:srgbClr val="5B5B5B"/>
                </a:solidFill>
                <a:latin typeface="Calibri" pitchFamily="34" charset="0"/>
                <a:ea typeface="Calibri" pitchFamily="34" charset="-122"/>
                <a:cs typeface="Calibri" pitchFamily="34" charset="-120"/>
              </a:rPr>
              <a:t>of unanswerable turns detected by a top SemEval-2026 MTRAGEval system, despite 83.9% overall answerability accuracy</a:t>
            </a:r>
            <a:endParaRPr lang="en-US" sz="1200" dirty="0"/>
          </a:p>
        </p:txBody>
      </p:sp>
      <p:sp>
        <p:nvSpPr>
          <p:cNvPr id="5" name="Text 3"/>
          <p:cNvSpPr txBox="1"/>
          <p:nvPr/>
        </p:nvSpPr>
        <p:spPr>
          <a:xfrm>
            <a:off x="457200" y="2926080"/>
            <a:ext cx="2560320" cy="685800"/>
          </a:xfrm>
          <a:prstGeom prst="rect">
            <a:avLst/>
          </a:prstGeom>
          <a:noFill/>
          <a:ln/>
        </p:spPr>
        <p:txBody>
          <a:bodyPr wrap="square" lIns="0" tIns="0" rIns="0" bIns="0" rtlCol="0" anchor="ctr"/>
          <a:lstStyle/>
          <a:p>
            <a:pPr indent="0" marL="0">
              <a:buNone/>
            </a:pPr>
            <a:r>
              <a:rPr lang="en-US" sz="3000" b="1" dirty="0">
                <a:solidFill>
                  <a:srgbClr val="2A78D6"/>
                </a:solidFill>
                <a:latin typeface="Cambria" pitchFamily="34" charset="0"/>
                <a:ea typeface="Cambria" pitchFamily="34" charset="-122"/>
                <a:cs typeface="Cambria" pitchFamily="34" charset="-120"/>
              </a:rPr>
              <a:t>Single-turn</a:t>
            </a:r>
            <a:endParaRPr lang="en-US" sz="3000" dirty="0"/>
          </a:p>
        </p:txBody>
      </p:sp>
      <p:sp>
        <p:nvSpPr>
          <p:cNvPr id="6" name="Text 4"/>
          <p:cNvSpPr txBox="1"/>
          <p:nvPr/>
        </p:nvSpPr>
        <p:spPr>
          <a:xfrm>
            <a:off x="457200" y="3611880"/>
            <a:ext cx="2560320" cy="548640"/>
          </a:xfrm>
          <a:prstGeom prst="rect">
            <a:avLst/>
          </a:prstGeom>
          <a:noFill/>
          <a:ln/>
        </p:spPr>
        <p:txBody>
          <a:bodyPr wrap="square" lIns="0" tIns="0" rIns="0" bIns="0" rtlCol="0" anchor="t"/>
          <a:lstStyle/>
          <a:p>
            <a:pPr indent="0" marL="0">
              <a:buNone/>
            </a:pPr>
            <a:r>
              <a:rPr lang="en-US" sz="1200" dirty="0">
                <a:solidFill>
                  <a:srgbClr val="5B5B5B"/>
                </a:solidFill>
                <a:latin typeface="Calibri" pitchFamily="34" charset="0"/>
                <a:ea typeface="Calibri" pitchFamily="34" charset="-122"/>
                <a:cs typeface="Calibri" pitchFamily="34" charset="-120"/>
              </a:rPr>
              <a:t>almost all abstention research evaluates isolated questions</a:t>
            </a:r>
            <a:endParaRPr lang="en-US" sz="1200" dirty="0"/>
          </a:p>
        </p:txBody>
      </p:sp>
      <p:sp>
        <p:nvSpPr>
          <p:cNvPr id="7" name="Shape 5"/>
          <p:cNvSpPr/>
          <p:nvPr/>
        </p:nvSpPr>
        <p:spPr>
          <a:xfrm>
            <a:off x="3474720" y="1234440"/>
            <a:ext cx="5212080" cy="3291840"/>
          </a:xfrm>
          <a:prstGeom prst="roundRect">
            <a:avLst>
              <a:gd name="adj" fmla="val 2222"/>
            </a:avLst>
          </a:prstGeom>
          <a:solidFill>
            <a:srgbClr val="F3F5F9"/>
          </a:solidFill>
          <a:ln w="12700">
            <a:solidFill>
              <a:srgbClr val="F3F5F9"/>
            </a:solidFill>
            <a:prstDash val="solid"/>
          </a:ln>
        </p:spPr>
      </p:sp>
      <p:sp>
        <p:nvSpPr>
          <p:cNvPr id="8" name="Text 6"/>
          <p:cNvSpPr txBox="1"/>
          <p:nvPr/>
        </p:nvSpPr>
        <p:spPr>
          <a:xfrm>
            <a:off x="3703320" y="1417320"/>
            <a:ext cx="4754880" cy="29260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B1B1B"/>
                </a:solidFill>
                <a:latin typeface="Calibri" pitchFamily="34" charset="0"/>
                <a:ea typeface="Calibri" pitchFamily="34" charset="-122"/>
                <a:cs typeface="Calibri" pitchFamily="34" charset="-120"/>
              </a:rPr>
              <a:t>RAG assistants answer from retrieved documents, but often answer confidently when the documents do not contain the answer.</a:t>
            </a:r>
            <a:endParaRPr lang="en-US" sz="1500" dirty="0"/>
          </a:p>
          <a:p>
            <a:pPr marL="342900" indent="-342900">
              <a:spcAft>
                <a:spcPts val="1000"/>
              </a:spcAft>
              <a:buSzPct val="100000"/>
              <a:buChar char="•"/>
            </a:pPr>
            <a:r>
              <a:rPr lang="en-US" sz="1500" dirty="0">
                <a:solidFill>
                  <a:srgbClr val="1B1B1B"/>
                </a:solidFill>
                <a:latin typeface="Calibri" pitchFamily="34" charset="0"/>
                <a:ea typeface="Calibri" pitchFamily="34" charset="-122"/>
                <a:cs typeface="Calibri" pitchFamily="34" charset="-120"/>
              </a:rPr>
              <a:t>Real conversations get longer and more context-dependent: follow-ups, pronouns, topic shifts.</a:t>
            </a:r>
            <a:endParaRPr lang="en-US" sz="1500" dirty="0"/>
          </a:p>
          <a:p>
            <a:pPr marL="342900" indent="-342900">
              <a:spcAft>
                <a:spcPts val="1000"/>
              </a:spcAft>
              <a:buSzPct val="100000"/>
              <a:buChar char="•"/>
            </a:pPr>
            <a:r>
              <a:rPr lang="en-US" sz="1500" dirty="0">
                <a:solidFill>
                  <a:srgbClr val="1B1B1B"/>
                </a:solidFill>
                <a:latin typeface="Calibri" pitchFamily="34" charset="0"/>
                <a:ea typeface="Calibri" pitchFamily="34" charset="-122"/>
                <a:cs typeface="Calibri" pitchFamily="34" charset="-120"/>
              </a:rPr>
              <a:t>Open question: does the model become worse at knowing when not to answer as the conversation goes on?</a:t>
            </a:r>
            <a:endParaRPr lang="en-US" sz="1500" dirty="0"/>
          </a:p>
          <a:p>
            <a:pPr marL="342900" indent="-342900">
              <a:spcAft>
                <a:spcPts val="1000"/>
              </a:spcAft>
              <a:buSzPct val="100000"/>
              <a:buChar char="•"/>
            </a:pPr>
            <a:r>
              <a:rPr lang="en-US" sz="1500" dirty="0">
                <a:solidFill>
                  <a:srgbClr val="1B1B1B"/>
                </a:solidFill>
                <a:latin typeface="Calibri" pitchFamily="34" charset="0"/>
                <a:ea typeface="Calibri" pitchFamily="34" charset="-122"/>
                <a:cs typeface="Calibri" pitchFamily="34" charset="-120"/>
              </a:rPr>
              <a:t>Unanswerable turns are rare (6.5% of MTRAG), so training data for a detector is scarce.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Research questions</a:t>
            </a:r>
            <a:endParaRPr lang="en-US" sz="2800" dirty="0"/>
          </a:p>
        </p:txBody>
      </p:sp>
      <p:sp>
        <p:nvSpPr>
          <p:cNvPr id="3" name="Shape 1"/>
          <p:cNvSpPr/>
          <p:nvPr/>
        </p:nvSpPr>
        <p:spPr>
          <a:xfrm>
            <a:off x="457200" y="1325880"/>
            <a:ext cx="4023360" cy="2926080"/>
          </a:xfrm>
          <a:prstGeom prst="roundRect">
            <a:avLst>
              <a:gd name="adj" fmla="val 2500"/>
            </a:avLst>
          </a:prstGeom>
          <a:solidFill>
            <a:srgbClr val="F3F5F9"/>
          </a:solidFill>
          <a:ln w="12700">
            <a:solidFill>
              <a:srgbClr val="F3F5F9"/>
            </a:solidFill>
            <a:prstDash val="solid"/>
          </a:ln>
        </p:spPr>
      </p:sp>
      <p:sp>
        <p:nvSpPr>
          <p:cNvPr id="4" name="Shape 2"/>
          <p:cNvSpPr/>
          <p:nvPr/>
        </p:nvSpPr>
        <p:spPr>
          <a:xfrm>
            <a:off x="731520" y="1600200"/>
            <a:ext cx="822960" cy="822960"/>
          </a:xfrm>
          <a:prstGeom prst="ellipse">
            <a:avLst/>
          </a:prstGeom>
          <a:solidFill>
            <a:srgbClr val="2A78D6"/>
          </a:solidFill>
          <a:ln w="12700">
            <a:solidFill>
              <a:srgbClr val="2A78D6"/>
            </a:solidFill>
            <a:prstDash val="solid"/>
          </a:ln>
        </p:spPr>
      </p:sp>
      <p:sp>
        <p:nvSpPr>
          <p:cNvPr id="5" name="Text 3"/>
          <p:cNvSpPr txBox="1"/>
          <p:nvPr/>
        </p:nvSpPr>
        <p:spPr>
          <a:xfrm>
            <a:off x="731520" y="1600200"/>
            <a:ext cx="82296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RQ1</a:t>
            </a:r>
            <a:endParaRPr lang="en-US" sz="1800" dirty="0"/>
          </a:p>
        </p:txBody>
      </p:sp>
      <p:sp>
        <p:nvSpPr>
          <p:cNvPr id="6" name="Text 4"/>
          <p:cNvSpPr txBox="1"/>
          <p:nvPr/>
        </p:nvSpPr>
        <p:spPr>
          <a:xfrm>
            <a:off x="1737360" y="1691640"/>
            <a:ext cx="2560320" cy="6400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Abstention drift</a:t>
            </a:r>
            <a:endParaRPr lang="en-US" sz="2000" dirty="0"/>
          </a:p>
        </p:txBody>
      </p:sp>
      <p:sp>
        <p:nvSpPr>
          <p:cNvPr id="7" name="Text 5"/>
          <p:cNvSpPr txBox="1"/>
          <p:nvPr/>
        </p:nvSpPr>
        <p:spPr>
          <a:xfrm>
            <a:off x="731520" y="2651760"/>
            <a:ext cx="3474720" cy="1371600"/>
          </a:xfrm>
          <a:prstGeom prst="rect">
            <a:avLst/>
          </a:prstGeom>
          <a:noFill/>
          <a:ln/>
        </p:spPr>
        <p:txBody>
          <a:bodyPr wrap="square" lIns="0" tIns="0" rIns="0" bIns="0" rtlCol="0" anchor="t"/>
          <a:lstStyle/>
          <a:p>
            <a:pPr indent="0" marL="0">
              <a:buNone/>
            </a:pPr>
            <a:r>
              <a:rPr lang="en-US" sz="1600" dirty="0">
                <a:solidFill>
                  <a:srgbClr val="1B1B1B"/>
                </a:solidFill>
                <a:latin typeface="Calibri" pitchFamily="34" charset="0"/>
                <a:ea typeface="Calibri" pitchFamily="34" charset="-122"/>
                <a:cs typeface="Calibri" pitchFamily="34" charset="-120"/>
              </a:rPr>
              <a:t>Does detection of unanswerable questions get worse at later turns of a conversation?</a:t>
            </a:r>
            <a:endParaRPr lang="en-US" sz="1600" dirty="0"/>
          </a:p>
        </p:txBody>
      </p:sp>
      <p:sp>
        <p:nvSpPr>
          <p:cNvPr id="8" name="Shape 6"/>
          <p:cNvSpPr/>
          <p:nvPr/>
        </p:nvSpPr>
        <p:spPr>
          <a:xfrm>
            <a:off x="4663440" y="1325880"/>
            <a:ext cx="4023360" cy="2926080"/>
          </a:xfrm>
          <a:prstGeom prst="roundRect">
            <a:avLst>
              <a:gd name="adj" fmla="val 2500"/>
            </a:avLst>
          </a:prstGeom>
          <a:solidFill>
            <a:srgbClr val="F3F5F9"/>
          </a:solidFill>
          <a:ln w="12700">
            <a:solidFill>
              <a:srgbClr val="F3F5F9"/>
            </a:solidFill>
            <a:prstDash val="solid"/>
          </a:ln>
        </p:spPr>
      </p:sp>
      <p:sp>
        <p:nvSpPr>
          <p:cNvPr id="9" name="Shape 7"/>
          <p:cNvSpPr/>
          <p:nvPr/>
        </p:nvSpPr>
        <p:spPr>
          <a:xfrm>
            <a:off x="4937760" y="1600200"/>
            <a:ext cx="822960" cy="822960"/>
          </a:xfrm>
          <a:prstGeom prst="ellipse">
            <a:avLst/>
          </a:prstGeom>
          <a:solidFill>
            <a:srgbClr val="EB6834"/>
          </a:solidFill>
          <a:ln w="12700">
            <a:solidFill>
              <a:srgbClr val="EB6834"/>
            </a:solidFill>
            <a:prstDash val="solid"/>
          </a:ln>
        </p:spPr>
      </p:sp>
      <p:sp>
        <p:nvSpPr>
          <p:cNvPr id="10" name="Text 8"/>
          <p:cNvSpPr txBox="1"/>
          <p:nvPr/>
        </p:nvSpPr>
        <p:spPr>
          <a:xfrm>
            <a:off x="4937760" y="1600200"/>
            <a:ext cx="82296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RQ2</a:t>
            </a:r>
            <a:endParaRPr lang="en-US" sz="1800" dirty="0"/>
          </a:p>
        </p:txBody>
      </p:sp>
      <p:sp>
        <p:nvSpPr>
          <p:cNvPr id="11" name="Text 9"/>
          <p:cNvSpPr txBox="1"/>
          <p:nvPr/>
        </p:nvSpPr>
        <p:spPr>
          <a:xfrm>
            <a:off x="5943600" y="1691640"/>
            <a:ext cx="2560320" cy="6400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Cheap fix</a:t>
            </a:r>
            <a:endParaRPr lang="en-US" sz="2000" dirty="0"/>
          </a:p>
        </p:txBody>
      </p:sp>
      <p:sp>
        <p:nvSpPr>
          <p:cNvPr id="12" name="Text 10"/>
          <p:cNvSpPr txBox="1"/>
          <p:nvPr/>
        </p:nvSpPr>
        <p:spPr>
          <a:xfrm>
            <a:off x="4937760" y="2651760"/>
            <a:ext cx="3474720" cy="1371600"/>
          </a:xfrm>
          <a:prstGeom prst="rect">
            <a:avLst/>
          </a:prstGeom>
          <a:noFill/>
          <a:ln/>
        </p:spPr>
        <p:txBody>
          <a:bodyPr wrap="square" lIns="0" tIns="0" rIns="0" bIns="0" rtlCol="0" anchor="t"/>
          <a:lstStyle/>
          <a:p>
            <a:pPr indent="0" marL="0">
              <a:buNone/>
            </a:pPr>
            <a:r>
              <a:rPr lang="en-US" sz="1600" dirty="0">
                <a:solidFill>
                  <a:srgbClr val="1B1B1B"/>
                </a:solidFill>
                <a:latin typeface="Calibri" pitchFamily="34" charset="0"/>
                <a:ea typeface="Calibri" pitchFamily="34" charset="-122"/>
                <a:cs typeface="Calibri" pitchFamily="34" charset="-120"/>
              </a:rPr>
              <a:t>Can a lightweight checker trained on cheaply generated unanswerable examples help, without more wrong refusals of answerable questions?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Project objectives</a:t>
            </a:r>
            <a:endParaRPr lang="en-US" sz="2800" dirty="0"/>
          </a:p>
        </p:txBody>
      </p:sp>
      <p:sp>
        <p:nvSpPr>
          <p:cNvPr id="3" name="Shape 1"/>
          <p:cNvSpPr/>
          <p:nvPr/>
        </p:nvSpPr>
        <p:spPr>
          <a:xfrm>
            <a:off x="457200" y="1234440"/>
            <a:ext cx="384048" cy="384048"/>
          </a:xfrm>
          <a:prstGeom prst="ellipse">
            <a:avLst/>
          </a:prstGeom>
          <a:solidFill>
            <a:srgbClr val="2A78D6"/>
          </a:solidFill>
          <a:ln w="12700">
            <a:solidFill>
              <a:srgbClr val="2A78D6"/>
            </a:solidFill>
            <a:prstDash val="solid"/>
          </a:ln>
        </p:spPr>
      </p:sp>
      <p:sp>
        <p:nvSpPr>
          <p:cNvPr id="4" name="Text 2"/>
          <p:cNvSpPr txBox="1"/>
          <p:nvPr/>
        </p:nvSpPr>
        <p:spPr>
          <a:xfrm>
            <a:off x="457200" y="1234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txBox="1"/>
          <p:nvPr/>
        </p:nvSpPr>
        <p:spPr>
          <a:xfrm>
            <a:off x="1005840" y="1188720"/>
            <a:ext cx="1463040" cy="457200"/>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Build</a:t>
            </a:r>
            <a:endParaRPr lang="en-US" sz="1800" dirty="0"/>
          </a:p>
        </p:txBody>
      </p:sp>
      <p:sp>
        <p:nvSpPr>
          <p:cNvPr id="6" name="Text 4"/>
          <p:cNvSpPr txBox="1"/>
          <p:nvPr/>
        </p:nvSpPr>
        <p:spPr>
          <a:xfrm>
            <a:off x="2468880" y="1188720"/>
            <a:ext cx="6217920" cy="548640"/>
          </a:xfrm>
          <a:prstGeom prst="rect">
            <a:avLst/>
          </a:prstGeom>
          <a:noFill/>
          <a:ln/>
        </p:spPr>
        <p:txBody>
          <a:bodyPr wrap="square" lIns="0" tIns="0" rIns="0" bIns="0" rtlCol="0" anchor="ctr"/>
          <a:lstStyle/>
          <a:p>
            <a:pPr indent="0" marL="0">
              <a:buNone/>
            </a:pPr>
            <a:r>
              <a:rPr lang="en-US" sz="1400" dirty="0">
                <a:solidFill>
                  <a:srgbClr val="1B1B1B"/>
                </a:solidFill>
                <a:latin typeface="Calibri" pitchFamily="34" charset="0"/>
                <a:ea typeface="Calibri" pitchFamily="34" charset="-122"/>
                <a:cs typeface="Calibri" pitchFamily="34" charset="-120"/>
              </a:rPr>
              <a:t>A reproducible multi-turn RAG pipeline (rewriting, hybrid retrieval, re-ranking, grounded generation) that runs on a 4 GB laptop GPU.</a:t>
            </a:r>
            <a:endParaRPr lang="en-US" sz="1400" dirty="0"/>
          </a:p>
        </p:txBody>
      </p:sp>
      <p:sp>
        <p:nvSpPr>
          <p:cNvPr id="7" name="Shape 5"/>
          <p:cNvSpPr/>
          <p:nvPr/>
        </p:nvSpPr>
        <p:spPr>
          <a:xfrm>
            <a:off x="457200" y="2103120"/>
            <a:ext cx="384048" cy="384048"/>
          </a:xfrm>
          <a:prstGeom prst="ellipse">
            <a:avLst/>
          </a:prstGeom>
          <a:solidFill>
            <a:srgbClr val="2A78D6"/>
          </a:solidFill>
          <a:ln w="12700">
            <a:solidFill>
              <a:srgbClr val="2A78D6"/>
            </a:solidFill>
            <a:prstDash val="solid"/>
          </a:ln>
        </p:spPr>
      </p:sp>
      <p:sp>
        <p:nvSpPr>
          <p:cNvPr id="8" name="Text 6"/>
          <p:cNvSpPr txBox="1"/>
          <p:nvPr/>
        </p:nvSpPr>
        <p:spPr>
          <a:xfrm>
            <a:off x="457200" y="2103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005840" y="2057400"/>
            <a:ext cx="1463040" cy="457200"/>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Measure</a:t>
            </a:r>
            <a:endParaRPr lang="en-US" sz="1800" dirty="0"/>
          </a:p>
        </p:txBody>
      </p:sp>
      <p:sp>
        <p:nvSpPr>
          <p:cNvPr id="10" name="Text 8"/>
          <p:cNvSpPr txBox="1"/>
          <p:nvPr/>
        </p:nvSpPr>
        <p:spPr>
          <a:xfrm>
            <a:off x="2468880" y="2057400"/>
            <a:ext cx="6217920" cy="548640"/>
          </a:xfrm>
          <a:prstGeom prst="rect">
            <a:avLst/>
          </a:prstGeom>
          <a:noFill/>
          <a:ln/>
        </p:spPr>
        <p:txBody>
          <a:bodyPr wrap="square" lIns="0" tIns="0" rIns="0" bIns="0" rtlCol="0" anchor="ctr"/>
          <a:lstStyle/>
          <a:p>
            <a:pPr indent="0" marL="0">
              <a:buNone/>
            </a:pPr>
            <a:r>
              <a:rPr lang="en-US" sz="1400" dirty="0">
                <a:solidFill>
                  <a:srgbClr val="1B1B1B"/>
                </a:solidFill>
                <a:latin typeface="Calibri" pitchFamily="34" charset="0"/>
                <a:ea typeface="Calibri" pitchFamily="34" charset="-122"/>
                <a:cs typeface="Calibri" pitchFamily="34" charset="-120"/>
              </a:rPr>
              <a:t>Abstention per turn position with confidence intervals, a controlled regression and a controlled probe.</a:t>
            </a:r>
            <a:endParaRPr lang="en-US" sz="1400" dirty="0"/>
          </a:p>
        </p:txBody>
      </p:sp>
      <p:sp>
        <p:nvSpPr>
          <p:cNvPr id="11" name="Shape 9"/>
          <p:cNvSpPr/>
          <p:nvPr/>
        </p:nvSpPr>
        <p:spPr>
          <a:xfrm>
            <a:off x="457200" y="2971800"/>
            <a:ext cx="384048" cy="384048"/>
          </a:xfrm>
          <a:prstGeom prst="ellipse">
            <a:avLst/>
          </a:prstGeom>
          <a:solidFill>
            <a:srgbClr val="2A78D6"/>
          </a:solidFill>
          <a:ln w="12700">
            <a:solidFill>
              <a:srgbClr val="2A78D6"/>
            </a:solidFill>
            <a:prstDash val="solid"/>
          </a:ln>
        </p:spPr>
      </p:sp>
      <p:sp>
        <p:nvSpPr>
          <p:cNvPr id="12" name="Text 10"/>
          <p:cNvSpPr txBox="1"/>
          <p:nvPr/>
        </p:nvSpPr>
        <p:spPr>
          <a:xfrm>
            <a:off x="457200" y="2971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005840" y="2926080"/>
            <a:ext cx="1463040" cy="457200"/>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Improve</a:t>
            </a:r>
            <a:endParaRPr lang="en-US" sz="1800" dirty="0"/>
          </a:p>
        </p:txBody>
      </p:sp>
      <p:sp>
        <p:nvSpPr>
          <p:cNvPr id="14" name="Text 12"/>
          <p:cNvSpPr txBox="1"/>
          <p:nvPr/>
        </p:nvSpPr>
        <p:spPr>
          <a:xfrm>
            <a:off x="2468880" y="2926080"/>
            <a:ext cx="6217920" cy="548640"/>
          </a:xfrm>
          <a:prstGeom prst="rect">
            <a:avLst/>
          </a:prstGeom>
          <a:noFill/>
          <a:ln/>
        </p:spPr>
        <p:txBody>
          <a:bodyPr wrap="square" lIns="0" tIns="0" rIns="0" bIns="0" rtlCol="0" anchor="ctr"/>
          <a:lstStyle/>
          <a:p>
            <a:pPr indent="0" marL="0">
              <a:buNone/>
            </a:pPr>
            <a:r>
              <a:rPr lang="en-US" sz="1400" dirty="0">
                <a:solidFill>
                  <a:srgbClr val="1B1B1B"/>
                </a:solidFill>
                <a:latin typeface="Calibri" pitchFamily="34" charset="0"/>
                <a:ea typeface="Calibri" pitchFamily="34" charset="-122"/>
                <a:cs typeface="Calibri" pitchFamily="34" charset="-120"/>
              </a:rPr>
              <a:t>Design and train an answerability checker on real + cheaply generated unanswerable examples; compare with simpler gates.</a:t>
            </a:r>
            <a:endParaRPr lang="en-US" sz="1400" dirty="0"/>
          </a:p>
        </p:txBody>
      </p:sp>
      <p:sp>
        <p:nvSpPr>
          <p:cNvPr id="15" name="Shape 13"/>
          <p:cNvSpPr/>
          <p:nvPr/>
        </p:nvSpPr>
        <p:spPr>
          <a:xfrm>
            <a:off x="457200" y="3840480"/>
            <a:ext cx="384048" cy="384048"/>
          </a:xfrm>
          <a:prstGeom prst="ellipse">
            <a:avLst/>
          </a:prstGeom>
          <a:solidFill>
            <a:srgbClr val="2A78D6"/>
          </a:solidFill>
          <a:ln w="12700">
            <a:solidFill>
              <a:srgbClr val="2A78D6"/>
            </a:solidFill>
            <a:prstDash val="solid"/>
          </a:ln>
        </p:spPr>
      </p:sp>
      <p:sp>
        <p:nvSpPr>
          <p:cNvPr id="16" name="Text 14"/>
          <p:cNvSpPr txBox="1"/>
          <p:nvPr/>
        </p:nvSpPr>
        <p:spPr>
          <a:xfrm>
            <a:off x="457200" y="3840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005840" y="3794760"/>
            <a:ext cx="1463040" cy="457200"/>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Analyse</a:t>
            </a:r>
            <a:endParaRPr lang="en-US" sz="1800" dirty="0"/>
          </a:p>
        </p:txBody>
      </p:sp>
      <p:sp>
        <p:nvSpPr>
          <p:cNvPr id="18" name="Text 16"/>
          <p:cNvSpPr txBox="1"/>
          <p:nvPr/>
        </p:nvSpPr>
        <p:spPr>
          <a:xfrm>
            <a:off x="2468880" y="3794760"/>
            <a:ext cx="6217920" cy="548640"/>
          </a:xfrm>
          <a:prstGeom prst="rect">
            <a:avLst/>
          </a:prstGeom>
          <a:noFill/>
          <a:ln/>
        </p:spPr>
        <p:txBody>
          <a:bodyPr wrap="square" lIns="0" tIns="0" rIns="0" bIns="0" rtlCol="0" anchor="ctr"/>
          <a:lstStyle/>
          <a:p>
            <a:pPr indent="0" marL="0">
              <a:buNone/>
            </a:pPr>
            <a:r>
              <a:rPr lang="en-US" sz="1400" dirty="0">
                <a:solidFill>
                  <a:srgbClr val="1B1B1B"/>
                </a:solidFill>
                <a:latin typeface="Calibri" pitchFamily="34" charset="0"/>
                <a:ea typeface="Calibri" pitchFamily="34" charset="-122"/>
                <a:cs typeface="Calibri" pitchFamily="34" charset="-120"/>
              </a:rPr>
              <a:t>Errors, data quality and what limits abstention in practice.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Data: the MTRAG benchmark family</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Four corpora: ClapNQ (Wikipedia), Cloud (IBM docs), FiQA (finance), Govt (government pages); ~366K passages</a:t>
            </a:r>
            <a:endParaRPr lang="en-US" sz="1400" dirty="0"/>
          </a:p>
        </p:txBody>
      </p:sp>
      <p:sp>
        <p:nvSpPr>
          <p:cNvPr id="4" name="Shape 2"/>
          <p:cNvSpPr/>
          <p:nvPr/>
        </p:nvSpPr>
        <p:spPr>
          <a:xfrm>
            <a:off x="457200" y="1371600"/>
            <a:ext cx="3840480" cy="1417320"/>
          </a:xfrm>
          <a:prstGeom prst="roundRect">
            <a:avLst>
              <a:gd name="adj" fmla="val 5161"/>
            </a:avLst>
          </a:prstGeom>
          <a:solidFill>
            <a:srgbClr val="F3F5F9"/>
          </a:solidFill>
          <a:ln w="12700">
            <a:solidFill>
              <a:srgbClr val="F3F5F9"/>
            </a:solidFill>
            <a:prstDash val="solid"/>
          </a:ln>
        </p:spPr>
      </p:sp>
      <p:sp>
        <p:nvSpPr>
          <p:cNvPr id="5" name="Text 3"/>
          <p:cNvSpPr txBox="1"/>
          <p:nvPr/>
        </p:nvSpPr>
        <p:spPr>
          <a:xfrm>
            <a:off x="640080" y="1463040"/>
            <a:ext cx="3474720" cy="123444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MTRAG (TACL 2025)</a:t>
            </a:r>
            <a:endParaRPr lang="en-US" sz="1500" dirty="0"/>
          </a:p>
          <a:p>
            <a:pPr indent="0" marL="0">
              <a:buNone/>
            </a:pPr>
            <a:r>
              <a:rPr lang="en-US" sz="1300" dirty="0">
                <a:solidFill>
                  <a:srgbClr val="1B1B1B"/>
                </a:solidFill>
                <a:latin typeface="Calibri" pitchFamily="34" charset="0"/>
                <a:ea typeface="Calibri" pitchFamily="34" charset="-122"/>
                <a:cs typeface="Calibri" pitchFamily="34" charset="-120"/>
              </a:rPr>
              <a:t>110 conversations, 842 tasks, 55 unanswerable. Checker training / dev, split 80/20 by conversation.</a:t>
            </a:r>
            <a:endParaRPr lang="en-US" sz="1500" dirty="0"/>
          </a:p>
        </p:txBody>
      </p:sp>
      <p:sp>
        <p:nvSpPr>
          <p:cNvPr id="6" name="Shape 4"/>
          <p:cNvSpPr/>
          <p:nvPr/>
        </p:nvSpPr>
        <p:spPr>
          <a:xfrm>
            <a:off x="457200" y="2971800"/>
            <a:ext cx="3840480" cy="1417320"/>
          </a:xfrm>
          <a:prstGeom prst="roundRect">
            <a:avLst>
              <a:gd name="adj" fmla="val 5161"/>
            </a:avLst>
          </a:prstGeom>
          <a:solidFill>
            <a:srgbClr val="F3F5F9"/>
          </a:solidFill>
          <a:ln w="12700">
            <a:solidFill>
              <a:srgbClr val="F3F5F9"/>
            </a:solidFill>
            <a:prstDash val="solid"/>
          </a:ln>
        </p:spPr>
      </p:sp>
      <p:sp>
        <p:nvSpPr>
          <p:cNvPr id="7" name="Text 5"/>
          <p:cNvSpPr txBox="1"/>
          <p:nvPr/>
        </p:nvSpPr>
        <p:spPr>
          <a:xfrm>
            <a:off x="640080" y="3063240"/>
            <a:ext cx="3474720" cy="123444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MTRAG-UN (SemEval-2026 Task 8)</a:t>
            </a:r>
            <a:endParaRPr lang="en-US" sz="1500" dirty="0"/>
          </a:p>
          <a:p>
            <a:pPr indent="0" marL="0">
              <a:buNone/>
            </a:pPr>
            <a:r>
              <a:rPr lang="en-US" sz="1300" dirty="0">
                <a:solidFill>
                  <a:srgbClr val="1B1B1B"/>
                </a:solidFill>
                <a:latin typeface="Calibri" pitchFamily="34" charset="0"/>
                <a:ea typeface="Calibri" pitchFamily="34" charset="-122"/>
                <a:cs typeface="Calibri" pitchFamily="34" charset="-120"/>
              </a:rPr>
              <a:t>507 public tasks; 429 used (97 unanswerable, 332 answerable). Held-out test set.</a:t>
            </a:r>
            <a:endParaRPr lang="en-US" sz="1500" dirty="0"/>
          </a:p>
        </p:txBody>
      </p:sp>
      <p:graphicFrame>
        <p:nvGraphicFramePr>
          <p:cNvPr id="8" name="Chart 0" descr=""/>
          <p:cNvGraphicFramePr/>
          <p:nvPr/>
        </p:nvGraphicFramePr>
        <p:xfrm>
          <a:off x="4572000" y="1280160"/>
          <a:ext cx="4206240" cy="32004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Models used in the project</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011680"/>
                <a:gridCol w="2103120"/>
                <a:gridCol w="1005840"/>
                <a:gridCol w="3108960"/>
              </a:tblGrid>
              <a:tr h="32004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Type</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Size</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Role in the project</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r>
              <a:tr h="566928">
                <a:tc>
                  <a:txBody>
                    <a:bodyPr/>
                    <a:lstStyle/>
                    <a:p>
                      <a:pPr indent="0" marL="0">
                        <a:buNone/>
                      </a:pPr>
                      <a:r>
                        <a:rPr lang="en-US" sz="1150" b="1" dirty="0">
                          <a:solidFill>
                            <a:srgbClr val="14213D"/>
                          </a:solidFill>
                          <a:latin typeface="Calibri" pitchFamily="34" charset="0"/>
                          <a:ea typeface="Calibri" pitchFamily="34" charset="-122"/>
                          <a:cs typeface="Calibri" pitchFamily="34" charset="-120"/>
                        </a:rPr>
                        <a:t>Qwen2.5-3B-Instruct</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Large language model (LLM), 4-bit GGUF via Ollama</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3.1B params</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Query rewriting, answer generation (prompt-only abstention), LLM judge for synthetic data</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11480">
                <a:tc>
                  <a:txBody>
                    <a:bodyPr/>
                    <a:lstStyle/>
                    <a:p>
                      <a:pPr indent="0" marL="0">
                        <a:buNone/>
                      </a:pPr>
                      <a:r>
                        <a:rPr lang="en-US" sz="1150" b="1" dirty="0">
                          <a:solidFill>
                            <a:srgbClr val="14213D"/>
                          </a:solidFill>
                          <a:latin typeface="Calibri" pitchFamily="34" charset="0"/>
                          <a:ea typeface="Calibri" pitchFamily="34" charset="-122"/>
                          <a:cs typeface="Calibri" pitchFamily="34" charset="-120"/>
                        </a:rPr>
                        <a:t>BM25 (bm25s)</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Sparse lexical ranking</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First-stage retrieval (all systems)</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11480">
                <a:tc>
                  <a:txBody>
                    <a:bodyPr/>
                    <a:lstStyle/>
                    <a:p>
                      <a:pPr indent="0" marL="0">
                        <a:buNone/>
                      </a:pPr>
                      <a:r>
                        <a:rPr lang="en-US" sz="1150" b="1" dirty="0">
                          <a:solidFill>
                            <a:srgbClr val="14213D"/>
                          </a:solidFill>
                          <a:latin typeface="Calibri" pitchFamily="34" charset="0"/>
                          <a:ea typeface="Calibri" pitchFamily="34" charset="-122"/>
                          <a:cs typeface="Calibri" pitchFamily="34" charset="-120"/>
                        </a:rPr>
                        <a:t>BAAI/bge-small-en-v1.5</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Dense embedding model</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33M params</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Dense retrieval with FAISS (S2–S4)</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566928">
                <a:tc>
                  <a:txBody>
                    <a:bodyPr/>
                    <a:lstStyle/>
                    <a:p>
                      <a:pPr indent="0" marL="0">
                        <a:buNone/>
                      </a:pPr>
                      <a:r>
                        <a:rPr lang="en-US" sz="1150" b="1" dirty="0">
                          <a:solidFill>
                            <a:srgbClr val="14213D"/>
                          </a:solidFill>
                          <a:latin typeface="Calibri" pitchFamily="34" charset="0"/>
                          <a:ea typeface="Calibri" pitchFamily="34" charset="-122"/>
                          <a:cs typeface="Calibri" pitchFamily="34" charset="-120"/>
                        </a:rPr>
                        <a:t>BAAI/bge-reranker-base</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Cross-encoder (XLM-RoBERTa)</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278M params</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Re-ranking; untrained gate (S2-rr); fine-tuned checker (S3, S4)</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502920">
                <a:tc>
                  <a:txBody>
                    <a:bodyPr/>
                    <a:lstStyle/>
                    <a:p>
                      <a:pPr indent="0" marL="0">
                        <a:buNone/>
                      </a:pPr>
                      <a:r>
                        <a:rPr lang="en-US" sz="1150" b="1" dirty="0">
                          <a:solidFill>
                            <a:srgbClr val="14213D"/>
                          </a:solidFill>
                          <a:latin typeface="Calibri" pitchFamily="34" charset="0"/>
                          <a:ea typeface="Calibri" pitchFamily="34" charset="-122"/>
                          <a:cs typeface="Calibri" pitchFamily="34" charset="-120"/>
                        </a:rPr>
                        <a:t>microsoft/deberta-v3-base</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Encoder classifier</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184M params</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Earlier checkers (5 runs); replaced by the re-ranker</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bl>
          </a:graphicData>
        </a:graphic>
      </p:graphicFrame>
      <p:sp>
        <p:nvSpPr>
          <p:cNvPr id="4" name="Text 1"/>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1100" i="1" dirty="0">
                <a:solidFill>
                  <a:srgbClr val="5B5B5B"/>
                </a:solidFill>
                <a:latin typeface="Calibri" pitchFamily="34" charset="0"/>
                <a:ea typeface="Calibri" pitchFamily="34" charset="-122"/>
                <a:cs typeface="Calibri" pitchFamily="34" charset="-120"/>
              </a:rPr>
              <a:t>Qwen2.5-7B-Instruct is supported by the code for a larger GPU but was not run (4 GB GPU).</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The LLM: Qwen2.5-3B-Instruct</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Open instruction-tuned model from Alibaba's Qwen team; one model, three roles (+ agent reasoning in S5)</a:t>
            </a:r>
            <a:endParaRPr lang="en-US" sz="1400" dirty="0"/>
          </a:p>
        </p:txBody>
      </p:sp>
      <p:sp>
        <p:nvSpPr>
          <p:cNvPr id="4" name="Shape 2"/>
          <p:cNvSpPr/>
          <p:nvPr/>
        </p:nvSpPr>
        <p:spPr>
          <a:xfrm>
            <a:off x="457200" y="1325880"/>
            <a:ext cx="2606040" cy="1828800"/>
          </a:xfrm>
          <a:prstGeom prst="roundRect">
            <a:avLst>
              <a:gd name="adj" fmla="val 4000"/>
            </a:avLst>
          </a:prstGeom>
          <a:solidFill>
            <a:srgbClr val="F3F5F9"/>
          </a:solidFill>
          <a:ln w="12700">
            <a:solidFill>
              <a:srgbClr val="F3F5F9"/>
            </a:solidFill>
            <a:prstDash val="solid"/>
          </a:ln>
        </p:spPr>
      </p:sp>
      <p:sp>
        <p:nvSpPr>
          <p:cNvPr id="5" name="Shape 3"/>
          <p:cNvSpPr/>
          <p:nvPr/>
        </p:nvSpPr>
        <p:spPr>
          <a:xfrm>
            <a:off x="640080" y="1481328"/>
            <a:ext cx="384048" cy="384048"/>
          </a:xfrm>
          <a:prstGeom prst="ellipse">
            <a:avLst/>
          </a:prstGeom>
          <a:solidFill>
            <a:srgbClr val="EB6834"/>
          </a:solidFill>
          <a:ln w="12700">
            <a:solidFill>
              <a:srgbClr val="EB6834"/>
            </a:solidFill>
            <a:prstDash val="solid"/>
          </a:ln>
        </p:spPr>
      </p:sp>
      <p:sp>
        <p:nvSpPr>
          <p:cNvPr id="6" name="Text 4"/>
          <p:cNvSpPr txBox="1"/>
          <p:nvPr/>
        </p:nvSpPr>
        <p:spPr>
          <a:xfrm>
            <a:off x="640080" y="1481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43000" y="1463040"/>
            <a:ext cx="1828800" cy="41148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Query rewriter</a:t>
            </a:r>
            <a:endParaRPr lang="en-US" sz="1500" dirty="0"/>
          </a:p>
        </p:txBody>
      </p:sp>
      <p:sp>
        <p:nvSpPr>
          <p:cNvPr id="8" name="Text 6"/>
          <p:cNvSpPr txBox="1"/>
          <p:nvPr/>
        </p:nvSpPr>
        <p:spPr>
          <a:xfrm>
            <a:off x="640080" y="2011680"/>
            <a:ext cx="2286000" cy="1051560"/>
          </a:xfrm>
          <a:prstGeom prst="rect">
            <a:avLst/>
          </a:prstGeom>
          <a:noFill/>
          <a:ln/>
        </p:spPr>
        <p:txBody>
          <a:bodyPr wrap="square" lIns="0" tIns="0" rIns="0" bIns="0" rtlCol="0" anchor="t"/>
          <a:lstStyle/>
          <a:p>
            <a:pPr indent="0" marL="0">
              <a:buNone/>
            </a:pPr>
            <a:r>
              <a:rPr lang="en-US" sz="1250" dirty="0">
                <a:solidFill>
                  <a:srgbClr val="1B1B1B"/>
                </a:solidFill>
                <a:latin typeface="Calibri" pitchFamily="34" charset="0"/>
                <a:ea typeface="Calibri" pitchFamily="34" charset="-122"/>
                <a:cs typeface="Calibri" pitchFamily="34" charset="-120"/>
              </a:rPr>
              <a:t>Turns a follow-up ("what about the second one?") into a standalone search query. Max 64 tokens.</a:t>
            </a:r>
            <a:endParaRPr lang="en-US" sz="1250" dirty="0"/>
          </a:p>
        </p:txBody>
      </p:sp>
      <p:sp>
        <p:nvSpPr>
          <p:cNvPr id="9" name="Shape 7"/>
          <p:cNvSpPr/>
          <p:nvPr/>
        </p:nvSpPr>
        <p:spPr>
          <a:xfrm>
            <a:off x="3246120" y="1325880"/>
            <a:ext cx="2606040" cy="1828800"/>
          </a:xfrm>
          <a:prstGeom prst="roundRect">
            <a:avLst>
              <a:gd name="adj" fmla="val 4000"/>
            </a:avLst>
          </a:prstGeom>
          <a:solidFill>
            <a:srgbClr val="F3F5F9"/>
          </a:solidFill>
          <a:ln w="12700">
            <a:solidFill>
              <a:srgbClr val="F3F5F9"/>
            </a:solidFill>
            <a:prstDash val="solid"/>
          </a:ln>
        </p:spPr>
      </p:sp>
      <p:sp>
        <p:nvSpPr>
          <p:cNvPr id="10" name="Shape 8"/>
          <p:cNvSpPr/>
          <p:nvPr/>
        </p:nvSpPr>
        <p:spPr>
          <a:xfrm>
            <a:off x="3429000" y="1481328"/>
            <a:ext cx="384048" cy="384048"/>
          </a:xfrm>
          <a:prstGeom prst="ellipse">
            <a:avLst/>
          </a:prstGeom>
          <a:solidFill>
            <a:srgbClr val="EB6834"/>
          </a:solidFill>
          <a:ln w="12700">
            <a:solidFill>
              <a:srgbClr val="EB6834"/>
            </a:solidFill>
            <a:prstDash val="solid"/>
          </a:ln>
        </p:spPr>
      </p:sp>
      <p:sp>
        <p:nvSpPr>
          <p:cNvPr id="11" name="Text 9"/>
          <p:cNvSpPr txBox="1"/>
          <p:nvPr/>
        </p:nvSpPr>
        <p:spPr>
          <a:xfrm>
            <a:off x="3429000" y="1481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3931920" y="1463040"/>
            <a:ext cx="1828800" cy="41148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Answer generator</a:t>
            </a:r>
            <a:endParaRPr lang="en-US" sz="1500" dirty="0"/>
          </a:p>
        </p:txBody>
      </p:sp>
      <p:sp>
        <p:nvSpPr>
          <p:cNvPr id="13" name="Text 11"/>
          <p:cNvSpPr txBox="1"/>
          <p:nvPr/>
        </p:nvSpPr>
        <p:spPr>
          <a:xfrm>
            <a:off x="3429000" y="2011680"/>
            <a:ext cx="2286000" cy="1051560"/>
          </a:xfrm>
          <a:prstGeom prst="rect">
            <a:avLst/>
          </a:prstGeom>
          <a:noFill/>
          <a:ln/>
        </p:spPr>
        <p:txBody>
          <a:bodyPr wrap="square" lIns="0" tIns="0" rIns="0" bIns="0" rtlCol="0" anchor="t"/>
          <a:lstStyle/>
          <a:p>
            <a:pPr indent="0" marL="0">
              <a:buNone/>
            </a:pPr>
            <a:r>
              <a:rPr lang="en-US" sz="1250" dirty="0">
                <a:solidFill>
                  <a:srgbClr val="1B1B1B"/>
                </a:solidFill>
                <a:latin typeface="Calibri" pitchFamily="34" charset="0"/>
                <a:ea typeface="Calibri" pitchFamily="34" charset="-122"/>
                <a:cs typeface="Calibri" pitchFamily="34" charset="-120"/>
              </a:rPr>
              <a:t>Answers only from the top-5 passages, or replies "I'm sorry, but I don't have the answer". Max 128 tokens.</a:t>
            </a:r>
            <a:endParaRPr lang="en-US" sz="1250" dirty="0"/>
          </a:p>
        </p:txBody>
      </p:sp>
      <p:sp>
        <p:nvSpPr>
          <p:cNvPr id="14" name="Shape 12"/>
          <p:cNvSpPr/>
          <p:nvPr/>
        </p:nvSpPr>
        <p:spPr>
          <a:xfrm>
            <a:off x="6035040" y="1325880"/>
            <a:ext cx="2606040" cy="1828800"/>
          </a:xfrm>
          <a:prstGeom prst="roundRect">
            <a:avLst>
              <a:gd name="adj" fmla="val 4000"/>
            </a:avLst>
          </a:prstGeom>
          <a:solidFill>
            <a:srgbClr val="F3F5F9"/>
          </a:solidFill>
          <a:ln w="12700">
            <a:solidFill>
              <a:srgbClr val="F3F5F9"/>
            </a:solidFill>
            <a:prstDash val="solid"/>
          </a:ln>
        </p:spPr>
      </p:sp>
      <p:sp>
        <p:nvSpPr>
          <p:cNvPr id="15" name="Shape 13"/>
          <p:cNvSpPr/>
          <p:nvPr/>
        </p:nvSpPr>
        <p:spPr>
          <a:xfrm>
            <a:off x="6217920" y="1481328"/>
            <a:ext cx="384048" cy="384048"/>
          </a:xfrm>
          <a:prstGeom prst="ellipse">
            <a:avLst/>
          </a:prstGeom>
          <a:solidFill>
            <a:srgbClr val="EB6834"/>
          </a:solidFill>
          <a:ln w="12700">
            <a:solidFill>
              <a:srgbClr val="EB6834"/>
            </a:solidFill>
            <a:prstDash val="solid"/>
          </a:ln>
        </p:spPr>
      </p:sp>
      <p:sp>
        <p:nvSpPr>
          <p:cNvPr id="16" name="Text 14"/>
          <p:cNvSpPr txBox="1"/>
          <p:nvPr/>
        </p:nvSpPr>
        <p:spPr>
          <a:xfrm>
            <a:off x="6217920" y="1481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720840" y="1463040"/>
            <a:ext cx="1828800" cy="41148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LLM judge</a:t>
            </a:r>
            <a:endParaRPr lang="en-US" sz="1500" dirty="0"/>
          </a:p>
        </p:txBody>
      </p:sp>
      <p:sp>
        <p:nvSpPr>
          <p:cNvPr id="18" name="Text 16"/>
          <p:cNvSpPr txBox="1"/>
          <p:nvPr/>
        </p:nvSpPr>
        <p:spPr>
          <a:xfrm>
            <a:off x="6217920" y="2011680"/>
            <a:ext cx="2286000" cy="1051560"/>
          </a:xfrm>
          <a:prstGeom prst="rect">
            <a:avLst/>
          </a:prstGeom>
          <a:noFill/>
          <a:ln/>
        </p:spPr>
        <p:txBody>
          <a:bodyPr wrap="square" lIns="0" tIns="0" rIns="0" bIns="0" rtlCol="0" anchor="t"/>
          <a:lstStyle/>
          <a:p>
            <a:pPr indent="0" marL="0">
              <a:buNone/>
            </a:pPr>
            <a:r>
              <a:rPr lang="en-US" sz="1250" dirty="0">
                <a:solidFill>
                  <a:srgbClr val="1B1B1B"/>
                </a:solidFill>
                <a:latin typeface="Calibri" pitchFamily="34" charset="0"/>
                <a:ea typeface="Calibri" pitchFamily="34" charset="-122"/>
                <a:cs typeface="Calibri" pitchFamily="34" charset="-120"/>
              </a:rPr>
              <a:t>Checks whether a synthetic 'unanswerable' example is still answerable (yes/no). In S5 it also rewrites retries, self-checks answers and asks clarifying questions.</a:t>
            </a:r>
            <a:endParaRPr lang="en-US" sz="1250" dirty="0"/>
          </a:p>
        </p:txBody>
      </p:sp>
      <p:sp>
        <p:nvSpPr>
          <p:cNvPr id="19" name="Text 17"/>
          <p:cNvSpPr txBox="1"/>
          <p:nvPr/>
        </p:nvSpPr>
        <p:spPr>
          <a:xfrm>
            <a:off x="457200" y="3383280"/>
            <a:ext cx="8229600" cy="91440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How it was run: </a:t>
            </a:r>
            <a:pPr indent="0" marL="0">
              <a:buNone/>
            </a:pPr>
            <a:r>
              <a:rPr lang="en-US" sz="1300" dirty="0">
                <a:solidFill>
                  <a:srgbClr val="1B1B1B"/>
                </a:solidFill>
                <a:latin typeface="Calibri" pitchFamily="34" charset="0"/>
                <a:ea typeface="Calibri" pitchFamily="34" charset="-122"/>
                <a:cs typeface="Calibri" pitchFamily="34" charset="-120"/>
              </a:rPr>
              <a:t>Ollama (llama.cpp), GGUF Q4_K_M quantisation (~1.9 GB), temperature 0, seed 13, 4,096-token context. First tried Hugging Face + bitsandbytes 4-bit: 161 s/task → Ollama: ~35 s → with shorter prompts: 24 s/task.</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Pipeline and systems</a:t>
            </a:r>
            <a:endParaRPr lang="en-US" sz="2800" dirty="0"/>
          </a:p>
        </p:txBody>
      </p:sp>
      <p:sp>
        <p:nvSpPr>
          <p:cNvPr id="3" name="Shape 1"/>
          <p:cNvSpPr/>
          <p:nvPr/>
        </p:nvSpPr>
        <p:spPr>
          <a:xfrm>
            <a:off x="457200" y="1188720"/>
            <a:ext cx="1463040" cy="822960"/>
          </a:xfrm>
          <a:prstGeom prst="roundRect">
            <a:avLst>
              <a:gd name="adj" fmla="val 8889"/>
            </a:avLst>
          </a:prstGeom>
          <a:solidFill>
            <a:srgbClr val="F3F5F9"/>
          </a:solidFill>
          <a:ln w="12700">
            <a:solidFill>
              <a:srgbClr val="D9DEE7"/>
            </a:solidFill>
            <a:prstDash val="solid"/>
          </a:ln>
        </p:spPr>
      </p:sp>
      <p:sp>
        <p:nvSpPr>
          <p:cNvPr id="4" name="Text 2"/>
          <p:cNvSpPr txBox="1"/>
          <p:nvPr/>
        </p:nvSpPr>
        <p:spPr>
          <a:xfrm>
            <a:off x="457200" y="1188720"/>
            <a:ext cx="1463040" cy="822960"/>
          </a:xfrm>
          <a:prstGeom prst="rect">
            <a:avLst/>
          </a:prstGeom>
          <a:noFill/>
          <a:ln/>
        </p:spPr>
        <p:txBody>
          <a:bodyPr wrap="square" lIns="25400" tIns="25400" rIns="25400" bIns="25400" rtlCol="0" anchor="ctr"/>
          <a:lstStyle/>
          <a:p>
            <a:pPr algn="ctr" indent="0" marL="0">
              <a:buNone/>
            </a:pPr>
            <a:r>
              <a:rPr lang="en-US" sz="1200" dirty="0">
                <a:solidFill>
                  <a:srgbClr val="1B1B1B"/>
                </a:solidFill>
                <a:latin typeface="Calibri" pitchFamily="34" charset="0"/>
                <a:ea typeface="Calibri" pitchFamily="34" charset="-122"/>
                <a:cs typeface="Calibri" pitchFamily="34" charset="-120"/>
              </a:rPr>
              <a:t>Conversation +</a:t>
            </a:r>
            <a:endParaRPr lang="en-US" sz="1200" dirty="0"/>
          </a:p>
          <a:p>
            <a:pPr algn="ctr" indent="0" marL="0">
              <a:buNone/>
            </a:pPr>
            <a:r>
              <a:rPr lang="en-US" sz="1200" dirty="0">
                <a:solidFill>
                  <a:srgbClr val="1B1B1B"/>
                </a:solidFill>
                <a:latin typeface="Calibri" pitchFamily="34" charset="0"/>
                <a:ea typeface="Calibri" pitchFamily="34" charset="-122"/>
                <a:cs typeface="Calibri" pitchFamily="34" charset="-120"/>
              </a:rPr>
              <a:t>new question</a:t>
            </a:r>
            <a:endParaRPr lang="en-US" sz="1200" dirty="0"/>
          </a:p>
        </p:txBody>
      </p:sp>
      <p:sp>
        <p:nvSpPr>
          <p:cNvPr id="5" name="Shape 3"/>
          <p:cNvSpPr/>
          <p:nvPr/>
        </p:nvSpPr>
        <p:spPr>
          <a:xfrm>
            <a:off x="1938528" y="1600200"/>
            <a:ext cx="201168" cy="0"/>
          </a:xfrm>
          <a:prstGeom prst="line">
            <a:avLst/>
          </a:prstGeom>
          <a:noFill/>
          <a:ln w="19050">
            <a:solidFill>
              <a:srgbClr val="5B5B5B"/>
            </a:solidFill>
            <a:prstDash val="solid"/>
            <a:tailEnd type="triangle"/>
          </a:ln>
        </p:spPr>
      </p:sp>
      <p:sp>
        <p:nvSpPr>
          <p:cNvPr id="6" name="Shape 4"/>
          <p:cNvSpPr/>
          <p:nvPr/>
        </p:nvSpPr>
        <p:spPr>
          <a:xfrm>
            <a:off x="2157984" y="1188720"/>
            <a:ext cx="1463040" cy="822960"/>
          </a:xfrm>
          <a:prstGeom prst="roundRect">
            <a:avLst>
              <a:gd name="adj" fmla="val 8889"/>
            </a:avLst>
          </a:prstGeom>
          <a:solidFill>
            <a:srgbClr val="F3F5F9"/>
          </a:solidFill>
          <a:ln w="12700">
            <a:solidFill>
              <a:srgbClr val="D9DEE7"/>
            </a:solidFill>
            <a:prstDash val="solid"/>
          </a:ln>
        </p:spPr>
      </p:sp>
      <p:sp>
        <p:nvSpPr>
          <p:cNvPr id="7" name="Text 5"/>
          <p:cNvSpPr txBox="1"/>
          <p:nvPr/>
        </p:nvSpPr>
        <p:spPr>
          <a:xfrm>
            <a:off x="2157984" y="1188720"/>
            <a:ext cx="1463040" cy="822960"/>
          </a:xfrm>
          <a:prstGeom prst="rect">
            <a:avLst/>
          </a:prstGeom>
          <a:noFill/>
          <a:ln/>
        </p:spPr>
        <p:txBody>
          <a:bodyPr wrap="square" lIns="25400" tIns="25400" rIns="25400" bIns="25400" rtlCol="0" anchor="ctr"/>
          <a:lstStyle/>
          <a:p>
            <a:pPr algn="ctr" indent="0" marL="0">
              <a:buNone/>
            </a:pPr>
            <a:r>
              <a:rPr lang="en-US" sz="1200" dirty="0">
                <a:solidFill>
                  <a:srgbClr val="1B1B1B"/>
                </a:solidFill>
                <a:latin typeface="Calibri" pitchFamily="34" charset="0"/>
                <a:ea typeface="Calibri" pitchFamily="34" charset="-122"/>
                <a:cs typeface="Calibri" pitchFamily="34" charset="-120"/>
              </a:rPr>
              <a:t>LLM query</a:t>
            </a:r>
            <a:endParaRPr lang="en-US" sz="1200" dirty="0"/>
          </a:p>
          <a:p>
            <a:pPr algn="ctr" indent="0" marL="0">
              <a:buNone/>
            </a:pPr>
            <a:r>
              <a:rPr lang="en-US" sz="1200" dirty="0">
                <a:solidFill>
                  <a:srgbClr val="1B1B1B"/>
                </a:solidFill>
                <a:latin typeface="Calibri" pitchFamily="34" charset="0"/>
                <a:ea typeface="Calibri" pitchFamily="34" charset="-122"/>
                <a:cs typeface="Calibri" pitchFamily="34" charset="-120"/>
              </a:rPr>
              <a:t>rewriting</a:t>
            </a:r>
            <a:endParaRPr lang="en-US" sz="1200" dirty="0"/>
          </a:p>
        </p:txBody>
      </p:sp>
      <p:sp>
        <p:nvSpPr>
          <p:cNvPr id="8" name="Shape 6"/>
          <p:cNvSpPr/>
          <p:nvPr/>
        </p:nvSpPr>
        <p:spPr>
          <a:xfrm>
            <a:off x="3639312" y="1600200"/>
            <a:ext cx="201168" cy="0"/>
          </a:xfrm>
          <a:prstGeom prst="line">
            <a:avLst/>
          </a:prstGeom>
          <a:noFill/>
          <a:ln w="19050">
            <a:solidFill>
              <a:srgbClr val="5B5B5B"/>
            </a:solidFill>
            <a:prstDash val="solid"/>
            <a:tailEnd type="triangle"/>
          </a:ln>
        </p:spPr>
      </p:sp>
      <p:sp>
        <p:nvSpPr>
          <p:cNvPr id="9" name="Shape 7"/>
          <p:cNvSpPr/>
          <p:nvPr/>
        </p:nvSpPr>
        <p:spPr>
          <a:xfrm>
            <a:off x="3858768" y="1188720"/>
            <a:ext cx="1463040" cy="822960"/>
          </a:xfrm>
          <a:prstGeom prst="roundRect">
            <a:avLst>
              <a:gd name="adj" fmla="val 8889"/>
            </a:avLst>
          </a:prstGeom>
          <a:solidFill>
            <a:srgbClr val="F3F5F9"/>
          </a:solidFill>
          <a:ln w="12700">
            <a:solidFill>
              <a:srgbClr val="D9DEE7"/>
            </a:solidFill>
            <a:prstDash val="solid"/>
          </a:ln>
        </p:spPr>
      </p:sp>
      <p:sp>
        <p:nvSpPr>
          <p:cNvPr id="10" name="Text 8"/>
          <p:cNvSpPr txBox="1"/>
          <p:nvPr/>
        </p:nvSpPr>
        <p:spPr>
          <a:xfrm>
            <a:off x="3858768" y="1188720"/>
            <a:ext cx="1463040" cy="822960"/>
          </a:xfrm>
          <a:prstGeom prst="rect">
            <a:avLst/>
          </a:prstGeom>
          <a:noFill/>
          <a:ln/>
        </p:spPr>
        <p:txBody>
          <a:bodyPr wrap="square" lIns="25400" tIns="25400" rIns="25400" bIns="25400" rtlCol="0" anchor="ctr"/>
          <a:lstStyle/>
          <a:p>
            <a:pPr algn="ctr" indent="0" marL="0">
              <a:buNone/>
            </a:pPr>
            <a:r>
              <a:rPr lang="en-US" sz="1200" dirty="0">
                <a:solidFill>
                  <a:srgbClr val="1B1B1B"/>
                </a:solidFill>
                <a:latin typeface="Calibri" pitchFamily="34" charset="0"/>
                <a:ea typeface="Calibri" pitchFamily="34" charset="-122"/>
                <a:cs typeface="Calibri" pitchFamily="34" charset="-120"/>
              </a:rPr>
              <a:t>BM25 + BGE (RRF)</a:t>
            </a:r>
            <a:endParaRPr lang="en-US" sz="1200" dirty="0"/>
          </a:p>
          <a:p>
            <a:pPr algn="ctr" indent="0" marL="0">
              <a:buNone/>
            </a:pPr>
            <a:r>
              <a:rPr lang="en-US" sz="1200" dirty="0">
                <a:solidFill>
                  <a:srgbClr val="1B1B1B"/>
                </a:solidFill>
                <a:latin typeface="Calibri" pitchFamily="34" charset="0"/>
                <a:ea typeface="Calibri" pitchFamily="34" charset="-122"/>
                <a:cs typeface="Calibri" pitchFamily="34" charset="-120"/>
              </a:rPr>
              <a:t>+ re-ranker</a:t>
            </a:r>
            <a:endParaRPr lang="en-US" sz="1200" dirty="0"/>
          </a:p>
        </p:txBody>
      </p:sp>
      <p:sp>
        <p:nvSpPr>
          <p:cNvPr id="11" name="Shape 9"/>
          <p:cNvSpPr/>
          <p:nvPr/>
        </p:nvSpPr>
        <p:spPr>
          <a:xfrm>
            <a:off x="5340096" y="1600200"/>
            <a:ext cx="201168" cy="0"/>
          </a:xfrm>
          <a:prstGeom prst="line">
            <a:avLst/>
          </a:prstGeom>
          <a:noFill/>
          <a:ln w="19050">
            <a:solidFill>
              <a:srgbClr val="5B5B5B"/>
            </a:solidFill>
            <a:prstDash val="solid"/>
            <a:tailEnd type="triangle"/>
          </a:ln>
        </p:spPr>
      </p:sp>
      <p:sp>
        <p:nvSpPr>
          <p:cNvPr id="12" name="Shape 10"/>
          <p:cNvSpPr/>
          <p:nvPr/>
        </p:nvSpPr>
        <p:spPr>
          <a:xfrm>
            <a:off x="5559552" y="1188720"/>
            <a:ext cx="1463040" cy="822960"/>
          </a:xfrm>
          <a:prstGeom prst="roundRect">
            <a:avLst>
              <a:gd name="adj" fmla="val 8889"/>
            </a:avLst>
          </a:prstGeom>
          <a:solidFill>
            <a:srgbClr val="FCE3D8"/>
          </a:solidFill>
          <a:ln w="12700">
            <a:solidFill>
              <a:srgbClr val="EB6834"/>
            </a:solidFill>
            <a:prstDash val="solid"/>
          </a:ln>
        </p:spPr>
      </p:sp>
      <p:sp>
        <p:nvSpPr>
          <p:cNvPr id="13" name="Text 11"/>
          <p:cNvSpPr txBox="1"/>
          <p:nvPr/>
        </p:nvSpPr>
        <p:spPr>
          <a:xfrm>
            <a:off x="5559552" y="1188720"/>
            <a:ext cx="1463040" cy="822960"/>
          </a:xfrm>
          <a:prstGeom prst="rect">
            <a:avLst/>
          </a:prstGeom>
          <a:noFill/>
          <a:ln/>
        </p:spPr>
        <p:txBody>
          <a:bodyPr wrap="square" lIns="25400" tIns="25400" rIns="25400" bIns="25400" rtlCol="0" anchor="ctr"/>
          <a:lstStyle/>
          <a:p>
            <a:pPr algn="ctr" indent="0" marL="0">
              <a:buNone/>
            </a:pPr>
            <a:r>
              <a:rPr lang="en-US" sz="1200" dirty="0">
                <a:solidFill>
                  <a:srgbClr val="1B1B1B"/>
                </a:solidFill>
                <a:latin typeface="Calibri" pitchFamily="34" charset="0"/>
                <a:ea typeface="Calibri" pitchFamily="34" charset="-122"/>
                <a:cs typeface="Calibri" pitchFamily="34" charset="-120"/>
              </a:rPr>
              <a:t>Answerability</a:t>
            </a:r>
            <a:endParaRPr lang="en-US" sz="1200" dirty="0"/>
          </a:p>
          <a:p>
            <a:pPr algn="ctr" indent="0" marL="0">
              <a:buNone/>
            </a:pPr>
            <a:r>
              <a:rPr lang="en-US" sz="1200" dirty="0">
                <a:solidFill>
                  <a:srgbClr val="1B1B1B"/>
                </a:solidFill>
                <a:latin typeface="Calibri" pitchFamily="34" charset="0"/>
                <a:ea typeface="Calibri" pitchFamily="34" charset="-122"/>
                <a:cs typeface="Calibri" pitchFamily="34" charset="-120"/>
              </a:rPr>
              <a:t>gate: p</a:t>
            </a:r>
            <a:endParaRPr lang="en-US" sz="1200" dirty="0"/>
          </a:p>
        </p:txBody>
      </p:sp>
      <p:sp>
        <p:nvSpPr>
          <p:cNvPr id="14" name="Shape 12"/>
          <p:cNvSpPr/>
          <p:nvPr/>
        </p:nvSpPr>
        <p:spPr>
          <a:xfrm>
            <a:off x="7040880" y="1600200"/>
            <a:ext cx="201168" cy="0"/>
          </a:xfrm>
          <a:prstGeom prst="line">
            <a:avLst/>
          </a:prstGeom>
          <a:noFill/>
          <a:ln w="19050">
            <a:solidFill>
              <a:srgbClr val="5B5B5B"/>
            </a:solidFill>
            <a:prstDash val="solid"/>
            <a:tailEnd type="triangle"/>
          </a:ln>
        </p:spPr>
      </p:sp>
      <p:sp>
        <p:nvSpPr>
          <p:cNvPr id="15" name="Shape 13"/>
          <p:cNvSpPr/>
          <p:nvPr/>
        </p:nvSpPr>
        <p:spPr>
          <a:xfrm>
            <a:off x="7260336" y="1188720"/>
            <a:ext cx="1463040" cy="822960"/>
          </a:xfrm>
          <a:prstGeom prst="roundRect">
            <a:avLst>
              <a:gd name="adj" fmla="val 8889"/>
            </a:avLst>
          </a:prstGeom>
          <a:solidFill>
            <a:srgbClr val="F3F5F9"/>
          </a:solidFill>
          <a:ln w="12700">
            <a:solidFill>
              <a:srgbClr val="D9DEE7"/>
            </a:solidFill>
            <a:prstDash val="solid"/>
          </a:ln>
        </p:spPr>
      </p:sp>
      <p:sp>
        <p:nvSpPr>
          <p:cNvPr id="16" name="Text 14"/>
          <p:cNvSpPr txBox="1"/>
          <p:nvPr/>
        </p:nvSpPr>
        <p:spPr>
          <a:xfrm>
            <a:off x="7260336" y="1188720"/>
            <a:ext cx="1463040" cy="822960"/>
          </a:xfrm>
          <a:prstGeom prst="rect">
            <a:avLst/>
          </a:prstGeom>
          <a:noFill/>
          <a:ln/>
        </p:spPr>
        <p:txBody>
          <a:bodyPr wrap="square" lIns="25400" tIns="25400" rIns="25400" bIns="25400" rtlCol="0" anchor="ctr"/>
          <a:lstStyle/>
          <a:p>
            <a:pPr algn="ctr" indent="0" marL="0">
              <a:buNone/>
            </a:pPr>
            <a:r>
              <a:rPr lang="en-US" sz="1200" dirty="0">
                <a:solidFill>
                  <a:srgbClr val="1B1B1B"/>
                </a:solidFill>
                <a:latin typeface="Calibri" pitchFamily="34" charset="0"/>
                <a:ea typeface="Calibri" pitchFamily="34" charset="-122"/>
                <a:cs typeface="Calibri" pitchFamily="34" charset="-120"/>
              </a:rPr>
              <a:t>Answer, or</a:t>
            </a:r>
            <a:endParaRPr lang="en-US" sz="1200" dirty="0"/>
          </a:p>
          <a:p>
            <a:pPr algn="ctr" indent="0" marL="0">
              <a:buNone/>
            </a:pPr>
            <a:r>
              <a:rPr lang="en-US" sz="1200" dirty="0">
                <a:solidFill>
                  <a:srgbClr val="1B1B1B"/>
                </a:solidFill>
                <a:latin typeface="Calibri" pitchFamily="34" charset="0"/>
                <a:ea typeface="Calibri" pitchFamily="34" charset="-122"/>
                <a:cs typeface="Calibri" pitchFamily="34" charset="-120"/>
              </a:rPr>
              <a:t>"I don't know"</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2286000"/>
          <a:ext cx="8229600" cy="914400"/>
        </p:xfrm>
        <a:graphic>
          <a:graphicData uri="http://schemas.openxmlformats.org/drawingml/2006/table">
            <a:tbl>
              <a:tblPr/>
              <a:tblGrid>
                <a:gridCol w="1005840"/>
                <a:gridCol w="7223760"/>
              </a:tblGrid>
              <a:tr h="32918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System</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adds</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r>
              <a:tr h="329184">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S0</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Last user turn as query, BM25, prompt-only refusal</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29184">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S1</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 LLM query rewriting (Qwen2.5-3B-Instruct)</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29184">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S2</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 dense BGE-small retrieval, RRF fusion, bge-reranker-base</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29184">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S2-rr</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S2 + gate: untrained re-ranker score (p = 1 − max score)</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29184">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S3</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S2 + gate: checker fine-tuned on real labels only</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29184">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S4</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300" dirty="0">
                          <a:solidFill>
                            <a:srgbClr val="1B1B1B"/>
                          </a:solidFill>
                          <a:latin typeface="Calibri" pitchFamily="34" charset="0"/>
                          <a:ea typeface="Calibri" pitchFamily="34" charset="-122"/>
                          <a:cs typeface="Calibri" pitchFamily="34" charset="-120"/>
                        </a:rPr>
                        <a:t>S2 + gate: checker fine-tuned on real + synthetic labels (proposed)</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Cheap unanswerables by evidence removal</a:t>
            </a:r>
            <a:endParaRPr lang="en-US" sz="2800" dirty="0"/>
          </a:p>
        </p:txBody>
      </p:sp>
      <p:sp>
        <p:nvSpPr>
          <p:cNvPr id="3" name="Shape 1"/>
          <p:cNvSpPr/>
          <p:nvPr/>
        </p:nvSpPr>
        <p:spPr>
          <a:xfrm>
            <a:off x="457200" y="1280160"/>
            <a:ext cx="384048" cy="384048"/>
          </a:xfrm>
          <a:prstGeom prst="ellipse">
            <a:avLst/>
          </a:prstGeom>
          <a:solidFill>
            <a:srgbClr val="2A78D6"/>
          </a:solidFill>
          <a:ln w="12700">
            <a:solidFill>
              <a:srgbClr val="2A78D6"/>
            </a:solidFill>
            <a:prstDash val="solid"/>
          </a:ln>
        </p:spPr>
      </p:sp>
      <p:sp>
        <p:nvSpPr>
          <p:cNvPr id="4" name="Text 2"/>
          <p:cNvSpPr txBox="1"/>
          <p:nvPr/>
        </p:nvSpPr>
        <p:spPr>
          <a:xfrm>
            <a:off x="45720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txBox="1"/>
          <p:nvPr/>
        </p:nvSpPr>
        <p:spPr>
          <a:xfrm>
            <a:off x="1005840" y="1234440"/>
            <a:ext cx="3840480" cy="502920"/>
          </a:xfrm>
          <a:prstGeom prst="rect">
            <a:avLst/>
          </a:prstGeom>
          <a:noFill/>
          <a:ln/>
        </p:spPr>
        <p:txBody>
          <a:bodyPr wrap="square" lIns="0" tIns="0" rIns="0" bIns="0" rtlCol="0" anchor="ctr"/>
          <a:lstStyle/>
          <a:p>
            <a:pPr indent="0" marL="0">
              <a:buNone/>
            </a:pPr>
            <a:r>
              <a:rPr lang="en-US" sz="1400" dirty="0">
                <a:solidFill>
                  <a:srgbClr val="1B1B1B"/>
                </a:solidFill>
                <a:latin typeface="Calibri" pitchFamily="34" charset="0"/>
                <a:ea typeface="Calibri" pitchFamily="34" charset="-122"/>
                <a:cs typeface="Calibri" pitchFamily="34" charset="-120"/>
              </a:rPr>
              <a:t>Take an answerable MTRAG turn with known gold passages.</a:t>
            </a:r>
            <a:endParaRPr lang="en-US" sz="1400" dirty="0"/>
          </a:p>
        </p:txBody>
      </p:sp>
      <p:sp>
        <p:nvSpPr>
          <p:cNvPr id="6" name="Shape 4"/>
          <p:cNvSpPr/>
          <p:nvPr/>
        </p:nvSpPr>
        <p:spPr>
          <a:xfrm>
            <a:off x="457200" y="2057400"/>
            <a:ext cx="384048" cy="384048"/>
          </a:xfrm>
          <a:prstGeom prst="ellipse">
            <a:avLst/>
          </a:prstGeom>
          <a:solidFill>
            <a:srgbClr val="2A78D6"/>
          </a:solidFill>
          <a:ln w="12700">
            <a:solidFill>
              <a:srgbClr val="2A78D6"/>
            </a:solidFill>
            <a:prstDash val="solid"/>
          </a:ln>
        </p:spPr>
      </p:sp>
      <p:sp>
        <p:nvSpPr>
          <p:cNvPr id="7" name="Text 5"/>
          <p:cNvSpPr txBox="1"/>
          <p:nvPr/>
        </p:nvSpPr>
        <p:spPr>
          <a:xfrm>
            <a:off x="457200" y="2057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8" name="Text 6"/>
          <p:cNvSpPr txBox="1"/>
          <p:nvPr/>
        </p:nvSpPr>
        <p:spPr>
          <a:xfrm>
            <a:off x="1005840" y="2011680"/>
            <a:ext cx="3840480" cy="502920"/>
          </a:xfrm>
          <a:prstGeom prst="rect">
            <a:avLst/>
          </a:prstGeom>
          <a:noFill/>
          <a:ln/>
        </p:spPr>
        <p:txBody>
          <a:bodyPr wrap="square" lIns="0" tIns="0" rIns="0" bIns="0" rtlCol="0" anchor="ctr"/>
          <a:lstStyle/>
          <a:p>
            <a:pPr indent="0" marL="0">
              <a:buNone/>
            </a:pPr>
            <a:r>
              <a:rPr lang="en-US" sz="1400" dirty="0">
                <a:solidFill>
                  <a:srgbClr val="1B1B1B"/>
                </a:solidFill>
                <a:latin typeface="Calibri" pitchFamily="34" charset="0"/>
                <a:ea typeface="Calibri" pitchFamily="34" charset="-122"/>
                <a:cs typeface="Calibri" pitchFamily="34" charset="-120"/>
              </a:rPr>
              <a:t>Re-run retrieval, excluding every passage from the gold source documents.</a:t>
            </a:r>
            <a:endParaRPr lang="en-US" sz="1400" dirty="0"/>
          </a:p>
        </p:txBody>
      </p:sp>
      <p:sp>
        <p:nvSpPr>
          <p:cNvPr id="9" name="Shape 7"/>
          <p:cNvSpPr/>
          <p:nvPr/>
        </p:nvSpPr>
        <p:spPr>
          <a:xfrm>
            <a:off x="457200" y="2834640"/>
            <a:ext cx="384048" cy="384048"/>
          </a:xfrm>
          <a:prstGeom prst="ellipse">
            <a:avLst/>
          </a:prstGeom>
          <a:solidFill>
            <a:srgbClr val="2A78D6"/>
          </a:solidFill>
          <a:ln w="12700">
            <a:solidFill>
              <a:srgbClr val="2A78D6"/>
            </a:solidFill>
            <a:prstDash val="solid"/>
          </a:ln>
        </p:spPr>
      </p:sp>
      <p:sp>
        <p:nvSpPr>
          <p:cNvPr id="10" name="Text 8"/>
          <p:cNvSpPr txBox="1"/>
          <p:nvPr/>
        </p:nvSpPr>
        <p:spPr>
          <a:xfrm>
            <a:off x="457200" y="2834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1" name="Text 9"/>
          <p:cNvSpPr txBox="1"/>
          <p:nvPr/>
        </p:nvSpPr>
        <p:spPr>
          <a:xfrm>
            <a:off x="1005840" y="2788920"/>
            <a:ext cx="3840480" cy="502920"/>
          </a:xfrm>
          <a:prstGeom prst="rect">
            <a:avLst/>
          </a:prstGeom>
          <a:noFill/>
          <a:ln/>
        </p:spPr>
        <p:txBody>
          <a:bodyPr wrap="square" lIns="0" tIns="0" rIns="0" bIns="0" rtlCol="0" anchor="ctr"/>
          <a:lstStyle/>
          <a:p>
            <a:pPr indent="0" marL="0">
              <a:buNone/>
            </a:pPr>
            <a:r>
              <a:rPr lang="en-US" sz="1400" dirty="0">
                <a:solidFill>
                  <a:srgbClr val="1B1B1B"/>
                </a:solidFill>
                <a:latin typeface="Calibri" pitchFamily="34" charset="0"/>
                <a:ea typeface="Calibri" pitchFamily="34" charset="-122"/>
                <a:cs typeface="Calibri" pitchFamily="34" charset="-120"/>
              </a:rPr>
              <a:t>Label the new context 'unanswerable': no annotation cost.</a:t>
            </a:r>
            <a:endParaRPr lang="en-US" sz="1400" dirty="0"/>
          </a:p>
        </p:txBody>
      </p:sp>
      <p:sp>
        <p:nvSpPr>
          <p:cNvPr id="12" name="Shape 10"/>
          <p:cNvSpPr/>
          <p:nvPr/>
        </p:nvSpPr>
        <p:spPr>
          <a:xfrm>
            <a:off x="457200" y="3611880"/>
            <a:ext cx="384048" cy="384048"/>
          </a:xfrm>
          <a:prstGeom prst="ellipse">
            <a:avLst/>
          </a:prstGeom>
          <a:solidFill>
            <a:srgbClr val="EB6834"/>
          </a:solidFill>
          <a:ln w="12700">
            <a:solidFill>
              <a:srgbClr val="EB6834"/>
            </a:solidFill>
            <a:prstDash val="solid"/>
          </a:ln>
        </p:spPr>
      </p:sp>
      <p:sp>
        <p:nvSpPr>
          <p:cNvPr id="13" name="Text 11"/>
          <p:cNvSpPr txBox="1"/>
          <p:nvPr/>
        </p:nvSpPr>
        <p:spPr>
          <a:xfrm>
            <a:off x="457200" y="3611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4" name="Text 12"/>
          <p:cNvSpPr txBox="1"/>
          <p:nvPr/>
        </p:nvSpPr>
        <p:spPr>
          <a:xfrm>
            <a:off x="1005840" y="3566160"/>
            <a:ext cx="3840480" cy="502920"/>
          </a:xfrm>
          <a:prstGeom prst="rect">
            <a:avLst/>
          </a:prstGeom>
          <a:noFill/>
          <a:ln/>
        </p:spPr>
        <p:txBody>
          <a:bodyPr wrap="square" lIns="0" tIns="0" rIns="0" bIns="0" rtlCol="0" anchor="ctr"/>
          <a:lstStyle/>
          <a:p>
            <a:pPr indent="0" marL="0">
              <a:buNone/>
            </a:pPr>
            <a:r>
              <a:rPr lang="en-US" sz="1400" dirty="0">
                <a:solidFill>
                  <a:srgbClr val="1B1B1B"/>
                </a:solidFill>
                <a:latin typeface="Calibri" pitchFamily="34" charset="0"/>
                <a:ea typeface="Calibri" pitchFamily="34" charset="-122"/>
                <a:cs typeface="Calibri" pitchFamily="34" charset="-120"/>
              </a:rPr>
              <a:t>Filter with an LLM judge: do the passages still contain the key point of the reference answer?</a:t>
            </a:r>
            <a:endParaRPr lang="en-US" sz="1400" dirty="0"/>
          </a:p>
        </p:txBody>
      </p:sp>
      <p:sp>
        <p:nvSpPr>
          <p:cNvPr id="15" name="Shape 13"/>
          <p:cNvSpPr/>
          <p:nvPr/>
        </p:nvSpPr>
        <p:spPr>
          <a:xfrm>
            <a:off x="5212080" y="1234440"/>
            <a:ext cx="3474720" cy="3246120"/>
          </a:xfrm>
          <a:prstGeom prst="roundRect">
            <a:avLst>
              <a:gd name="adj" fmla="val 2254"/>
            </a:avLst>
          </a:prstGeom>
          <a:solidFill>
            <a:srgbClr val="F3F5F9"/>
          </a:solidFill>
          <a:ln w="12700">
            <a:solidFill>
              <a:srgbClr val="F3F5F9"/>
            </a:solidFill>
            <a:prstDash val="solid"/>
          </a:ln>
        </p:spPr>
      </p:sp>
      <p:sp>
        <p:nvSpPr>
          <p:cNvPr id="16" name="Text 14"/>
          <p:cNvSpPr txBox="1"/>
          <p:nvPr/>
        </p:nvSpPr>
        <p:spPr>
          <a:xfrm>
            <a:off x="5486400" y="1417320"/>
            <a:ext cx="3017520" cy="685800"/>
          </a:xfrm>
          <a:prstGeom prst="rect">
            <a:avLst/>
          </a:prstGeom>
          <a:noFill/>
          <a:ln/>
        </p:spPr>
        <p:txBody>
          <a:bodyPr wrap="square" lIns="0" tIns="0" rIns="0" bIns="0" rtlCol="0" anchor="ctr"/>
          <a:lstStyle/>
          <a:p>
            <a:pPr indent="0" marL="0">
              <a:buNone/>
            </a:pPr>
            <a:r>
              <a:rPr lang="en-US" sz="4000" b="1" dirty="0">
                <a:solidFill>
                  <a:srgbClr val="EB6834"/>
                </a:solidFill>
                <a:latin typeface="Cambria" pitchFamily="34" charset="0"/>
                <a:ea typeface="Cambria" pitchFamily="34" charset="-122"/>
                <a:cs typeface="Cambria" pitchFamily="34" charset="-120"/>
              </a:rPr>
              <a:t>23%</a:t>
            </a:r>
            <a:endParaRPr lang="en-US" sz="4000" dirty="0"/>
          </a:p>
        </p:txBody>
      </p:sp>
      <p:sp>
        <p:nvSpPr>
          <p:cNvPr id="17" name="Text 15"/>
          <p:cNvSpPr txBox="1"/>
          <p:nvPr/>
        </p:nvSpPr>
        <p:spPr>
          <a:xfrm>
            <a:off x="5486400" y="2103120"/>
            <a:ext cx="3017520" cy="548640"/>
          </a:xfrm>
          <a:prstGeom prst="rect">
            <a:avLst/>
          </a:prstGeom>
          <a:noFill/>
          <a:ln/>
        </p:spPr>
        <p:txBody>
          <a:bodyPr wrap="square" lIns="0" tIns="0" rIns="0" bIns="0" rtlCol="0" anchor="t"/>
          <a:lstStyle/>
          <a:p>
            <a:pPr indent="0" marL="0">
              <a:buNone/>
            </a:pPr>
            <a:r>
              <a:rPr lang="en-US" sz="1200" dirty="0">
                <a:solidFill>
                  <a:srgbClr val="5B5B5B"/>
                </a:solidFill>
                <a:latin typeface="Calibri" pitchFamily="34" charset="0"/>
                <a:ea typeface="Calibri" pitchFamily="34" charset="-122"/>
                <a:cs typeface="Calibri" pitchFamily="34" charset="-120"/>
              </a:rPr>
              <a:t>of 507 synthetic examples were still answerable (118 dropped): near-duplicate pages, e.g. several NASA pages on the same mission</a:t>
            </a:r>
            <a:endParaRPr lang="en-US" sz="1200" dirty="0"/>
          </a:p>
        </p:txBody>
      </p:sp>
      <p:sp>
        <p:nvSpPr>
          <p:cNvPr id="18" name="Text 16"/>
          <p:cNvSpPr txBox="1"/>
          <p:nvPr/>
        </p:nvSpPr>
        <p:spPr>
          <a:xfrm>
            <a:off x="5486400" y="3154680"/>
            <a:ext cx="3017520" cy="1097280"/>
          </a:xfrm>
          <a:prstGeom prst="rect">
            <a:avLst/>
          </a:prstGeom>
          <a:noFill/>
          <a:ln/>
        </p:spPr>
        <p:txBody>
          <a:bodyPr wrap="square" lIns="0" tIns="0" rIns="0" bIns="0" rtlCol="0" anchor="t"/>
          <a:lstStyle/>
          <a:p>
            <a:pPr indent="0" marL="0">
              <a:spcAft>
                <a:spcPts val="400"/>
              </a:spcAft>
              <a:buNone/>
            </a:pPr>
            <a:r>
              <a:rPr lang="en-US" sz="1300" dirty="0">
                <a:solidFill>
                  <a:srgbClr val="1B1B1B"/>
                </a:solidFill>
                <a:latin typeface="Calibri" pitchFamily="34" charset="0"/>
                <a:ea typeface="Calibri" pitchFamily="34" charset="-122"/>
                <a:cs typeface="Calibri" pitchFamily="34" charset="-120"/>
              </a:rPr>
              <a:t>Train: 407 → 321 kept (−21%)</a:t>
            </a:r>
            <a:endParaRPr lang="en-US" sz="1300" dirty="0"/>
          </a:p>
          <a:p>
            <a:pPr indent="0" marL="0">
              <a:spcAft>
                <a:spcPts val="400"/>
              </a:spcAft>
              <a:buNone/>
            </a:pPr>
            <a:r>
              <a:rPr lang="en-US" sz="1300" dirty="0">
                <a:solidFill>
                  <a:srgbClr val="1B1B1B"/>
                </a:solidFill>
                <a:latin typeface="Calibri" pitchFamily="34" charset="0"/>
                <a:ea typeface="Calibri" pitchFamily="34" charset="-122"/>
                <a:cs typeface="Calibri" pitchFamily="34" charset="-120"/>
              </a:rPr>
              <a:t>Dev: 100 → 68 kept (−32%)</a:t>
            </a:r>
            <a:endParaRPr lang="en-US" sz="1300" dirty="0"/>
          </a:p>
          <a:p>
            <a:pPr indent="0" marL="0">
              <a:spcAft>
                <a:spcPts val="400"/>
              </a:spcAft>
              <a:buNone/>
            </a:pPr>
            <a:r>
              <a:rPr lang="en-US" sz="1300" dirty="0">
                <a:solidFill>
                  <a:srgbClr val="1B1B1B"/>
                </a:solidFill>
                <a:latin typeface="Calibri" pitchFamily="34" charset="0"/>
                <a:ea typeface="Calibri" pitchFamily="34" charset="-122"/>
                <a:cs typeface="Calibri" pitchFamily="34" charset="-120"/>
              </a:rPr>
              <a:t>Most drops in ClapNQ and Govt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Implementation and tech stack</a:t>
            </a:r>
            <a:endParaRPr lang="en-US" sz="2800" dirty="0"/>
          </a:p>
        </p:txBody>
      </p:sp>
      <p:sp>
        <p:nvSpPr>
          <p:cNvPr id="3" name="Shape 1"/>
          <p:cNvSpPr/>
          <p:nvPr/>
        </p:nvSpPr>
        <p:spPr>
          <a:xfrm>
            <a:off x="457200" y="1143000"/>
            <a:ext cx="3931920" cy="3383280"/>
          </a:xfrm>
          <a:prstGeom prst="roundRect">
            <a:avLst>
              <a:gd name="adj" fmla="val 2162"/>
            </a:avLst>
          </a:prstGeom>
          <a:solidFill>
            <a:srgbClr val="F3F5F9"/>
          </a:solidFill>
          <a:ln w="12700">
            <a:solidFill>
              <a:srgbClr val="F3F5F9"/>
            </a:solidFill>
            <a:prstDash val="solid"/>
          </a:ln>
        </p:spPr>
      </p:sp>
      <p:sp>
        <p:nvSpPr>
          <p:cNvPr id="4" name="Text 2"/>
          <p:cNvSpPr txBox="1"/>
          <p:nvPr/>
        </p:nvSpPr>
        <p:spPr>
          <a:xfrm>
            <a:off x="640080" y="1280160"/>
            <a:ext cx="3566160" cy="31089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Hardware</a:t>
            </a:r>
            <a:endParaRPr lang="en-US" sz="1250" dirty="0"/>
          </a:p>
          <a:p>
            <a:pPr indent="0" marL="0">
              <a:buNone/>
            </a:pPr>
            <a:r>
              <a:rPr lang="en-US" sz="1250" dirty="0">
                <a:solidFill>
                  <a:srgbClr val="1B1B1B"/>
                </a:solidFill>
                <a:latin typeface="Calibri" pitchFamily="34" charset="0"/>
                <a:ea typeface="Calibri" pitchFamily="34" charset="-122"/>
                <a:cs typeface="Calibri" pitchFamily="34" charset="-120"/>
              </a:rPr>
              <a:t>Laptop, NVIDIA GTX 1650 (4 GB), 16 GB RAM, Windows 11</a:t>
            </a:r>
            <a:endParaRPr lang="en-US" sz="1250" dirty="0"/>
          </a:p>
          <a:p>
            <a:pPr indent="0" marL="0">
              <a:buNone/>
            </a:pPr>
            <a:r>
              <a:rPr lang="en-US" sz="600" dirty="0">
                <a:solidFill>
                  <a:srgbClr val="1B1B1B"/>
                </a:solidFill>
                <a:latin typeface="Calibri" pitchFamily="34" charset="0"/>
                <a:ea typeface="Calibri" pitchFamily="34" charset="-122"/>
                <a:cs typeface="Calibri" pitchFamily="34" charset="-120"/>
              </a:rPr>
              <a:t> </a:t>
            </a:r>
            <a:endParaRPr lang="en-US" sz="1250" dirty="0"/>
          </a:p>
          <a:p>
            <a:pPr indent="0" marL="0">
              <a:buNone/>
            </a:pPr>
            <a:r>
              <a:rPr lang="en-US" sz="1500" b="1" dirty="0">
                <a:solidFill>
                  <a:srgbClr val="14213D"/>
                </a:solidFill>
                <a:latin typeface="Calibri" pitchFamily="34" charset="0"/>
                <a:ea typeface="Calibri" pitchFamily="34" charset="-122"/>
                <a:cs typeface="Calibri" pitchFamily="34" charset="-120"/>
              </a:rPr>
              <a:t>Software</a:t>
            </a:r>
            <a:endParaRPr lang="en-US" sz="1250" dirty="0"/>
          </a:p>
          <a:p>
            <a:pPr indent="0" marL="0">
              <a:buNone/>
            </a:pPr>
            <a:r>
              <a:rPr lang="en-US" sz="1250" dirty="0">
                <a:solidFill>
                  <a:srgbClr val="1B1B1B"/>
                </a:solidFill>
                <a:latin typeface="Calibri" pitchFamily="34" charset="0"/>
                <a:ea typeface="Calibri" pitchFamily="34" charset="-122"/>
                <a:cs typeface="Calibri" pitchFamily="34" charset="-120"/>
              </a:rPr>
              <a:t>Python 3.11 (conda env 'abstain'), PyTorch 2.14 + CUDA 12.6, Hugging Face Transformers 5, sentence-transformers, bm25s, FAISS, Ollama 0.34, LangChain + LangGraph (S5 agent), scikit-learn, Matplotlib, Gradio, pytest. Service: FastAPI, PostgreSQL, Qdrant, Celery, Guardrails AI, Langfuse, Grafana, Docker</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0" y="1143000"/>
          <a:ext cx="4114800" cy="914400"/>
        </p:xfrm>
        <a:graphic>
          <a:graphicData uri="http://schemas.openxmlformats.org/drawingml/2006/table">
            <a:tbl>
              <a:tblPr/>
              <a:tblGrid>
                <a:gridCol w="1828800"/>
                <a:gridCol w="2286000"/>
              </a:tblGrid>
              <a:tr h="41148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Module</a:t>
                      </a:r>
                      <a:endParaRPr lang="en-US" sz="11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r>
              <a:tr h="411480">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retrieval.py</a:t>
                      </a:r>
                      <a:endParaRPr lang="en-US" sz="11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BM25, dense index, RRF, re-ranker</a:t>
                      </a:r>
                      <a:endParaRPr lang="en-US" sz="11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11480">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llm.py / rewrite.py / generate.py</a:t>
                      </a:r>
                      <a:endParaRPr lang="en-US" sz="11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Qwen backends and prompts</a:t>
                      </a:r>
                      <a:endParaRPr lang="en-US" sz="11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11480">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checker.py</a:t>
                      </a:r>
                      <a:endParaRPr lang="en-US" sz="11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Checker training, gates, thresholds</a:t>
                      </a:r>
                      <a:endParaRPr lang="en-US" sz="11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11480">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synth.py</a:t>
                      </a:r>
                      <a:endParaRPr lang="en-US" sz="11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Evidence removal, filters, LLM judge</a:t>
                      </a:r>
                      <a:endParaRPr lang="en-US" sz="11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11480">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metrics.py</a:t>
                      </a:r>
                      <a:endParaRPr lang="en-US" sz="11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Metrics, drift slope, bootstrap, regression</a:t>
                      </a:r>
                      <a:endParaRPr lang="en-US" sz="11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11480">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scripts/ (13) + app.py</a:t>
                      </a:r>
                      <a:endParaRPr lang="en-US" sz="11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B1B1B"/>
                          </a:solidFill>
                          <a:latin typeface="Calibri" pitchFamily="34" charset="0"/>
                          <a:ea typeface="Calibri" pitchFamily="34" charset="-122"/>
                          <a:cs typeface="Calibri" pitchFamily="34" charset="-120"/>
                        </a:rPr>
                        <a:t>One script per step; Gradio demo</a:t>
                      </a:r>
                      <a:endParaRPr lang="en-US" sz="11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bl>
          </a:graphicData>
        </a:graphic>
      </p:graphicFrame>
      <p:sp>
        <p:nvSpPr>
          <p:cNvPr id="6" name="Text 3"/>
          <p:cNvSpPr txBox="1"/>
          <p:nvPr/>
        </p:nvSpPr>
        <p:spPr>
          <a:xfrm>
            <a:off x="4572000" y="4160520"/>
            <a:ext cx="4114800" cy="365760"/>
          </a:xfrm>
          <a:prstGeom prst="rect">
            <a:avLst/>
          </a:prstGeom>
          <a:noFill/>
          <a:ln/>
        </p:spPr>
        <p:txBody>
          <a:bodyPr wrap="square" lIns="0" tIns="0" rIns="0" bIns="0" rtlCol="0" anchor="ctr"/>
          <a:lstStyle/>
          <a:p>
            <a:pPr indent="0" marL="0">
              <a:buNone/>
            </a:pPr>
            <a:r>
              <a:rPr lang="en-US" sz="1100" i="1" dirty="0">
                <a:solidFill>
                  <a:srgbClr val="5B5B5B"/>
                </a:solidFill>
                <a:latin typeface="Calibri" pitchFamily="34" charset="0"/>
                <a:ea typeface="Calibri" pitchFamily="34" charset="-122"/>
                <a:cs typeface="Calibri" pitchFamily="34" charset="-120"/>
              </a:rPr>
              <a:t>~2,450 lines (research) + ~3,200 (service) · 49 tests · YAML configs for laptop and large GPU</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How we measure drift</a:t>
            </a:r>
            <a:endParaRPr lang="en-US" sz="2800" dirty="0"/>
          </a:p>
        </p:txBody>
      </p:sp>
      <p:sp>
        <p:nvSpPr>
          <p:cNvPr id="3" name="Shape 1"/>
          <p:cNvSpPr/>
          <p:nvPr/>
        </p:nvSpPr>
        <p:spPr>
          <a:xfrm>
            <a:off x="457200" y="1234440"/>
            <a:ext cx="4023360" cy="1508760"/>
          </a:xfrm>
          <a:prstGeom prst="roundRect">
            <a:avLst>
              <a:gd name="adj" fmla="val 4848"/>
            </a:avLst>
          </a:prstGeom>
          <a:solidFill>
            <a:srgbClr val="F3F5F9"/>
          </a:solidFill>
          <a:ln w="12700">
            <a:solidFill>
              <a:srgbClr val="F3F5F9"/>
            </a:solidFill>
            <a:prstDash val="solid"/>
          </a:ln>
        </p:spPr>
      </p:sp>
      <p:sp>
        <p:nvSpPr>
          <p:cNvPr id="4" name="Shape 2"/>
          <p:cNvSpPr/>
          <p:nvPr/>
        </p:nvSpPr>
        <p:spPr>
          <a:xfrm>
            <a:off x="640080" y="1417320"/>
            <a:ext cx="384048" cy="384048"/>
          </a:xfrm>
          <a:prstGeom prst="ellipse">
            <a:avLst/>
          </a:prstGeom>
          <a:solidFill>
            <a:srgbClr val="2A78D6"/>
          </a:solidFill>
          <a:ln w="12700">
            <a:solidFill>
              <a:srgbClr val="2A78D6"/>
            </a:solidFill>
            <a:prstDash val="solid"/>
          </a:ln>
        </p:spPr>
      </p:sp>
      <p:sp>
        <p:nvSpPr>
          <p:cNvPr id="5" name="Text 3"/>
          <p:cNvSpPr txBox="1"/>
          <p:nvPr/>
        </p:nvSpPr>
        <p:spPr>
          <a:xfrm>
            <a:off x="640080" y="14173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188720" y="1417320"/>
            <a:ext cx="3108960" cy="384048"/>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Abstention quality</a:t>
            </a:r>
            <a:endParaRPr lang="en-US" sz="1600" dirty="0"/>
          </a:p>
        </p:txBody>
      </p:sp>
      <p:sp>
        <p:nvSpPr>
          <p:cNvPr id="7" name="Text 5"/>
          <p:cNvSpPr txBox="1"/>
          <p:nvPr/>
        </p:nvSpPr>
        <p:spPr>
          <a:xfrm>
            <a:off x="640080" y="1892808"/>
            <a:ext cx="3657600" cy="777240"/>
          </a:xfrm>
          <a:prstGeom prst="rect">
            <a:avLst/>
          </a:prstGeom>
          <a:noFill/>
          <a:ln/>
        </p:spPr>
        <p:txBody>
          <a:bodyPr wrap="square" lIns="0" tIns="0" rIns="0" bIns="0" rtlCol="0" anchor="t"/>
          <a:lstStyle/>
          <a:p>
            <a:pPr indent="0" marL="0">
              <a:buNone/>
            </a:pPr>
            <a:r>
              <a:rPr lang="en-US" sz="1250" dirty="0">
                <a:solidFill>
                  <a:srgbClr val="1B1B1B"/>
                </a:solidFill>
                <a:latin typeface="Calibri" pitchFamily="34" charset="0"/>
                <a:ea typeface="Calibri" pitchFamily="34" charset="-122"/>
                <a:cs typeface="Calibri" pitchFamily="34" charset="-120"/>
              </a:rPr>
              <a:t>Precision, recall, F1 on unanswerable turns; false-abstention rate (FA) on answerable turns, per turn bucket 1–2 / 3–5 / 6+.</a:t>
            </a:r>
            <a:endParaRPr lang="en-US" sz="1250" dirty="0"/>
          </a:p>
        </p:txBody>
      </p:sp>
      <p:sp>
        <p:nvSpPr>
          <p:cNvPr id="8" name="Shape 6"/>
          <p:cNvSpPr/>
          <p:nvPr/>
        </p:nvSpPr>
        <p:spPr>
          <a:xfrm>
            <a:off x="4663440" y="1234440"/>
            <a:ext cx="4023360" cy="1508760"/>
          </a:xfrm>
          <a:prstGeom prst="roundRect">
            <a:avLst>
              <a:gd name="adj" fmla="val 4848"/>
            </a:avLst>
          </a:prstGeom>
          <a:solidFill>
            <a:srgbClr val="F3F5F9"/>
          </a:solidFill>
          <a:ln w="12700">
            <a:solidFill>
              <a:srgbClr val="F3F5F9"/>
            </a:solidFill>
            <a:prstDash val="solid"/>
          </a:ln>
        </p:spPr>
      </p:sp>
      <p:sp>
        <p:nvSpPr>
          <p:cNvPr id="9" name="Shape 7"/>
          <p:cNvSpPr/>
          <p:nvPr/>
        </p:nvSpPr>
        <p:spPr>
          <a:xfrm>
            <a:off x="4846320" y="1417320"/>
            <a:ext cx="384048" cy="384048"/>
          </a:xfrm>
          <a:prstGeom prst="ellipse">
            <a:avLst/>
          </a:prstGeom>
          <a:solidFill>
            <a:srgbClr val="2A78D6"/>
          </a:solidFill>
          <a:ln w="12700">
            <a:solidFill>
              <a:srgbClr val="2A78D6"/>
            </a:solidFill>
            <a:prstDash val="solid"/>
          </a:ln>
        </p:spPr>
      </p:sp>
      <p:sp>
        <p:nvSpPr>
          <p:cNvPr id="10" name="Text 8"/>
          <p:cNvSpPr txBox="1"/>
          <p:nvPr/>
        </p:nvSpPr>
        <p:spPr>
          <a:xfrm>
            <a:off x="4846320" y="14173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5394960" y="1417320"/>
            <a:ext cx="3108960" cy="384048"/>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Drift slope</a:t>
            </a:r>
            <a:endParaRPr lang="en-US" sz="1600" dirty="0"/>
          </a:p>
        </p:txBody>
      </p:sp>
      <p:sp>
        <p:nvSpPr>
          <p:cNvPr id="12" name="Text 10"/>
          <p:cNvSpPr txBox="1"/>
          <p:nvPr/>
        </p:nvSpPr>
        <p:spPr>
          <a:xfrm>
            <a:off x="4846320" y="1892808"/>
            <a:ext cx="3657600" cy="777240"/>
          </a:xfrm>
          <a:prstGeom prst="rect">
            <a:avLst/>
          </a:prstGeom>
          <a:noFill/>
          <a:ln/>
        </p:spPr>
        <p:txBody>
          <a:bodyPr wrap="square" lIns="0" tIns="0" rIns="0" bIns="0" rtlCol="0" anchor="t"/>
          <a:lstStyle/>
          <a:p>
            <a:pPr indent="0" marL="0">
              <a:buNone/>
            </a:pPr>
            <a:r>
              <a:rPr lang="en-US" sz="1250" dirty="0">
                <a:solidFill>
                  <a:srgbClr val="1B1B1B"/>
                </a:solidFill>
                <a:latin typeface="Calibri" pitchFamily="34" charset="0"/>
                <a:ea typeface="Calibri" pitchFamily="34" charset="-122"/>
                <a:cs typeface="Calibri" pitchFamily="34" charset="-120"/>
              </a:rPr>
              <a:t>Change in P(abstain | unanswerable) per extra turn, 95% CI from 1,000 bootstrap resamples of whole conversations.</a:t>
            </a:r>
            <a:endParaRPr lang="en-US" sz="1250" dirty="0"/>
          </a:p>
        </p:txBody>
      </p:sp>
      <p:sp>
        <p:nvSpPr>
          <p:cNvPr id="13" name="Shape 11"/>
          <p:cNvSpPr/>
          <p:nvPr/>
        </p:nvSpPr>
        <p:spPr>
          <a:xfrm>
            <a:off x="457200" y="2926080"/>
            <a:ext cx="4023360" cy="1508760"/>
          </a:xfrm>
          <a:prstGeom prst="roundRect">
            <a:avLst>
              <a:gd name="adj" fmla="val 4848"/>
            </a:avLst>
          </a:prstGeom>
          <a:solidFill>
            <a:srgbClr val="F3F5F9"/>
          </a:solidFill>
          <a:ln w="12700">
            <a:solidFill>
              <a:srgbClr val="F3F5F9"/>
            </a:solidFill>
            <a:prstDash val="solid"/>
          </a:ln>
        </p:spPr>
      </p:sp>
      <p:sp>
        <p:nvSpPr>
          <p:cNvPr id="14" name="Shape 12"/>
          <p:cNvSpPr/>
          <p:nvPr/>
        </p:nvSpPr>
        <p:spPr>
          <a:xfrm>
            <a:off x="640080" y="3108960"/>
            <a:ext cx="384048" cy="384048"/>
          </a:xfrm>
          <a:prstGeom prst="ellipse">
            <a:avLst/>
          </a:prstGeom>
          <a:solidFill>
            <a:srgbClr val="2A78D6"/>
          </a:solidFill>
          <a:ln w="12700">
            <a:solidFill>
              <a:srgbClr val="2A78D6"/>
            </a:solidFill>
            <a:prstDash val="solid"/>
          </a:ln>
        </p:spPr>
      </p:sp>
      <p:sp>
        <p:nvSpPr>
          <p:cNvPr id="15" name="Text 13"/>
          <p:cNvSpPr txBox="1"/>
          <p:nvPr/>
        </p:nvSpPr>
        <p:spPr>
          <a:xfrm>
            <a:off x="640080" y="3108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188720" y="3108960"/>
            <a:ext cx="3108960" cy="384048"/>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Controlled regression</a:t>
            </a:r>
            <a:endParaRPr lang="en-US" sz="1600" dirty="0"/>
          </a:p>
        </p:txBody>
      </p:sp>
      <p:sp>
        <p:nvSpPr>
          <p:cNvPr id="17" name="Text 15"/>
          <p:cNvSpPr txBox="1"/>
          <p:nvPr/>
        </p:nvSpPr>
        <p:spPr>
          <a:xfrm>
            <a:off x="640080" y="3584448"/>
            <a:ext cx="3657600" cy="777240"/>
          </a:xfrm>
          <a:prstGeom prst="rect">
            <a:avLst/>
          </a:prstGeom>
          <a:noFill/>
          <a:ln/>
        </p:spPr>
        <p:txBody>
          <a:bodyPr wrap="square" lIns="0" tIns="0" rIns="0" bIns="0" rtlCol="0" anchor="t"/>
          <a:lstStyle/>
          <a:p>
            <a:pPr indent="0" marL="0">
              <a:buNone/>
            </a:pPr>
            <a:r>
              <a:rPr lang="en-US" sz="1250" dirty="0">
                <a:solidFill>
                  <a:srgbClr val="1B1B1B"/>
                </a:solidFill>
                <a:latin typeface="Calibri" pitchFamily="34" charset="0"/>
                <a:ea typeface="Calibri" pitchFamily="34" charset="-122"/>
                <a:cs typeface="Calibri" pitchFamily="34" charset="-120"/>
              </a:rPr>
              <a:t>Logistic model with domain and follow-up type as controls: odds ratio per turn.</a:t>
            </a:r>
            <a:endParaRPr lang="en-US" sz="1250" dirty="0"/>
          </a:p>
        </p:txBody>
      </p:sp>
      <p:sp>
        <p:nvSpPr>
          <p:cNvPr id="18" name="Shape 16"/>
          <p:cNvSpPr/>
          <p:nvPr/>
        </p:nvSpPr>
        <p:spPr>
          <a:xfrm>
            <a:off x="4663440" y="2926080"/>
            <a:ext cx="4023360" cy="1508760"/>
          </a:xfrm>
          <a:prstGeom prst="roundRect">
            <a:avLst>
              <a:gd name="adj" fmla="val 4848"/>
            </a:avLst>
          </a:prstGeom>
          <a:solidFill>
            <a:srgbClr val="F3F5F9"/>
          </a:solidFill>
          <a:ln w="12700">
            <a:solidFill>
              <a:srgbClr val="F3F5F9"/>
            </a:solidFill>
            <a:prstDash val="solid"/>
          </a:ln>
        </p:spPr>
      </p:sp>
      <p:sp>
        <p:nvSpPr>
          <p:cNvPr id="19" name="Shape 17"/>
          <p:cNvSpPr/>
          <p:nvPr/>
        </p:nvSpPr>
        <p:spPr>
          <a:xfrm>
            <a:off x="4846320" y="3108960"/>
            <a:ext cx="384048" cy="384048"/>
          </a:xfrm>
          <a:prstGeom prst="ellipse">
            <a:avLst/>
          </a:prstGeom>
          <a:solidFill>
            <a:srgbClr val="2A78D6"/>
          </a:solidFill>
          <a:ln w="12700">
            <a:solidFill>
              <a:srgbClr val="2A78D6"/>
            </a:solidFill>
            <a:prstDash val="solid"/>
          </a:ln>
        </p:spPr>
      </p:sp>
      <p:sp>
        <p:nvSpPr>
          <p:cNvPr id="20" name="Text 18"/>
          <p:cNvSpPr txBox="1"/>
          <p:nvPr/>
        </p:nvSpPr>
        <p:spPr>
          <a:xfrm>
            <a:off x="4846320" y="3108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5394960" y="3108960"/>
            <a:ext cx="3108960" cy="384048"/>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Controlled probe</a:t>
            </a:r>
            <a:endParaRPr lang="en-US" sz="1600" dirty="0"/>
          </a:p>
        </p:txBody>
      </p:sp>
      <p:sp>
        <p:nvSpPr>
          <p:cNvPr id="22" name="Text 20"/>
          <p:cNvSpPr txBox="1"/>
          <p:nvPr/>
        </p:nvSpPr>
        <p:spPr>
          <a:xfrm>
            <a:off x="4846320" y="3584448"/>
            <a:ext cx="3657600" cy="777240"/>
          </a:xfrm>
          <a:prstGeom prst="rect">
            <a:avLst/>
          </a:prstGeom>
          <a:noFill/>
          <a:ln/>
        </p:spPr>
        <p:txBody>
          <a:bodyPr wrap="square" lIns="0" tIns="0" rIns="0" bIns="0" rtlCol="0" anchor="t"/>
          <a:lstStyle/>
          <a:p>
            <a:pPr indent="0" marL="0">
              <a:buNone/>
            </a:pPr>
            <a:r>
              <a:rPr lang="en-US" sz="1250" dirty="0">
                <a:solidFill>
                  <a:srgbClr val="1B1B1B"/>
                </a:solidFill>
                <a:latin typeface="Calibri" pitchFamily="34" charset="0"/>
                <a:ea typeface="Calibri" pitchFamily="34" charset="-122"/>
                <a:cs typeface="Calibri" pitchFamily="34" charset="-120"/>
              </a:rPr>
              <a:t>Same questions with evidence removed or inserted at every turn, so question type is fixed. Generator sees the real history (1,221 examples, 108 conversations).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Experiments performed</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25 experiments in six groups</a:t>
            </a:r>
            <a:endParaRPr lang="en-US" sz="1400" dirty="0"/>
          </a:p>
        </p:txBody>
      </p:sp>
      <p:sp>
        <p:nvSpPr>
          <p:cNvPr id="4" name="Text 2"/>
          <p:cNvSpPr txBox="1"/>
          <p:nvPr/>
        </p:nvSpPr>
        <p:spPr>
          <a:xfrm>
            <a:off x="457200" y="1143000"/>
            <a:ext cx="731520" cy="548640"/>
          </a:xfrm>
          <a:prstGeom prst="rect">
            <a:avLst/>
          </a:prstGeom>
          <a:noFill/>
          <a:ln/>
        </p:spPr>
        <p:txBody>
          <a:bodyPr wrap="square" lIns="0" tIns="0" rIns="0" bIns="0" rtlCol="0" anchor="ctr"/>
          <a:lstStyle/>
          <a:p>
            <a:pPr algn="ctr" indent="0" marL="0">
              <a:buNone/>
            </a:pPr>
            <a:r>
              <a:rPr lang="en-US" sz="2800" b="1" dirty="0">
                <a:solidFill>
                  <a:srgbClr val="EB6834"/>
                </a:solidFill>
                <a:latin typeface="Cambria" pitchFamily="34" charset="0"/>
                <a:ea typeface="Cambria" pitchFamily="34" charset="-122"/>
                <a:cs typeface="Cambria" pitchFamily="34" charset="-120"/>
              </a:rPr>
              <a:t>6</a:t>
            </a:r>
            <a:endParaRPr lang="en-US" sz="2800" dirty="0"/>
          </a:p>
        </p:txBody>
      </p:sp>
      <p:sp>
        <p:nvSpPr>
          <p:cNvPr id="5" name="Text 3"/>
          <p:cNvSpPr txBox="1"/>
          <p:nvPr/>
        </p:nvSpPr>
        <p:spPr>
          <a:xfrm>
            <a:off x="1325880" y="1143000"/>
            <a:ext cx="2377440" cy="54864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End-to-end systems</a:t>
            </a:r>
            <a:endParaRPr lang="en-US" sz="1500" dirty="0"/>
          </a:p>
        </p:txBody>
      </p:sp>
      <p:sp>
        <p:nvSpPr>
          <p:cNvPr id="6" name="Text 4"/>
          <p:cNvSpPr txBox="1"/>
          <p:nvPr/>
        </p:nvSpPr>
        <p:spPr>
          <a:xfrm>
            <a:off x="3749040" y="1143000"/>
            <a:ext cx="4937760" cy="548640"/>
          </a:xfrm>
          <a:prstGeom prst="rect">
            <a:avLst/>
          </a:prstGeom>
          <a:noFill/>
          <a:ln/>
        </p:spPr>
        <p:txBody>
          <a:bodyPr wrap="square" lIns="0" tIns="0" rIns="0" bIns="0" rtlCol="0" anchor="ctr"/>
          <a:lstStyle/>
          <a:p>
            <a:pPr indent="0" marL="0">
              <a:buNone/>
            </a:pPr>
            <a:r>
              <a:rPr lang="en-US" sz="1300" dirty="0">
                <a:solidFill>
                  <a:srgbClr val="1B1B1B"/>
                </a:solidFill>
                <a:latin typeface="Calibri" pitchFamily="34" charset="0"/>
                <a:ea typeface="Calibri" pitchFamily="34" charset="-122"/>
                <a:cs typeface="Calibri" pitchFamily="34" charset="-120"/>
              </a:rPr>
              <a:t>S0, S1, S2, S2-rr, S3, S4 on MTRAG-UN (429 turns)</a:t>
            </a:r>
            <a:endParaRPr lang="en-US" sz="1300" dirty="0"/>
          </a:p>
        </p:txBody>
      </p:sp>
      <p:sp>
        <p:nvSpPr>
          <p:cNvPr id="7" name="Text 5"/>
          <p:cNvSpPr txBox="1"/>
          <p:nvPr/>
        </p:nvSpPr>
        <p:spPr>
          <a:xfrm>
            <a:off x="457200" y="1746504"/>
            <a:ext cx="731520" cy="548640"/>
          </a:xfrm>
          <a:prstGeom prst="rect">
            <a:avLst/>
          </a:prstGeom>
          <a:noFill/>
          <a:ln/>
        </p:spPr>
        <p:txBody>
          <a:bodyPr wrap="square" lIns="0" tIns="0" rIns="0" bIns="0" rtlCol="0" anchor="ctr"/>
          <a:lstStyle/>
          <a:p>
            <a:pPr algn="ctr" indent="0" marL="0">
              <a:buNone/>
            </a:pPr>
            <a:r>
              <a:rPr lang="en-US" sz="2800" b="1" dirty="0">
                <a:solidFill>
                  <a:srgbClr val="EB6834"/>
                </a:solidFill>
                <a:latin typeface="Cambria" pitchFamily="34" charset="0"/>
                <a:ea typeface="Cambria" pitchFamily="34" charset="-122"/>
                <a:cs typeface="Cambria" pitchFamily="34" charset="-120"/>
              </a:rPr>
              <a:t>2</a:t>
            </a:r>
            <a:endParaRPr lang="en-US" sz="2800" dirty="0"/>
          </a:p>
        </p:txBody>
      </p:sp>
      <p:sp>
        <p:nvSpPr>
          <p:cNvPr id="8" name="Text 6"/>
          <p:cNvSpPr txBox="1"/>
          <p:nvPr/>
        </p:nvSpPr>
        <p:spPr>
          <a:xfrm>
            <a:off x="1325880" y="1746504"/>
            <a:ext cx="2377440" cy="54864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Controlled probes</a:t>
            </a:r>
            <a:endParaRPr lang="en-US" sz="1500" dirty="0"/>
          </a:p>
        </p:txBody>
      </p:sp>
      <p:sp>
        <p:nvSpPr>
          <p:cNvPr id="9" name="Text 7"/>
          <p:cNvSpPr txBox="1"/>
          <p:nvPr/>
        </p:nvSpPr>
        <p:spPr>
          <a:xfrm>
            <a:off x="3749040" y="1746504"/>
            <a:ext cx="4937760" cy="548640"/>
          </a:xfrm>
          <a:prstGeom prst="rect">
            <a:avLst/>
          </a:prstGeom>
          <a:noFill/>
          <a:ln/>
        </p:spPr>
        <p:txBody>
          <a:bodyPr wrap="square" lIns="0" tIns="0" rIns="0" bIns="0" rtlCol="0" anchor="ctr"/>
          <a:lstStyle/>
          <a:p>
            <a:pPr indent="0" marL="0">
              <a:buNone/>
            </a:pPr>
            <a:r>
              <a:rPr lang="en-US" sz="1300" dirty="0">
                <a:solidFill>
                  <a:srgbClr val="1B1B1B"/>
                </a:solidFill>
                <a:latin typeface="Calibri" pitchFamily="34" charset="0"/>
                <a:ea typeface="Calibri" pitchFamily="34" charset="-122"/>
                <a:cs typeface="Calibri" pitchFamily="34" charset="-120"/>
              </a:rPr>
              <a:t>Generator (1,221 examples) and checker (224) with question type fixed</a:t>
            </a:r>
            <a:endParaRPr lang="en-US" sz="1300" dirty="0"/>
          </a:p>
        </p:txBody>
      </p:sp>
      <p:sp>
        <p:nvSpPr>
          <p:cNvPr id="10" name="Text 8"/>
          <p:cNvSpPr txBox="1"/>
          <p:nvPr/>
        </p:nvSpPr>
        <p:spPr>
          <a:xfrm>
            <a:off x="457200" y="2350008"/>
            <a:ext cx="731520" cy="548640"/>
          </a:xfrm>
          <a:prstGeom prst="rect">
            <a:avLst/>
          </a:prstGeom>
          <a:noFill/>
          <a:ln/>
        </p:spPr>
        <p:txBody>
          <a:bodyPr wrap="square" lIns="0" tIns="0" rIns="0" bIns="0" rtlCol="0" anchor="ctr"/>
          <a:lstStyle/>
          <a:p>
            <a:pPr algn="ctr" indent="0" marL="0">
              <a:buNone/>
            </a:pPr>
            <a:r>
              <a:rPr lang="en-US" sz="2800" b="1" dirty="0">
                <a:solidFill>
                  <a:srgbClr val="EB6834"/>
                </a:solidFill>
                <a:latin typeface="Cambria" pitchFamily="34" charset="0"/>
                <a:ea typeface="Cambria" pitchFamily="34" charset="-122"/>
                <a:cs typeface="Cambria" pitchFamily="34" charset="-120"/>
              </a:rPr>
              <a:t>8</a:t>
            </a:r>
            <a:endParaRPr lang="en-US" sz="2800" dirty="0"/>
          </a:p>
        </p:txBody>
      </p:sp>
      <p:sp>
        <p:nvSpPr>
          <p:cNvPr id="11" name="Text 9"/>
          <p:cNvSpPr txBox="1"/>
          <p:nvPr/>
        </p:nvSpPr>
        <p:spPr>
          <a:xfrm>
            <a:off x="1325880" y="2350008"/>
            <a:ext cx="2377440" cy="54864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Checker development</a:t>
            </a:r>
            <a:endParaRPr lang="en-US" sz="1500" dirty="0"/>
          </a:p>
        </p:txBody>
      </p:sp>
      <p:sp>
        <p:nvSpPr>
          <p:cNvPr id="12" name="Text 10"/>
          <p:cNvSpPr txBox="1"/>
          <p:nvPr/>
        </p:nvSpPr>
        <p:spPr>
          <a:xfrm>
            <a:off x="3749040" y="2350008"/>
            <a:ext cx="4937760" cy="548640"/>
          </a:xfrm>
          <a:prstGeom prst="rect">
            <a:avLst/>
          </a:prstGeom>
          <a:noFill/>
          <a:ln/>
        </p:spPr>
        <p:txBody>
          <a:bodyPr wrap="square" lIns="0" tIns="0" rIns="0" bIns="0" rtlCol="0" anchor="ctr"/>
          <a:lstStyle/>
          <a:p>
            <a:pPr indent="0" marL="0">
              <a:buNone/>
            </a:pPr>
            <a:r>
              <a:rPr lang="en-US" sz="1300" dirty="0">
                <a:solidFill>
                  <a:srgbClr val="1B1B1B"/>
                </a:solidFill>
                <a:latin typeface="Calibri" pitchFamily="34" charset="0"/>
                <a:ea typeface="Calibri" pitchFamily="34" charset="-122"/>
                <a:cs typeface="Calibri" pitchFamily="34" charset="-120"/>
              </a:rPr>
              <a:t>5 DeBERTa-v3 runs (incl. 1 rerun) + 3 BGE re-ranker runs (untrained, real only, real + synthetic)</a:t>
            </a:r>
            <a:endParaRPr lang="en-US" sz="1300" dirty="0"/>
          </a:p>
        </p:txBody>
      </p:sp>
      <p:sp>
        <p:nvSpPr>
          <p:cNvPr id="13" name="Text 11"/>
          <p:cNvSpPr txBox="1"/>
          <p:nvPr/>
        </p:nvSpPr>
        <p:spPr>
          <a:xfrm>
            <a:off x="457200" y="2953512"/>
            <a:ext cx="731520" cy="548640"/>
          </a:xfrm>
          <a:prstGeom prst="rect">
            <a:avLst/>
          </a:prstGeom>
          <a:noFill/>
          <a:ln/>
        </p:spPr>
        <p:txBody>
          <a:bodyPr wrap="square" lIns="0" tIns="0" rIns="0" bIns="0" rtlCol="0" anchor="ctr"/>
          <a:lstStyle/>
          <a:p>
            <a:pPr algn="ctr" indent="0" marL="0">
              <a:buNone/>
            </a:pPr>
            <a:r>
              <a:rPr lang="en-US" sz="2800" b="1" dirty="0">
                <a:solidFill>
                  <a:srgbClr val="EB6834"/>
                </a:solidFill>
                <a:latin typeface="Cambria" pitchFamily="34" charset="0"/>
                <a:ea typeface="Cambria" pitchFamily="34" charset="-122"/>
                <a:cs typeface="Cambria" pitchFamily="34" charset="-120"/>
              </a:rPr>
              <a:t>2</a:t>
            </a:r>
            <a:endParaRPr lang="en-US" sz="2800" dirty="0"/>
          </a:p>
        </p:txBody>
      </p:sp>
      <p:sp>
        <p:nvSpPr>
          <p:cNvPr id="14" name="Text 12"/>
          <p:cNvSpPr txBox="1"/>
          <p:nvPr/>
        </p:nvSpPr>
        <p:spPr>
          <a:xfrm>
            <a:off x="1325880" y="2953512"/>
            <a:ext cx="2377440" cy="54864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Data analyses</a:t>
            </a:r>
            <a:endParaRPr lang="en-US" sz="1500" dirty="0"/>
          </a:p>
        </p:txBody>
      </p:sp>
      <p:sp>
        <p:nvSpPr>
          <p:cNvPr id="15" name="Text 13"/>
          <p:cNvSpPr txBox="1"/>
          <p:nvPr/>
        </p:nvSpPr>
        <p:spPr>
          <a:xfrm>
            <a:off x="3749040" y="2953512"/>
            <a:ext cx="4937760" cy="548640"/>
          </a:xfrm>
          <a:prstGeom prst="rect">
            <a:avLst/>
          </a:prstGeom>
          <a:noFill/>
          <a:ln/>
        </p:spPr>
        <p:txBody>
          <a:bodyPr wrap="square" lIns="0" tIns="0" rIns="0" bIns="0" rtlCol="0" anchor="ctr"/>
          <a:lstStyle/>
          <a:p>
            <a:pPr indent="0" marL="0">
              <a:buNone/>
            </a:pPr>
            <a:r>
              <a:rPr lang="en-US" sz="1300" dirty="0">
                <a:solidFill>
                  <a:srgbClr val="1B1B1B"/>
                </a:solidFill>
                <a:latin typeface="Calibri" pitchFamily="34" charset="0"/>
                <a:ea typeface="Calibri" pitchFamily="34" charset="-122"/>
                <a:cs typeface="Calibri" pitchFamily="34" charset="-120"/>
              </a:rPr>
              <a:t>Unanswerable share by turn; LLM-judge filtering of 507 synthetic examples</a:t>
            </a:r>
            <a:endParaRPr lang="en-US" sz="1300" dirty="0"/>
          </a:p>
        </p:txBody>
      </p:sp>
      <p:sp>
        <p:nvSpPr>
          <p:cNvPr id="16" name="Text 14"/>
          <p:cNvSpPr txBox="1"/>
          <p:nvPr/>
        </p:nvSpPr>
        <p:spPr>
          <a:xfrm>
            <a:off x="457200" y="3557016"/>
            <a:ext cx="731520" cy="548640"/>
          </a:xfrm>
          <a:prstGeom prst="rect">
            <a:avLst/>
          </a:prstGeom>
          <a:noFill/>
          <a:ln/>
        </p:spPr>
        <p:txBody>
          <a:bodyPr wrap="square" lIns="0" tIns="0" rIns="0" bIns="0" rtlCol="0" anchor="ctr"/>
          <a:lstStyle/>
          <a:p>
            <a:pPr algn="ctr" indent="0" marL="0">
              <a:buNone/>
            </a:pPr>
            <a:r>
              <a:rPr lang="en-US" sz="2800" b="1" dirty="0">
                <a:solidFill>
                  <a:srgbClr val="EB6834"/>
                </a:solidFill>
                <a:latin typeface="Cambria" pitchFamily="34" charset="0"/>
                <a:ea typeface="Cambria" pitchFamily="34" charset="-122"/>
                <a:cs typeface="Cambria" pitchFamily="34" charset="-120"/>
              </a:rPr>
              <a:t>1</a:t>
            </a:r>
            <a:endParaRPr lang="en-US" sz="2800" dirty="0"/>
          </a:p>
        </p:txBody>
      </p:sp>
      <p:sp>
        <p:nvSpPr>
          <p:cNvPr id="17" name="Text 15"/>
          <p:cNvSpPr txBox="1"/>
          <p:nvPr/>
        </p:nvSpPr>
        <p:spPr>
          <a:xfrm>
            <a:off x="1325880" y="3557016"/>
            <a:ext cx="2377440" cy="54864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Robustness check</a:t>
            </a:r>
            <a:endParaRPr lang="en-US" sz="1500" dirty="0"/>
          </a:p>
        </p:txBody>
      </p:sp>
      <p:sp>
        <p:nvSpPr>
          <p:cNvPr id="18" name="Text 16"/>
          <p:cNvSpPr txBox="1"/>
          <p:nvPr/>
        </p:nvSpPr>
        <p:spPr>
          <a:xfrm>
            <a:off x="3749040" y="3557016"/>
            <a:ext cx="4937760" cy="548640"/>
          </a:xfrm>
          <a:prstGeom prst="rect">
            <a:avLst/>
          </a:prstGeom>
          <a:noFill/>
          <a:ln/>
        </p:spPr>
        <p:txBody>
          <a:bodyPr wrap="square" lIns="0" tIns="0" rIns="0" bIns="0" rtlCol="0" anchor="ctr"/>
          <a:lstStyle/>
          <a:p>
            <a:pPr indent="0" marL="0">
              <a:buNone/>
            </a:pPr>
            <a:r>
              <a:rPr lang="en-US" sz="1300" dirty="0">
                <a:solidFill>
                  <a:srgbClr val="1B1B1B"/>
                </a:solidFill>
                <a:latin typeface="Calibri" pitchFamily="34" charset="0"/>
                <a:ea typeface="Calibri" pitchFamily="34" charset="-122"/>
                <a:cs typeface="Calibri" pitchFamily="34" charset="-120"/>
              </a:rPr>
              <a:t>Refusal-detector sensitivity (hedged refusals)</a:t>
            </a:r>
            <a:endParaRPr lang="en-US" sz="1300" dirty="0"/>
          </a:p>
        </p:txBody>
      </p:sp>
      <p:sp>
        <p:nvSpPr>
          <p:cNvPr id="19" name="Text 17"/>
          <p:cNvSpPr txBox="1"/>
          <p:nvPr/>
        </p:nvSpPr>
        <p:spPr>
          <a:xfrm>
            <a:off x="457200" y="4160520"/>
            <a:ext cx="731520" cy="548640"/>
          </a:xfrm>
          <a:prstGeom prst="rect">
            <a:avLst/>
          </a:prstGeom>
          <a:noFill/>
          <a:ln/>
        </p:spPr>
        <p:txBody>
          <a:bodyPr wrap="square" lIns="0" tIns="0" rIns="0" bIns="0" rtlCol="0" anchor="ctr"/>
          <a:lstStyle/>
          <a:p>
            <a:pPr algn="ctr" indent="0" marL="0">
              <a:buNone/>
            </a:pPr>
            <a:r>
              <a:rPr lang="en-US" sz="2800" b="1" dirty="0">
                <a:solidFill>
                  <a:srgbClr val="EB6834"/>
                </a:solidFill>
                <a:latin typeface="Cambria" pitchFamily="34" charset="0"/>
                <a:ea typeface="Cambria" pitchFamily="34" charset="-122"/>
                <a:cs typeface="Cambria" pitchFamily="34" charset="-120"/>
              </a:rPr>
              <a:t>6</a:t>
            </a:r>
            <a:endParaRPr lang="en-US" sz="2800" dirty="0"/>
          </a:p>
        </p:txBody>
      </p:sp>
      <p:sp>
        <p:nvSpPr>
          <p:cNvPr id="20" name="Text 18"/>
          <p:cNvSpPr txBox="1"/>
          <p:nvPr/>
        </p:nvSpPr>
        <p:spPr>
          <a:xfrm>
            <a:off x="1325880" y="4160520"/>
            <a:ext cx="2377440" cy="54864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LangGraph agent (S5)</a:t>
            </a:r>
            <a:endParaRPr lang="en-US" sz="1500" dirty="0"/>
          </a:p>
        </p:txBody>
      </p:sp>
      <p:sp>
        <p:nvSpPr>
          <p:cNvPr id="21" name="Text 19"/>
          <p:cNvSpPr txBox="1"/>
          <p:nvPr/>
        </p:nvSpPr>
        <p:spPr>
          <a:xfrm>
            <a:off x="3749040" y="4160520"/>
            <a:ext cx="4937760" cy="548640"/>
          </a:xfrm>
          <a:prstGeom prst="rect">
            <a:avLst/>
          </a:prstGeom>
          <a:noFill/>
          <a:ln/>
        </p:spPr>
        <p:txBody>
          <a:bodyPr wrap="square" lIns="0" tIns="0" rIns="0" bIns="0" rtlCol="0" anchor="ctr"/>
          <a:lstStyle/>
          <a:p>
            <a:pPr indent="0" marL="0">
              <a:buNone/>
            </a:pPr>
            <a:r>
              <a:rPr lang="en-US" sz="1300" dirty="0">
                <a:solidFill>
                  <a:srgbClr val="1B1B1B"/>
                </a:solidFill>
                <a:latin typeface="Calibri" pitchFamily="34" charset="0"/>
                <a:ea typeface="Calibri" pitchFamily="34" charset="-122"/>
                <a:cs typeface="Calibri" pitchFamily="34" charset="-120"/>
              </a:rPr>
              <a:t>4 agent variants on MTRAG-UN, self-check calibration on dev, clarification on 78 underspecified turns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Building the checker</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Dev AUROC (0.5 = chance, 1.0 = perfect); dev set of 256 before and 224 after the filter</a:t>
            </a:r>
            <a:endParaRPr lang="en-US" sz="1400" dirty="0"/>
          </a:p>
        </p:txBody>
      </p:sp>
      <p:graphicFrame>
        <p:nvGraphicFramePr>
          <p:cNvPr id="4" name="Chart 0" descr=""/>
          <p:cNvGraphicFramePr/>
          <p:nvPr/>
        </p:nvGraphicFramePr>
        <p:xfrm>
          <a:off x="365760" y="1234440"/>
          <a:ext cx="5394960" cy="33832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035040" y="1280160"/>
            <a:ext cx="2743200" cy="3200400"/>
          </a:xfrm>
          <a:prstGeom prst="roundRect">
            <a:avLst>
              <a:gd name="adj" fmla="val 2667"/>
            </a:avLst>
          </a:prstGeom>
          <a:solidFill>
            <a:srgbClr val="F3F5F9"/>
          </a:solidFill>
          <a:ln w="12700">
            <a:solidFill>
              <a:srgbClr val="F3F5F9"/>
            </a:solidFill>
            <a:prstDash val="solid"/>
          </a:ln>
        </p:spPr>
      </p:sp>
      <p:sp>
        <p:nvSpPr>
          <p:cNvPr id="6" name="Text 3"/>
          <p:cNvSpPr txBox="1"/>
          <p:nvPr/>
        </p:nvSpPr>
        <p:spPr>
          <a:xfrm>
            <a:off x="6217920" y="1417320"/>
            <a:ext cx="2423160" cy="2926080"/>
          </a:xfrm>
          <a:prstGeom prst="rect">
            <a:avLst/>
          </a:prstGeom>
          <a:noFill/>
          <a:ln/>
        </p:spPr>
        <p:txBody>
          <a:bodyPr wrap="square" lIns="0" tIns="0" rIns="0" bIns="0" rtlCol="0" anchor="t"/>
          <a:lstStyle/>
          <a:p>
            <a:pPr indent="0" marL="0">
              <a:spcAft>
                <a:spcPts val="800"/>
              </a:spcAft>
              <a:buNone/>
            </a:pPr>
            <a:r>
              <a:rPr lang="en-US" sz="1300" b="1" dirty="0">
                <a:solidFill>
                  <a:srgbClr val="14213D"/>
                </a:solidFill>
                <a:latin typeface="Calibri" pitchFamily="34" charset="0"/>
                <a:ea typeface="Calibri" pitchFamily="34" charset="-122"/>
                <a:cs typeface="Calibri" pitchFamily="34" charset="-120"/>
              </a:rPr>
              <a:t>Starting from a relevance model mattered most.</a:t>
            </a:r>
            <a:endParaRPr lang="en-US" sz="1300" dirty="0"/>
          </a:p>
          <a:p>
            <a:pPr indent="0" marL="0">
              <a:spcAft>
                <a:spcPts val="800"/>
              </a:spcAft>
              <a:buNone/>
            </a:pPr>
            <a:r>
              <a:rPr lang="en-US" sz="1300" dirty="0">
                <a:solidFill>
                  <a:srgbClr val="1B1B1B"/>
                </a:solidFill>
                <a:latin typeface="Calibri" pitchFamily="34" charset="0"/>
                <a:ea typeface="Calibri" pitchFamily="34" charset="-122"/>
                <a:cs typeface="Calibri" pitchFamily="34" charset="-120"/>
              </a:rPr>
              <a:t>DeBERTa checkers never beat the untrained re-ranker.</a:t>
            </a:r>
            <a:endParaRPr lang="en-US" sz="1300" dirty="0"/>
          </a:p>
          <a:p>
            <a:pPr indent="0" marL="0">
              <a:spcAft>
                <a:spcPts val="800"/>
              </a:spcAft>
              <a:buNone/>
            </a:pPr>
            <a:r>
              <a:rPr lang="en-US" sz="1300" dirty="0">
                <a:solidFill>
                  <a:srgbClr val="1B1B1B"/>
                </a:solidFill>
                <a:latin typeface="Calibri" pitchFamily="34" charset="0"/>
                <a:ea typeface="Calibri" pitchFamily="34" charset="-122"/>
                <a:cs typeface="Calibri" pitchFamily="34" charset="-120"/>
              </a:rPr>
              <a:t>Fine-tuning on 49 real unanswerables alone hurt (.741 → .660).</a:t>
            </a:r>
            <a:endParaRPr lang="en-US" sz="1300" dirty="0"/>
          </a:p>
          <a:p>
            <a:pPr indent="0" marL="0">
              <a:spcAft>
                <a:spcPts val="800"/>
              </a:spcAft>
              <a:buNone/>
            </a:pPr>
            <a:r>
              <a:rPr lang="en-US" sz="1300" dirty="0">
                <a:solidFill>
                  <a:srgbClr val="1B1B1B"/>
                </a:solidFill>
                <a:latin typeface="Calibri" pitchFamily="34" charset="0"/>
                <a:ea typeface="Calibri" pitchFamily="34" charset="-122"/>
                <a:cs typeface="Calibri" pitchFamily="34" charset="-120"/>
              </a:rPr>
              <a:t>Adding filtered synthetic data avoided this (.747).</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RQ1: no abstention drift</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Abstention recall on unanswerable turns by turn position</a:t>
            </a:r>
            <a:endParaRPr lang="en-US" sz="1400" dirty="0"/>
          </a:p>
        </p:txBody>
      </p:sp>
      <p:graphicFrame>
        <p:nvGraphicFramePr>
          <p:cNvPr id="4" name="Chart 0" descr=""/>
          <p:cNvGraphicFramePr/>
          <p:nvPr/>
        </p:nvGraphicFramePr>
        <p:xfrm>
          <a:off x="365760" y="1234440"/>
          <a:ext cx="4023360" cy="26517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572000" y="1234440"/>
          <a:ext cx="4206240" cy="265176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457200" y="4023360"/>
            <a:ext cx="8229600" cy="685800"/>
          </a:xfrm>
          <a:prstGeom prst="rect">
            <a:avLst/>
          </a:prstGeom>
          <a:noFill/>
          <a:ln/>
        </p:spPr>
        <p:txBody>
          <a:bodyPr wrap="square" lIns="0" tIns="0" rIns="0" bIns="0" rtlCol="0" anchor="ctr"/>
          <a:lstStyle/>
          <a:p>
            <a:pPr indent="0" marL="0">
              <a:buNone/>
            </a:pPr>
            <a:r>
              <a:rPr lang="en-US" sz="1350" dirty="0">
                <a:solidFill>
                  <a:srgbClr val="1B1B1B"/>
                </a:solidFill>
                <a:latin typeface="Calibri" pitchFamily="34" charset="0"/>
                <a:ea typeface="Calibri" pitchFamily="34" charset="-122"/>
                <a:cs typeface="Calibri" pitchFamily="34" charset="-120"/>
              </a:rPr>
              <a:t>All six systems: recall slope −0.005 to +0.011 per turn, every 95% CI contains 0.  </a:t>
            </a:r>
            <a:pPr indent="0" marL="0">
              <a:buNone/>
            </a:pPr>
            <a:r>
              <a:rPr lang="en-US" sz="1350" b="1" dirty="0">
                <a:solidFill>
                  <a:srgbClr val="EB6834"/>
                </a:solidFill>
                <a:latin typeface="Calibri" pitchFamily="34" charset="0"/>
                <a:ea typeface="Calibri" pitchFamily="34" charset="-122"/>
                <a:cs typeface="Calibri" pitchFamily="34" charset="-120"/>
              </a:rPr>
              <a:t>Probe: +0.011 [−0.010, +0.029] </a:t>
            </a:r>
            <a:pPr indent="0" marL="0">
              <a:buNone/>
            </a:pPr>
            <a:r>
              <a:rPr lang="en-US" sz="1350" dirty="0">
                <a:solidFill>
                  <a:srgbClr val="1B1B1B"/>
                </a:solidFill>
                <a:latin typeface="Calibri" pitchFamily="34" charset="0"/>
                <a:ea typeface="Calibri" pitchFamily="34" charset="-122"/>
                <a:cs typeface="Calibri" pitchFamily="34" charset="-120"/>
              </a:rPr>
              <a:t>— declines larger than ~1 point per turn ruled out.</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Main results on MTRAG-UN</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n = 429 turns (97 unanswerable, 332 answerable); FA = answerable turns wrongly refused</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914400"/>
                <a:gridCol w="822960"/>
                <a:gridCol w="822960"/>
                <a:gridCol w="1005840"/>
                <a:gridCol w="822960"/>
                <a:gridCol w="2743200"/>
                <a:gridCol w="1097280"/>
              </a:tblGrid>
              <a:tr h="41148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System</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FA ↓</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Recall slope / turn [95% CI]</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OR / turn</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r>
              <a:tr h="411480">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S0</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.451</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b="1" dirty="0">
                          <a:solidFill>
                            <a:srgbClr val="EB6834"/>
                          </a:solidFill>
                          <a:latin typeface="Calibri" pitchFamily="34" charset="0"/>
                          <a:ea typeface="Calibri" pitchFamily="34" charset="-122"/>
                          <a:cs typeface="Calibri" pitchFamily="34" charset="-120"/>
                        </a:rPr>
                        <a:t>.567</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.374</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.277</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−.002 [−.048, +.046]</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0.99</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11480">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S1</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.453</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.526</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.398</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.232</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−.005 [−.051, +.041]</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0.97</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11480">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S2</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.443</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.464</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b="1" dirty="0">
                          <a:solidFill>
                            <a:srgbClr val="EB6834"/>
                          </a:solidFill>
                          <a:latin typeface="Calibri" pitchFamily="34" charset="0"/>
                          <a:ea typeface="Calibri" pitchFamily="34" charset="-122"/>
                          <a:cs typeface="Calibri" pitchFamily="34" charset="-120"/>
                        </a:rPr>
                        <a:t>.425</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b="1" dirty="0">
                          <a:solidFill>
                            <a:srgbClr val="EB6834"/>
                          </a:solidFill>
                          <a:latin typeface="Calibri" pitchFamily="34" charset="0"/>
                          <a:ea typeface="Calibri" pitchFamily="34" charset="-122"/>
                          <a:cs typeface="Calibri" pitchFamily="34" charset="-120"/>
                        </a:rPr>
                        <a:t>.184</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−.003 [−.046, +.043]</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11480">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S2-rr</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b="1" dirty="0">
                          <a:solidFill>
                            <a:srgbClr val="EB6834"/>
                          </a:solidFill>
                          <a:latin typeface="Calibri" pitchFamily="34" charset="0"/>
                          <a:ea typeface="Calibri" pitchFamily="34" charset="-122"/>
                          <a:cs typeface="Calibri" pitchFamily="34" charset="-120"/>
                        </a:rPr>
                        <a:t>.473</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.546</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.417</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.223</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+.011 [−.031, +.057]</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1.06</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11480">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S3</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.457</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.515</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.410</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.217</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+.011 [−.030, +.055]</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1.06</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11480">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S4</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.449</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.495</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.410</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.208</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+.008 [−.034, +.051]</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300" dirty="0">
                          <a:solidFill>
                            <a:srgbClr val="1B1B1B"/>
                          </a:solidFill>
                          <a:latin typeface="Calibri" pitchFamily="34" charset="0"/>
                          <a:ea typeface="Calibri" pitchFamily="34" charset="-122"/>
                          <a:cs typeface="Calibri" pitchFamily="34" charset="-120"/>
                        </a:rPr>
                        <a:t>1.04</a:t>
                      </a:r>
                      <a:endParaRPr lang="en-US" sz="13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bl>
          </a:graphicData>
        </a:graphic>
      </p:graphicFrame>
      <p:sp>
        <p:nvSpPr>
          <p:cNvPr id="5" name="Text 2"/>
          <p:cNvSpPr txBox="1"/>
          <p:nvPr/>
        </p:nvSpPr>
        <p:spPr>
          <a:xfrm>
            <a:off x="457200" y="4389120"/>
            <a:ext cx="8229600" cy="365760"/>
          </a:xfrm>
          <a:prstGeom prst="rect">
            <a:avLst/>
          </a:prstGeom>
          <a:noFill/>
          <a:ln/>
        </p:spPr>
        <p:txBody>
          <a:bodyPr wrap="square" lIns="0" tIns="0" rIns="0" bIns="0" rtlCol="0" anchor="ctr"/>
          <a:lstStyle/>
          <a:p>
            <a:pPr indent="0" marL="0">
              <a:buNone/>
            </a:pPr>
            <a:r>
              <a:rPr lang="en-US" sz="1100" dirty="0">
                <a:solidFill>
                  <a:srgbClr val="5B5B5B"/>
                </a:solidFill>
                <a:latin typeface="Calibri" pitchFamily="34" charset="0"/>
                <a:ea typeface="Calibri" pitchFamily="34" charset="-122"/>
                <a:cs typeface="Calibri" pitchFamily="34" charset="-120"/>
              </a:rPr>
              <a:t>OR = odds ratio per turn from a logistic regression controlling for domain and follow-up type. Best value per column highlighted.</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RQ2: the gates do not pay off</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Change relative to S2 (no gate)</a:t>
            </a:r>
            <a:endParaRPr lang="en-US" sz="1400" dirty="0"/>
          </a:p>
        </p:txBody>
      </p:sp>
      <p:graphicFrame>
        <p:nvGraphicFramePr>
          <p:cNvPr id="4" name="Chart 0" descr=""/>
          <p:cNvGraphicFramePr/>
          <p:nvPr/>
        </p:nvGraphicFramePr>
        <p:xfrm>
          <a:off x="365760" y="1234440"/>
          <a:ext cx="5120640" cy="33832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1280160"/>
            <a:ext cx="3017520" cy="3200400"/>
          </a:xfrm>
          <a:prstGeom prst="roundRect">
            <a:avLst>
              <a:gd name="adj" fmla="val 2424"/>
            </a:avLst>
          </a:prstGeom>
          <a:solidFill>
            <a:srgbClr val="F3F5F9"/>
          </a:solidFill>
          <a:ln w="12700">
            <a:solidFill>
              <a:srgbClr val="F3F5F9"/>
            </a:solidFill>
            <a:prstDash val="solid"/>
          </a:ln>
        </p:spPr>
      </p:sp>
      <p:sp>
        <p:nvSpPr>
          <p:cNvPr id="6" name="Text 3"/>
          <p:cNvSpPr txBox="1"/>
          <p:nvPr/>
        </p:nvSpPr>
        <p:spPr>
          <a:xfrm>
            <a:off x="5943600" y="1417320"/>
            <a:ext cx="2697480" cy="2926080"/>
          </a:xfrm>
          <a:prstGeom prst="rect">
            <a:avLst/>
          </a:prstGeom>
          <a:noFill/>
          <a:ln/>
        </p:spPr>
        <p:txBody>
          <a:bodyPr wrap="square" lIns="0" tIns="0" rIns="0" bIns="0" rtlCol="0" anchor="t"/>
          <a:lstStyle/>
          <a:p>
            <a:pPr indent="0" marL="0">
              <a:spcAft>
                <a:spcPts val="800"/>
              </a:spcAft>
              <a:buNone/>
            </a:pPr>
            <a:r>
              <a:rPr lang="en-US" sz="1300" b="1" dirty="0">
                <a:solidFill>
                  <a:srgbClr val="14213D"/>
                </a:solidFill>
                <a:latin typeface="Calibri" pitchFamily="34" charset="0"/>
                <a:ea typeface="Calibri" pitchFamily="34" charset="-122"/>
                <a:cs typeface="Calibri" pitchFamily="34" charset="-120"/>
              </a:rPr>
              <a:t>Every gate refuses more answerable turns than it catches unanswerable ones.</a:t>
            </a:r>
            <a:endParaRPr lang="en-US" sz="1300" dirty="0"/>
          </a:p>
          <a:p>
            <a:pPr indent="0" marL="0">
              <a:spcAft>
                <a:spcPts val="800"/>
              </a:spcAft>
              <a:buNone/>
            </a:pPr>
            <a:r>
              <a:rPr lang="en-US" sz="1300" dirty="0">
                <a:solidFill>
                  <a:srgbClr val="1B1B1B"/>
                </a:solidFill>
                <a:latin typeface="Calibri" pitchFamily="34" charset="0"/>
                <a:ea typeface="Calibri" pitchFamily="34" charset="-122"/>
                <a:cs typeface="Calibri" pitchFamily="34" charset="-120"/>
              </a:rPr>
              <a:t>Test FA rose 2.4–3.9 points despite the 5% dev budget.</a:t>
            </a:r>
            <a:endParaRPr lang="en-US" sz="1300" dirty="0"/>
          </a:p>
          <a:p>
            <a:pPr indent="0" marL="0">
              <a:spcAft>
                <a:spcPts val="800"/>
              </a:spcAft>
              <a:buNone/>
            </a:pPr>
            <a:r>
              <a:rPr lang="en-US" sz="1300" dirty="0">
                <a:solidFill>
                  <a:srgbClr val="1B1B1B"/>
                </a:solidFill>
                <a:latin typeface="Calibri" pitchFamily="34" charset="0"/>
                <a:ea typeface="Calibri" pitchFamily="34" charset="-122"/>
                <a:cs typeface="Calibri" pitchFamily="34" charset="-120"/>
              </a:rPr>
              <a:t>S4 is the most conservative gate; S2-rr has the best F1 (.473 vs .443).</a:t>
            </a:r>
            <a:endParaRPr lang="en-US" sz="1300" dirty="0"/>
          </a:p>
          <a:p>
            <a:pPr indent="0" marL="0">
              <a:spcAft>
                <a:spcPts val="800"/>
              </a:spcAft>
              <a:buNone/>
            </a:pPr>
            <a:r>
              <a:rPr lang="en-US" sz="1300" dirty="0">
                <a:solidFill>
                  <a:srgbClr val="1B1B1B"/>
                </a:solidFill>
                <a:latin typeface="Calibri" pitchFamily="34" charset="0"/>
                <a:ea typeface="Calibri" pitchFamily="34" charset="-122"/>
                <a:cs typeface="Calibri" pitchFamily="34" charset="-120"/>
              </a:rPr>
              <a:t>Synthetic data protected the checker on dev, but did not beat the untrained re-ranker on test.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The real problem: over-refusal</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Share of answerable turns refused, by turn position</a:t>
            </a:r>
            <a:endParaRPr lang="en-US" sz="1400" dirty="0"/>
          </a:p>
        </p:txBody>
      </p:sp>
      <p:graphicFrame>
        <p:nvGraphicFramePr>
          <p:cNvPr id="4" name="Chart 0" descr=""/>
          <p:cNvGraphicFramePr/>
          <p:nvPr/>
        </p:nvGraphicFramePr>
        <p:xfrm>
          <a:off x="365760" y="1234440"/>
          <a:ext cx="5120640" cy="3383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852160" y="1325880"/>
            <a:ext cx="2834640" cy="685800"/>
          </a:xfrm>
          <a:prstGeom prst="rect">
            <a:avLst/>
          </a:prstGeom>
          <a:noFill/>
          <a:ln/>
        </p:spPr>
        <p:txBody>
          <a:bodyPr wrap="square" lIns="0" tIns="0" rIns="0" bIns="0" rtlCol="0" anchor="ctr"/>
          <a:lstStyle/>
          <a:p>
            <a:pPr indent="0" marL="0">
              <a:buNone/>
            </a:pPr>
            <a:r>
              <a:rPr lang="en-US" sz="4000" b="1" dirty="0">
                <a:solidFill>
                  <a:srgbClr val="EB6834"/>
                </a:solidFill>
                <a:latin typeface="Cambria" pitchFamily="34" charset="0"/>
                <a:ea typeface="Cambria" pitchFamily="34" charset="-122"/>
                <a:cs typeface="Cambria" pitchFamily="34" charset="-120"/>
              </a:rPr>
              <a:t>18.4%</a:t>
            </a:r>
            <a:endParaRPr lang="en-US" sz="4000" dirty="0"/>
          </a:p>
        </p:txBody>
      </p:sp>
      <p:sp>
        <p:nvSpPr>
          <p:cNvPr id="6" name="Text 3"/>
          <p:cNvSpPr txBox="1"/>
          <p:nvPr/>
        </p:nvSpPr>
        <p:spPr>
          <a:xfrm>
            <a:off x="5852160" y="2011680"/>
            <a:ext cx="2834640" cy="548640"/>
          </a:xfrm>
          <a:prstGeom prst="rect">
            <a:avLst/>
          </a:prstGeom>
          <a:noFill/>
          <a:ln/>
        </p:spPr>
        <p:txBody>
          <a:bodyPr wrap="square" lIns="0" tIns="0" rIns="0" bIns="0" rtlCol="0" anchor="t"/>
          <a:lstStyle/>
          <a:p>
            <a:pPr indent="0" marL="0">
              <a:buNone/>
            </a:pPr>
            <a:r>
              <a:rPr lang="en-US" sz="1200" dirty="0">
                <a:solidFill>
                  <a:srgbClr val="5B5B5B"/>
                </a:solidFill>
                <a:latin typeface="Calibri" pitchFamily="34" charset="0"/>
                <a:ea typeface="Calibri" pitchFamily="34" charset="-122"/>
                <a:cs typeface="Calibri" pitchFamily="34" charset="-120"/>
              </a:rPr>
              <a:t>of answerable turns refused by the best pipeline (S2): 61 of 332, more than any gate adds</a:t>
            </a:r>
            <a:endParaRPr lang="en-US" sz="1200" dirty="0"/>
          </a:p>
        </p:txBody>
      </p:sp>
      <p:sp>
        <p:nvSpPr>
          <p:cNvPr id="7" name="Text 4"/>
          <p:cNvSpPr txBox="1"/>
          <p:nvPr/>
        </p:nvSpPr>
        <p:spPr>
          <a:xfrm>
            <a:off x="5852160" y="2880360"/>
            <a:ext cx="2834640" cy="685800"/>
          </a:xfrm>
          <a:prstGeom prst="rect">
            <a:avLst/>
          </a:prstGeom>
          <a:noFill/>
          <a:ln/>
        </p:spPr>
        <p:txBody>
          <a:bodyPr wrap="square" lIns="0" tIns="0" rIns="0" bIns="0" rtlCol="0" anchor="ctr"/>
          <a:lstStyle/>
          <a:p>
            <a:pPr indent="0" marL="0">
              <a:buNone/>
            </a:pPr>
            <a:r>
              <a:rPr lang="en-US" sz="4000" b="1" dirty="0">
                <a:solidFill>
                  <a:srgbClr val="2A78D6"/>
                </a:solidFill>
                <a:latin typeface="Cambria" pitchFamily="34" charset="0"/>
                <a:ea typeface="Cambria" pitchFamily="34" charset="-122"/>
                <a:cs typeface="Cambria" pitchFamily="34" charset="-120"/>
              </a:rPr>
              <a:t>18–28%</a:t>
            </a:r>
            <a:endParaRPr lang="en-US" sz="4000" dirty="0"/>
          </a:p>
        </p:txBody>
      </p:sp>
      <p:sp>
        <p:nvSpPr>
          <p:cNvPr id="8" name="Text 5"/>
          <p:cNvSpPr txBox="1"/>
          <p:nvPr/>
        </p:nvSpPr>
        <p:spPr>
          <a:xfrm>
            <a:off x="5852160" y="3566160"/>
            <a:ext cx="2834640" cy="548640"/>
          </a:xfrm>
          <a:prstGeom prst="rect">
            <a:avLst/>
          </a:prstGeom>
          <a:noFill/>
          <a:ln/>
        </p:spPr>
        <p:txBody>
          <a:bodyPr wrap="square" lIns="0" tIns="0" rIns="0" bIns="0" rtlCol="0" anchor="t"/>
          <a:lstStyle/>
          <a:p>
            <a:pPr indent="0" marL="0">
              <a:buNone/>
            </a:pPr>
            <a:r>
              <a:rPr lang="en-US" sz="1200" dirty="0">
                <a:solidFill>
                  <a:srgbClr val="5B5B5B"/>
                </a:solidFill>
                <a:latin typeface="Calibri" pitchFamily="34" charset="0"/>
                <a:ea typeface="Calibri" pitchFamily="34" charset="-122"/>
                <a:cs typeface="Calibri" pitchFamily="34" charset="-120"/>
              </a:rPr>
              <a:t>over-refusal across all systems; the 3B generator refuses too easily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Agentic extension: LangGraph agent (S5)</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Search again before refusing, ask when unclear, double-check doubtful answers</a:t>
            </a:r>
            <a:endParaRPr lang="en-US" sz="1400" dirty="0"/>
          </a:p>
        </p:txBody>
      </p:sp>
      <p:sp>
        <p:nvSpPr>
          <p:cNvPr id="4" name="Shape 2"/>
          <p:cNvSpPr/>
          <p:nvPr/>
        </p:nvSpPr>
        <p:spPr>
          <a:xfrm>
            <a:off x="365760" y="1280160"/>
            <a:ext cx="1508760" cy="566928"/>
          </a:xfrm>
          <a:prstGeom prst="roundRect">
            <a:avLst>
              <a:gd name="adj" fmla="val 12903"/>
            </a:avLst>
          </a:prstGeom>
          <a:solidFill>
            <a:srgbClr val="F3F5F9"/>
          </a:solidFill>
          <a:ln w="12700">
            <a:solidFill>
              <a:srgbClr val="D9DEE7"/>
            </a:solidFill>
            <a:prstDash val="solid"/>
          </a:ln>
        </p:spPr>
      </p:sp>
      <p:sp>
        <p:nvSpPr>
          <p:cNvPr id="5" name="Text 3"/>
          <p:cNvSpPr txBox="1"/>
          <p:nvPr/>
        </p:nvSpPr>
        <p:spPr>
          <a:xfrm>
            <a:off x="365760" y="1280160"/>
            <a:ext cx="1508760" cy="566928"/>
          </a:xfrm>
          <a:prstGeom prst="rect">
            <a:avLst/>
          </a:prstGeom>
          <a:noFill/>
          <a:ln/>
        </p:spPr>
        <p:txBody>
          <a:bodyPr wrap="square" lIns="25400" tIns="25400" rIns="25400" bIns="25400" rtlCol="0" anchor="ctr"/>
          <a:lstStyle/>
          <a:p>
            <a:pPr algn="ctr" indent="0" marL="0">
              <a:buNone/>
            </a:pPr>
            <a:r>
              <a:rPr lang="en-US" sz="1150" dirty="0">
                <a:solidFill>
                  <a:srgbClr val="1B1B1B"/>
                </a:solidFill>
                <a:latin typeface="Calibri" pitchFamily="34" charset="0"/>
                <a:ea typeface="Calibri" pitchFamily="34" charset="-122"/>
                <a:cs typeface="Calibri" pitchFamily="34" charset="-120"/>
              </a:rPr>
              <a:t>Rewrite query</a:t>
            </a:r>
            <a:endParaRPr lang="en-US" sz="1150" dirty="0"/>
          </a:p>
          <a:p>
            <a:pPr algn="ctr" indent="0" marL="0">
              <a:buNone/>
            </a:pPr>
            <a:r>
              <a:rPr lang="en-US" sz="1150" dirty="0">
                <a:solidFill>
                  <a:srgbClr val="1B1B1B"/>
                </a:solidFill>
                <a:latin typeface="Calibri" pitchFamily="34" charset="0"/>
                <a:ea typeface="Calibri" pitchFamily="34" charset="-122"/>
                <a:cs typeface="Calibri" pitchFamily="34" charset="-120"/>
              </a:rPr>
              <a:t>(Qwen2.5-3B)</a:t>
            </a:r>
            <a:endParaRPr lang="en-US" sz="1150" dirty="0"/>
          </a:p>
        </p:txBody>
      </p:sp>
      <p:sp>
        <p:nvSpPr>
          <p:cNvPr id="6" name="Shape 4"/>
          <p:cNvSpPr/>
          <p:nvPr/>
        </p:nvSpPr>
        <p:spPr>
          <a:xfrm>
            <a:off x="2240280" y="1280160"/>
            <a:ext cx="1508760" cy="566928"/>
          </a:xfrm>
          <a:prstGeom prst="roundRect">
            <a:avLst>
              <a:gd name="adj" fmla="val 12903"/>
            </a:avLst>
          </a:prstGeom>
          <a:solidFill>
            <a:srgbClr val="F3F5F9"/>
          </a:solidFill>
          <a:ln w="12700">
            <a:solidFill>
              <a:srgbClr val="D9DEE7"/>
            </a:solidFill>
            <a:prstDash val="solid"/>
          </a:ln>
        </p:spPr>
      </p:sp>
      <p:sp>
        <p:nvSpPr>
          <p:cNvPr id="7" name="Text 5"/>
          <p:cNvSpPr txBox="1"/>
          <p:nvPr/>
        </p:nvSpPr>
        <p:spPr>
          <a:xfrm>
            <a:off x="2240280" y="1280160"/>
            <a:ext cx="1508760" cy="566928"/>
          </a:xfrm>
          <a:prstGeom prst="rect">
            <a:avLst/>
          </a:prstGeom>
          <a:noFill/>
          <a:ln/>
        </p:spPr>
        <p:txBody>
          <a:bodyPr wrap="square" lIns="25400" tIns="25400" rIns="25400" bIns="25400" rtlCol="0" anchor="ctr"/>
          <a:lstStyle/>
          <a:p>
            <a:pPr algn="ctr" indent="0" marL="0">
              <a:buNone/>
            </a:pPr>
            <a:r>
              <a:rPr lang="en-US" sz="1150" dirty="0">
                <a:solidFill>
                  <a:srgbClr val="1B1B1B"/>
                </a:solidFill>
                <a:latin typeface="Calibri" pitchFamily="34" charset="0"/>
                <a:ea typeface="Calibri" pitchFamily="34" charset="-122"/>
                <a:cs typeface="Calibri" pitchFamily="34" charset="-120"/>
              </a:rPr>
              <a:t>Retrieve</a:t>
            </a:r>
            <a:endParaRPr lang="en-US" sz="1150" dirty="0"/>
          </a:p>
          <a:p>
            <a:pPr algn="ctr" indent="0" marL="0">
              <a:buNone/>
            </a:pPr>
            <a:r>
              <a:rPr lang="en-US" sz="1150" dirty="0">
                <a:solidFill>
                  <a:srgbClr val="1B1B1B"/>
                </a:solidFill>
                <a:latin typeface="Calibri" pitchFamily="34" charset="0"/>
                <a:ea typeface="Calibri" pitchFamily="34" charset="-122"/>
                <a:cs typeface="Calibri" pitchFamily="34" charset="-120"/>
              </a:rPr>
              <a:t>(hybrid + re-rank)</a:t>
            </a:r>
            <a:endParaRPr lang="en-US" sz="1150" dirty="0"/>
          </a:p>
        </p:txBody>
      </p:sp>
      <p:sp>
        <p:nvSpPr>
          <p:cNvPr id="8" name="Shape 6"/>
          <p:cNvSpPr/>
          <p:nvPr/>
        </p:nvSpPr>
        <p:spPr>
          <a:xfrm>
            <a:off x="4114800" y="1280160"/>
            <a:ext cx="1600200" cy="566928"/>
          </a:xfrm>
          <a:prstGeom prst="roundRect">
            <a:avLst>
              <a:gd name="adj" fmla="val 12903"/>
            </a:avLst>
          </a:prstGeom>
          <a:solidFill>
            <a:srgbClr val="FCE3D8"/>
          </a:solidFill>
          <a:ln w="12700">
            <a:solidFill>
              <a:srgbClr val="EB6834"/>
            </a:solidFill>
            <a:prstDash val="solid"/>
          </a:ln>
        </p:spPr>
      </p:sp>
      <p:sp>
        <p:nvSpPr>
          <p:cNvPr id="9" name="Text 7"/>
          <p:cNvSpPr txBox="1"/>
          <p:nvPr/>
        </p:nvSpPr>
        <p:spPr>
          <a:xfrm>
            <a:off x="4114800" y="1280160"/>
            <a:ext cx="1600200" cy="566928"/>
          </a:xfrm>
          <a:prstGeom prst="rect">
            <a:avLst/>
          </a:prstGeom>
          <a:noFill/>
          <a:ln/>
        </p:spPr>
        <p:txBody>
          <a:bodyPr wrap="square" lIns="25400" tIns="25400" rIns="25400" bIns="25400" rtlCol="0" anchor="ctr"/>
          <a:lstStyle/>
          <a:p>
            <a:pPr algn="ctr" indent="0" marL="0">
              <a:buNone/>
            </a:pPr>
            <a:r>
              <a:rPr lang="en-US" sz="1150" dirty="0">
                <a:solidFill>
                  <a:srgbClr val="1B1B1B"/>
                </a:solidFill>
                <a:latin typeface="Calibri" pitchFamily="34" charset="0"/>
                <a:ea typeface="Calibri" pitchFamily="34" charset="-122"/>
                <a:cs typeface="Calibri" pitchFamily="34" charset="-120"/>
              </a:rPr>
              <a:t>Grade evidence</a:t>
            </a:r>
            <a:endParaRPr lang="en-US" sz="1150" dirty="0"/>
          </a:p>
          <a:p>
            <a:pPr algn="ctr" indent="0" marL="0">
              <a:buNone/>
            </a:pPr>
            <a:r>
              <a:rPr lang="en-US" sz="1150" dirty="0">
                <a:solidFill>
                  <a:srgbClr val="1B1B1B"/>
                </a:solidFill>
                <a:latin typeface="Calibri" pitchFamily="34" charset="0"/>
                <a:ea typeface="Calibri" pitchFamily="34" charset="-122"/>
                <a:cs typeface="Calibri" pitchFamily="34" charset="-120"/>
              </a:rPr>
              <a:t>(S4 checker: p)</a:t>
            </a:r>
            <a:endParaRPr lang="en-US" sz="1150" dirty="0"/>
          </a:p>
        </p:txBody>
      </p:sp>
      <p:sp>
        <p:nvSpPr>
          <p:cNvPr id="10" name="Shape 8"/>
          <p:cNvSpPr/>
          <p:nvPr/>
        </p:nvSpPr>
        <p:spPr>
          <a:xfrm>
            <a:off x="6080760" y="1280160"/>
            <a:ext cx="1371600" cy="566928"/>
          </a:xfrm>
          <a:prstGeom prst="roundRect">
            <a:avLst>
              <a:gd name="adj" fmla="val 12903"/>
            </a:avLst>
          </a:prstGeom>
          <a:solidFill>
            <a:srgbClr val="DFF3E8"/>
          </a:solidFill>
          <a:ln w="12700">
            <a:solidFill>
              <a:srgbClr val="D9DEE7"/>
            </a:solidFill>
            <a:prstDash val="solid"/>
          </a:ln>
        </p:spPr>
      </p:sp>
      <p:sp>
        <p:nvSpPr>
          <p:cNvPr id="11" name="Text 9"/>
          <p:cNvSpPr txBox="1"/>
          <p:nvPr/>
        </p:nvSpPr>
        <p:spPr>
          <a:xfrm>
            <a:off x="6080760" y="1280160"/>
            <a:ext cx="1371600" cy="566928"/>
          </a:xfrm>
          <a:prstGeom prst="rect">
            <a:avLst/>
          </a:prstGeom>
          <a:noFill/>
          <a:ln/>
        </p:spPr>
        <p:txBody>
          <a:bodyPr wrap="square" lIns="25400" tIns="25400" rIns="25400" bIns="25400" rtlCol="0" anchor="ctr"/>
          <a:lstStyle/>
          <a:p>
            <a:pPr algn="ctr" indent="0" marL="0">
              <a:buNone/>
            </a:pPr>
            <a:r>
              <a:rPr lang="en-US" sz="1150" dirty="0">
                <a:solidFill>
                  <a:srgbClr val="1B1B1B"/>
                </a:solidFill>
                <a:latin typeface="Calibri" pitchFamily="34" charset="0"/>
                <a:ea typeface="Calibri" pitchFamily="34" charset="-122"/>
                <a:cs typeface="Calibri" pitchFamily="34" charset="-120"/>
              </a:rPr>
              <a:t>Generate</a:t>
            </a:r>
            <a:endParaRPr lang="en-US" sz="1150" dirty="0"/>
          </a:p>
          <a:p>
            <a:pPr algn="ctr" indent="0" marL="0">
              <a:buNone/>
            </a:pPr>
            <a:r>
              <a:rPr lang="en-US" sz="1150" dirty="0">
                <a:solidFill>
                  <a:srgbClr val="1B1B1B"/>
                </a:solidFill>
                <a:latin typeface="Calibri" pitchFamily="34" charset="0"/>
                <a:ea typeface="Calibri" pitchFamily="34" charset="-122"/>
                <a:cs typeface="Calibri" pitchFamily="34" charset="-120"/>
              </a:rPr>
              <a:t>answer</a:t>
            </a:r>
            <a:endParaRPr lang="en-US" sz="1150" dirty="0"/>
          </a:p>
        </p:txBody>
      </p:sp>
      <p:sp>
        <p:nvSpPr>
          <p:cNvPr id="12" name="Shape 10"/>
          <p:cNvSpPr/>
          <p:nvPr/>
        </p:nvSpPr>
        <p:spPr>
          <a:xfrm>
            <a:off x="6035040" y="2514600"/>
            <a:ext cx="1463040" cy="566928"/>
          </a:xfrm>
          <a:prstGeom prst="roundRect">
            <a:avLst>
              <a:gd name="adj" fmla="val 12903"/>
            </a:avLst>
          </a:prstGeom>
          <a:solidFill>
            <a:srgbClr val="FFF4CC"/>
          </a:solidFill>
          <a:ln w="12700">
            <a:solidFill>
              <a:srgbClr val="D9DEE7"/>
            </a:solidFill>
            <a:prstDash val="solid"/>
          </a:ln>
        </p:spPr>
      </p:sp>
      <p:sp>
        <p:nvSpPr>
          <p:cNvPr id="13" name="Text 11"/>
          <p:cNvSpPr txBox="1"/>
          <p:nvPr/>
        </p:nvSpPr>
        <p:spPr>
          <a:xfrm>
            <a:off x="6035040" y="2514600"/>
            <a:ext cx="1463040" cy="566928"/>
          </a:xfrm>
          <a:prstGeom prst="rect">
            <a:avLst/>
          </a:prstGeom>
          <a:noFill/>
          <a:ln/>
        </p:spPr>
        <p:txBody>
          <a:bodyPr wrap="square" lIns="25400" tIns="25400" rIns="25400" bIns="25400" rtlCol="0" anchor="ctr"/>
          <a:lstStyle/>
          <a:p>
            <a:pPr algn="ctr" indent="0" marL="0">
              <a:buNone/>
            </a:pPr>
            <a:r>
              <a:rPr lang="en-US" sz="1150" dirty="0">
                <a:solidFill>
                  <a:srgbClr val="1B1B1B"/>
                </a:solidFill>
                <a:latin typeface="Calibri" pitchFamily="34" charset="0"/>
                <a:ea typeface="Calibri" pitchFamily="34" charset="-122"/>
                <a:cs typeface="Calibri" pitchFamily="34" charset="-120"/>
              </a:rPr>
              <a:t>Self-check</a:t>
            </a:r>
            <a:endParaRPr lang="en-US" sz="1150" dirty="0"/>
          </a:p>
          <a:p>
            <a:pPr algn="ctr" indent="0" marL="0">
              <a:buNone/>
            </a:pPr>
            <a:r>
              <a:rPr lang="en-US" sz="1150" dirty="0">
                <a:solidFill>
                  <a:srgbClr val="1B1B1B"/>
                </a:solidFill>
                <a:latin typeface="Calibri" pitchFamily="34" charset="0"/>
                <a:ea typeface="Calibri" pitchFamily="34" charset="-122"/>
                <a:cs typeface="Calibri" pitchFamily="34" charset="-120"/>
              </a:rPr>
              <a:t>(only if p ≥ 0.5)</a:t>
            </a:r>
            <a:endParaRPr lang="en-US" sz="1150" dirty="0"/>
          </a:p>
        </p:txBody>
      </p:sp>
      <p:sp>
        <p:nvSpPr>
          <p:cNvPr id="14" name="Shape 12"/>
          <p:cNvSpPr/>
          <p:nvPr/>
        </p:nvSpPr>
        <p:spPr>
          <a:xfrm>
            <a:off x="7772400" y="2514600"/>
            <a:ext cx="1005840" cy="566928"/>
          </a:xfrm>
          <a:prstGeom prst="roundRect">
            <a:avLst>
              <a:gd name="adj" fmla="val 12903"/>
            </a:avLst>
          </a:prstGeom>
          <a:solidFill>
            <a:srgbClr val="DCE8FB"/>
          </a:solidFill>
          <a:ln w="12700">
            <a:solidFill>
              <a:srgbClr val="D9DEE7"/>
            </a:solidFill>
            <a:prstDash val="solid"/>
          </a:ln>
        </p:spPr>
      </p:sp>
      <p:sp>
        <p:nvSpPr>
          <p:cNvPr id="15" name="Text 13"/>
          <p:cNvSpPr txBox="1"/>
          <p:nvPr/>
        </p:nvSpPr>
        <p:spPr>
          <a:xfrm>
            <a:off x="7772400" y="2514600"/>
            <a:ext cx="1005840" cy="566928"/>
          </a:xfrm>
          <a:prstGeom prst="rect">
            <a:avLst/>
          </a:prstGeom>
          <a:noFill/>
          <a:ln/>
        </p:spPr>
        <p:txBody>
          <a:bodyPr wrap="square" lIns="25400" tIns="25400" rIns="25400" bIns="25400" rtlCol="0" anchor="ctr"/>
          <a:lstStyle/>
          <a:p>
            <a:pPr algn="ctr" indent="0" marL="0">
              <a:buNone/>
            </a:pPr>
            <a:r>
              <a:rPr lang="en-US" sz="1150" dirty="0">
                <a:solidFill>
                  <a:srgbClr val="1B1B1B"/>
                </a:solidFill>
                <a:latin typeface="Calibri" pitchFamily="34" charset="0"/>
                <a:ea typeface="Calibri" pitchFamily="34" charset="-122"/>
                <a:cs typeface="Calibri" pitchFamily="34" charset="-120"/>
              </a:rPr>
              <a:t>ANSWER</a:t>
            </a:r>
            <a:endParaRPr lang="en-US" sz="1150" dirty="0"/>
          </a:p>
        </p:txBody>
      </p:sp>
      <p:sp>
        <p:nvSpPr>
          <p:cNvPr id="16" name="Shape 14"/>
          <p:cNvSpPr/>
          <p:nvPr/>
        </p:nvSpPr>
        <p:spPr>
          <a:xfrm>
            <a:off x="3291840" y="2514600"/>
            <a:ext cx="1737360" cy="566928"/>
          </a:xfrm>
          <a:prstGeom prst="roundRect">
            <a:avLst>
              <a:gd name="adj" fmla="val 12903"/>
            </a:avLst>
          </a:prstGeom>
          <a:solidFill>
            <a:srgbClr val="FFF4CC"/>
          </a:solidFill>
          <a:ln w="12700">
            <a:solidFill>
              <a:srgbClr val="D9DEE7"/>
            </a:solidFill>
            <a:prstDash val="solid"/>
          </a:ln>
        </p:spPr>
      </p:sp>
      <p:sp>
        <p:nvSpPr>
          <p:cNvPr id="17" name="Text 15"/>
          <p:cNvSpPr txBox="1"/>
          <p:nvPr/>
        </p:nvSpPr>
        <p:spPr>
          <a:xfrm>
            <a:off x="3291840" y="2514600"/>
            <a:ext cx="1737360" cy="566928"/>
          </a:xfrm>
          <a:prstGeom prst="rect">
            <a:avLst/>
          </a:prstGeom>
          <a:noFill/>
          <a:ln/>
        </p:spPr>
        <p:txBody>
          <a:bodyPr wrap="square" lIns="25400" tIns="25400" rIns="25400" bIns="25400" rtlCol="0" anchor="ctr"/>
          <a:lstStyle/>
          <a:p>
            <a:pPr algn="ctr" indent="0" marL="0">
              <a:buNone/>
            </a:pPr>
            <a:r>
              <a:rPr lang="en-US" sz="1150" dirty="0">
                <a:solidFill>
                  <a:srgbClr val="1B1B1B"/>
                </a:solidFill>
                <a:latin typeface="Calibri" pitchFamily="34" charset="0"/>
                <a:ea typeface="Calibri" pitchFamily="34" charset="-122"/>
                <a:cs typeface="Calibri" pitchFamily="34" charset="-120"/>
              </a:rPr>
              <a:t>Retry with a</a:t>
            </a:r>
            <a:endParaRPr lang="en-US" sz="1150" dirty="0"/>
          </a:p>
          <a:p>
            <a:pPr algn="ctr" indent="0" marL="0">
              <a:buNone/>
            </a:pPr>
            <a:r>
              <a:rPr lang="en-US" sz="1150" dirty="0">
                <a:solidFill>
                  <a:srgbClr val="1B1B1B"/>
                </a:solidFill>
                <a:latin typeface="Calibri" pitchFamily="34" charset="0"/>
                <a:ea typeface="Calibri" pitchFamily="34" charset="-122"/>
                <a:cs typeface="Calibri" pitchFamily="34" charset="-120"/>
              </a:rPr>
              <a:t>new query (×1)</a:t>
            </a:r>
            <a:endParaRPr lang="en-US" sz="1150" dirty="0"/>
          </a:p>
        </p:txBody>
      </p:sp>
      <p:sp>
        <p:nvSpPr>
          <p:cNvPr id="18" name="Shape 16"/>
          <p:cNvSpPr/>
          <p:nvPr/>
        </p:nvSpPr>
        <p:spPr>
          <a:xfrm>
            <a:off x="3291840" y="3703320"/>
            <a:ext cx="1737360" cy="566928"/>
          </a:xfrm>
          <a:prstGeom prst="roundRect">
            <a:avLst>
              <a:gd name="adj" fmla="val 12903"/>
            </a:avLst>
          </a:prstGeom>
          <a:solidFill>
            <a:srgbClr val="FBE0E0"/>
          </a:solidFill>
          <a:ln w="12700">
            <a:solidFill>
              <a:srgbClr val="D9DEE7"/>
            </a:solidFill>
            <a:prstDash val="solid"/>
          </a:ln>
        </p:spPr>
      </p:sp>
      <p:sp>
        <p:nvSpPr>
          <p:cNvPr id="19" name="Text 17"/>
          <p:cNvSpPr txBox="1"/>
          <p:nvPr/>
        </p:nvSpPr>
        <p:spPr>
          <a:xfrm>
            <a:off x="3291840" y="3703320"/>
            <a:ext cx="1737360" cy="566928"/>
          </a:xfrm>
          <a:prstGeom prst="rect">
            <a:avLst/>
          </a:prstGeom>
          <a:noFill/>
          <a:ln/>
        </p:spPr>
        <p:txBody>
          <a:bodyPr wrap="square" lIns="25400" tIns="25400" rIns="25400" bIns="25400" rtlCol="0" anchor="ctr"/>
          <a:lstStyle/>
          <a:p>
            <a:pPr algn="ctr" indent="0" marL="0">
              <a:buNone/>
            </a:pPr>
            <a:r>
              <a:rPr lang="en-US" sz="1150" dirty="0">
                <a:solidFill>
                  <a:srgbClr val="1B1B1B"/>
                </a:solidFill>
                <a:latin typeface="Calibri" pitchFamily="34" charset="0"/>
                <a:ea typeface="Calibri" pitchFamily="34" charset="-122"/>
                <a:cs typeface="Calibri" pitchFamily="34" charset="-120"/>
              </a:rPr>
              <a:t>Clarify or abstain</a:t>
            </a:r>
            <a:endParaRPr lang="en-US" sz="1150" dirty="0"/>
          </a:p>
        </p:txBody>
      </p:sp>
      <p:sp>
        <p:nvSpPr>
          <p:cNvPr id="20" name="Shape 18"/>
          <p:cNvSpPr/>
          <p:nvPr/>
        </p:nvSpPr>
        <p:spPr>
          <a:xfrm>
            <a:off x="6035040" y="3703320"/>
            <a:ext cx="1463040" cy="566928"/>
          </a:xfrm>
          <a:prstGeom prst="roundRect">
            <a:avLst>
              <a:gd name="adj" fmla="val 12903"/>
            </a:avLst>
          </a:prstGeom>
          <a:solidFill>
            <a:srgbClr val="FBE0E0"/>
          </a:solidFill>
          <a:ln w="12700">
            <a:solidFill>
              <a:srgbClr val="D9DEE7"/>
            </a:solidFill>
            <a:prstDash val="solid"/>
          </a:ln>
        </p:spPr>
      </p:sp>
      <p:sp>
        <p:nvSpPr>
          <p:cNvPr id="21" name="Text 19"/>
          <p:cNvSpPr txBox="1"/>
          <p:nvPr/>
        </p:nvSpPr>
        <p:spPr>
          <a:xfrm>
            <a:off x="6035040" y="3703320"/>
            <a:ext cx="1463040" cy="566928"/>
          </a:xfrm>
          <a:prstGeom prst="rect">
            <a:avLst/>
          </a:prstGeom>
          <a:noFill/>
          <a:ln/>
        </p:spPr>
        <p:txBody>
          <a:bodyPr wrap="square" lIns="25400" tIns="25400" rIns="25400" bIns="25400" rtlCol="0" anchor="ctr"/>
          <a:lstStyle/>
          <a:p>
            <a:pPr algn="ctr" indent="0" marL="0">
              <a:buNone/>
            </a:pPr>
            <a:r>
              <a:rPr lang="en-US" sz="1150" dirty="0">
                <a:solidFill>
                  <a:srgbClr val="1B1B1B"/>
                </a:solidFill>
                <a:latin typeface="Calibri" pitchFamily="34" charset="0"/>
                <a:ea typeface="Calibri" pitchFamily="34" charset="-122"/>
                <a:cs typeface="Calibri" pitchFamily="34" charset="-120"/>
              </a:rPr>
              <a:t>ABSTAIN</a:t>
            </a:r>
            <a:endParaRPr lang="en-US" sz="1150" dirty="0"/>
          </a:p>
        </p:txBody>
      </p:sp>
      <p:sp>
        <p:nvSpPr>
          <p:cNvPr id="22" name="Shape 20"/>
          <p:cNvSpPr/>
          <p:nvPr/>
        </p:nvSpPr>
        <p:spPr>
          <a:xfrm>
            <a:off x="1883664" y="1563624"/>
            <a:ext cx="338328" cy="0"/>
          </a:xfrm>
          <a:prstGeom prst="line">
            <a:avLst/>
          </a:prstGeom>
          <a:noFill/>
          <a:ln w="15875">
            <a:solidFill>
              <a:srgbClr val="5B5B5B"/>
            </a:solidFill>
            <a:prstDash val="solid"/>
            <a:tailEnd type="triangle"/>
          </a:ln>
        </p:spPr>
      </p:sp>
      <p:sp>
        <p:nvSpPr>
          <p:cNvPr id="23" name="Shape 21"/>
          <p:cNvSpPr/>
          <p:nvPr/>
        </p:nvSpPr>
        <p:spPr>
          <a:xfrm>
            <a:off x="3758184" y="1563624"/>
            <a:ext cx="338328" cy="0"/>
          </a:xfrm>
          <a:prstGeom prst="line">
            <a:avLst/>
          </a:prstGeom>
          <a:noFill/>
          <a:ln w="15875">
            <a:solidFill>
              <a:srgbClr val="5B5B5B"/>
            </a:solidFill>
            <a:prstDash val="solid"/>
            <a:tailEnd type="triangle"/>
          </a:ln>
        </p:spPr>
      </p:sp>
      <p:sp>
        <p:nvSpPr>
          <p:cNvPr id="24" name="Shape 22"/>
          <p:cNvSpPr/>
          <p:nvPr/>
        </p:nvSpPr>
        <p:spPr>
          <a:xfrm>
            <a:off x="5724144" y="1563624"/>
            <a:ext cx="338328" cy="0"/>
          </a:xfrm>
          <a:prstGeom prst="line">
            <a:avLst/>
          </a:prstGeom>
          <a:noFill/>
          <a:ln w="15875">
            <a:solidFill>
              <a:srgbClr val="5B5B5B"/>
            </a:solidFill>
            <a:prstDash val="solid"/>
            <a:tailEnd type="triangle"/>
          </a:ln>
        </p:spPr>
      </p:sp>
      <p:sp>
        <p:nvSpPr>
          <p:cNvPr id="25" name="Text 23"/>
          <p:cNvSpPr txBox="1"/>
          <p:nvPr/>
        </p:nvSpPr>
        <p:spPr>
          <a:xfrm>
            <a:off x="5623560" y="1261872"/>
            <a:ext cx="548640" cy="228600"/>
          </a:xfrm>
          <a:prstGeom prst="rect">
            <a:avLst/>
          </a:prstGeom>
          <a:noFill/>
          <a:ln/>
        </p:spPr>
        <p:txBody>
          <a:bodyPr wrap="square" lIns="0" tIns="0" rIns="0" bIns="0" rtlCol="0" anchor="ctr"/>
          <a:lstStyle/>
          <a:p>
            <a:pPr algn="ctr" indent="0" marL="0">
              <a:buNone/>
            </a:pPr>
            <a:r>
              <a:rPr lang="en-US" sz="1000" i="1" dirty="0">
                <a:solidFill>
                  <a:srgbClr val="5B5B5B"/>
                </a:solidFill>
                <a:latin typeface="Calibri" pitchFamily="34" charset="0"/>
                <a:ea typeface="Calibri" pitchFamily="34" charset="-122"/>
                <a:cs typeface="Calibri" pitchFamily="34" charset="-120"/>
              </a:rPr>
              <a:t>ok</a:t>
            </a:r>
            <a:endParaRPr lang="en-US" sz="1000" dirty="0"/>
          </a:p>
        </p:txBody>
      </p:sp>
      <p:sp>
        <p:nvSpPr>
          <p:cNvPr id="26" name="Shape 24"/>
          <p:cNvSpPr/>
          <p:nvPr/>
        </p:nvSpPr>
        <p:spPr>
          <a:xfrm>
            <a:off x="4754880" y="1856232"/>
            <a:ext cx="-365760" cy="640080"/>
          </a:xfrm>
          <a:prstGeom prst="line">
            <a:avLst/>
          </a:prstGeom>
          <a:noFill/>
          <a:ln w="15875">
            <a:solidFill>
              <a:srgbClr val="5B5B5B"/>
            </a:solidFill>
            <a:prstDash val="solid"/>
            <a:tailEnd type="triangle"/>
          </a:ln>
        </p:spPr>
      </p:sp>
      <p:sp>
        <p:nvSpPr>
          <p:cNvPr id="27" name="Text 25"/>
          <p:cNvSpPr txBox="1"/>
          <p:nvPr/>
        </p:nvSpPr>
        <p:spPr>
          <a:xfrm>
            <a:off x="4526280" y="1993392"/>
            <a:ext cx="1463040" cy="228600"/>
          </a:xfrm>
          <a:prstGeom prst="rect">
            <a:avLst/>
          </a:prstGeom>
          <a:noFill/>
          <a:ln/>
        </p:spPr>
        <p:txBody>
          <a:bodyPr wrap="square" lIns="0" tIns="0" rIns="0" bIns="0" rtlCol="0" anchor="ctr"/>
          <a:lstStyle/>
          <a:p>
            <a:pPr algn="ctr" indent="0" marL="0">
              <a:buNone/>
            </a:pPr>
            <a:r>
              <a:rPr lang="en-US" sz="1000" i="1" dirty="0">
                <a:solidFill>
                  <a:srgbClr val="5B5B5B"/>
                </a:solidFill>
                <a:latin typeface="Calibri" pitchFamily="34" charset="0"/>
                <a:ea typeface="Calibri" pitchFamily="34" charset="-122"/>
                <a:cs typeface="Calibri" pitchFamily="34" charset="-120"/>
              </a:rPr>
              <a:t>weak (p ≥ τ)</a:t>
            </a:r>
            <a:endParaRPr lang="en-US" sz="1000" dirty="0"/>
          </a:p>
        </p:txBody>
      </p:sp>
      <p:sp>
        <p:nvSpPr>
          <p:cNvPr id="28" name="Shape 26"/>
          <p:cNvSpPr/>
          <p:nvPr/>
        </p:nvSpPr>
        <p:spPr>
          <a:xfrm>
            <a:off x="6400800" y="1856232"/>
            <a:ext cx="-1353312" cy="731520"/>
          </a:xfrm>
          <a:prstGeom prst="line">
            <a:avLst/>
          </a:prstGeom>
          <a:noFill/>
          <a:ln w="15875">
            <a:solidFill>
              <a:srgbClr val="5B5B5B"/>
            </a:solidFill>
            <a:prstDash val="solid"/>
            <a:tailEnd type="triangle"/>
          </a:ln>
        </p:spPr>
      </p:sp>
      <p:sp>
        <p:nvSpPr>
          <p:cNvPr id="29" name="Text 27"/>
          <p:cNvSpPr txBox="1"/>
          <p:nvPr/>
        </p:nvSpPr>
        <p:spPr>
          <a:xfrm>
            <a:off x="5486400" y="2011680"/>
            <a:ext cx="914400" cy="228600"/>
          </a:xfrm>
          <a:prstGeom prst="rect">
            <a:avLst/>
          </a:prstGeom>
          <a:noFill/>
          <a:ln/>
        </p:spPr>
        <p:txBody>
          <a:bodyPr wrap="square" lIns="0" tIns="0" rIns="0" bIns="0" rtlCol="0" anchor="ctr"/>
          <a:lstStyle/>
          <a:p>
            <a:pPr algn="ctr" indent="0" marL="0">
              <a:buNone/>
            </a:pPr>
            <a:r>
              <a:rPr lang="en-US" sz="1000" i="1" dirty="0">
                <a:solidFill>
                  <a:srgbClr val="5B5B5B"/>
                </a:solidFill>
                <a:latin typeface="Calibri" pitchFamily="34" charset="0"/>
                <a:ea typeface="Calibri" pitchFamily="34" charset="-122"/>
                <a:cs typeface="Calibri" pitchFamily="34" charset="-120"/>
              </a:rPr>
              <a:t>refused</a:t>
            </a:r>
            <a:endParaRPr lang="en-US" sz="1000" dirty="0"/>
          </a:p>
        </p:txBody>
      </p:sp>
      <p:sp>
        <p:nvSpPr>
          <p:cNvPr id="30" name="Shape 28"/>
          <p:cNvSpPr/>
          <p:nvPr/>
        </p:nvSpPr>
        <p:spPr>
          <a:xfrm>
            <a:off x="6766560" y="1856232"/>
            <a:ext cx="0" cy="640080"/>
          </a:xfrm>
          <a:prstGeom prst="line">
            <a:avLst/>
          </a:prstGeom>
          <a:noFill/>
          <a:ln w="15875">
            <a:solidFill>
              <a:srgbClr val="5B5B5B"/>
            </a:solidFill>
            <a:prstDash val="solid"/>
            <a:tailEnd type="triangle"/>
          </a:ln>
        </p:spPr>
      </p:sp>
      <p:sp>
        <p:nvSpPr>
          <p:cNvPr id="31" name="Text 29"/>
          <p:cNvSpPr txBox="1"/>
          <p:nvPr/>
        </p:nvSpPr>
        <p:spPr>
          <a:xfrm>
            <a:off x="6812280" y="2057400"/>
            <a:ext cx="822960" cy="228600"/>
          </a:xfrm>
          <a:prstGeom prst="rect">
            <a:avLst/>
          </a:prstGeom>
          <a:noFill/>
          <a:ln/>
        </p:spPr>
        <p:txBody>
          <a:bodyPr wrap="square" lIns="0" tIns="0" rIns="0" bIns="0" rtlCol="0" anchor="ctr"/>
          <a:lstStyle/>
          <a:p>
            <a:pPr algn="ctr" indent="0" marL="0">
              <a:buNone/>
            </a:pPr>
            <a:r>
              <a:rPr lang="en-US" sz="1000" i="1" dirty="0">
                <a:solidFill>
                  <a:srgbClr val="5B5B5B"/>
                </a:solidFill>
                <a:latin typeface="Calibri" pitchFamily="34" charset="0"/>
                <a:ea typeface="Calibri" pitchFamily="34" charset="-122"/>
                <a:cs typeface="Calibri" pitchFamily="34" charset="-120"/>
              </a:rPr>
              <a:t>answered</a:t>
            </a:r>
            <a:endParaRPr lang="en-US" sz="1000" dirty="0"/>
          </a:p>
        </p:txBody>
      </p:sp>
      <p:sp>
        <p:nvSpPr>
          <p:cNvPr id="32" name="Shape 30"/>
          <p:cNvSpPr/>
          <p:nvPr/>
        </p:nvSpPr>
        <p:spPr>
          <a:xfrm>
            <a:off x="7507224" y="2798064"/>
            <a:ext cx="256032" cy="0"/>
          </a:xfrm>
          <a:prstGeom prst="line">
            <a:avLst/>
          </a:prstGeom>
          <a:noFill/>
          <a:ln w="15875">
            <a:solidFill>
              <a:srgbClr val="5B5B5B"/>
            </a:solidFill>
            <a:prstDash val="solid"/>
            <a:tailEnd type="triangle"/>
          </a:ln>
        </p:spPr>
      </p:sp>
      <p:sp>
        <p:nvSpPr>
          <p:cNvPr id="33" name="Text 31"/>
          <p:cNvSpPr txBox="1"/>
          <p:nvPr/>
        </p:nvSpPr>
        <p:spPr>
          <a:xfrm>
            <a:off x="7406640" y="3108960"/>
            <a:ext cx="548640" cy="228600"/>
          </a:xfrm>
          <a:prstGeom prst="rect">
            <a:avLst/>
          </a:prstGeom>
          <a:noFill/>
          <a:ln/>
        </p:spPr>
        <p:txBody>
          <a:bodyPr wrap="square" lIns="0" tIns="0" rIns="0" bIns="0" rtlCol="0" anchor="ctr"/>
          <a:lstStyle/>
          <a:p>
            <a:pPr algn="ctr" indent="0" marL="0">
              <a:buNone/>
            </a:pPr>
            <a:r>
              <a:rPr lang="en-US" sz="1000" i="1" dirty="0">
                <a:solidFill>
                  <a:srgbClr val="5B5B5B"/>
                </a:solidFill>
                <a:latin typeface="Calibri" pitchFamily="34" charset="0"/>
                <a:ea typeface="Calibri" pitchFamily="34" charset="-122"/>
                <a:cs typeface="Calibri" pitchFamily="34" charset="-120"/>
              </a:rPr>
              <a:t>yes</a:t>
            </a:r>
            <a:endParaRPr lang="en-US" sz="1000" dirty="0"/>
          </a:p>
        </p:txBody>
      </p:sp>
      <p:sp>
        <p:nvSpPr>
          <p:cNvPr id="34" name="Shape 32"/>
          <p:cNvSpPr/>
          <p:nvPr/>
        </p:nvSpPr>
        <p:spPr>
          <a:xfrm>
            <a:off x="6766560" y="3090672"/>
            <a:ext cx="0" cy="603504"/>
          </a:xfrm>
          <a:prstGeom prst="line">
            <a:avLst/>
          </a:prstGeom>
          <a:noFill/>
          <a:ln w="15875">
            <a:solidFill>
              <a:srgbClr val="5B5B5B"/>
            </a:solidFill>
            <a:prstDash val="solid"/>
            <a:tailEnd type="triangle"/>
          </a:ln>
        </p:spPr>
      </p:sp>
      <p:sp>
        <p:nvSpPr>
          <p:cNvPr id="35" name="Text 33"/>
          <p:cNvSpPr txBox="1"/>
          <p:nvPr/>
        </p:nvSpPr>
        <p:spPr>
          <a:xfrm>
            <a:off x="6812280" y="3291840"/>
            <a:ext cx="548640" cy="228600"/>
          </a:xfrm>
          <a:prstGeom prst="rect">
            <a:avLst/>
          </a:prstGeom>
          <a:noFill/>
          <a:ln/>
        </p:spPr>
        <p:txBody>
          <a:bodyPr wrap="square" lIns="0" tIns="0" rIns="0" bIns="0" rtlCol="0" anchor="ctr"/>
          <a:lstStyle/>
          <a:p>
            <a:pPr algn="ctr" indent="0" marL="0">
              <a:buNone/>
            </a:pPr>
            <a:r>
              <a:rPr lang="en-US" sz="1000" i="1" dirty="0">
                <a:solidFill>
                  <a:srgbClr val="5B5B5B"/>
                </a:solidFill>
                <a:latin typeface="Calibri" pitchFamily="34" charset="0"/>
                <a:ea typeface="Calibri" pitchFamily="34" charset="-122"/>
                <a:cs typeface="Calibri" pitchFamily="34" charset="-120"/>
              </a:rPr>
              <a:t>no</a:t>
            </a:r>
            <a:endParaRPr lang="en-US" sz="1000" dirty="0"/>
          </a:p>
        </p:txBody>
      </p:sp>
      <p:sp>
        <p:nvSpPr>
          <p:cNvPr id="36" name="Shape 34"/>
          <p:cNvSpPr/>
          <p:nvPr/>
        </p:nvSpPr>
        <p:spPr>
          <a:xfrm>
            <a:off x="4160520" y="3090672"/>
            <a:ext cx="0" cy="603504"/>
          </a:xfrm>
          <a:prstGeom prst="line">
            <a:avLst/>
          </a:prstGeom>
          <a:noFill/>
          <a:ln w="15875">
            <a:solidFill>
              <a:srgbClr val="5B5B5B"/>
            </a:solidFill>
            <a:prstDash val="solid"/>
            <a:tailEnd type="triangle"/>
          </a:ln>
        </p:spPr>
      </p:sp>
      <p:sp>
        <p:nvSpPr>
          <p:cNvPr id="37" name="Text 35"/>
          <p:cNvSpPr txBox="1"/>
          <p:nvPr/>
        </p:nvSpPr>
        <p:spPr>
          <a:xfrm>
            <a:off x="4206240" y="3291840"/>
            <a:ext cx="1097280" cy="228600"/>
          </a:xfrm>
          <a:prstGeom prst="rect">
            <a:avLst/>
          </a:prstGeom>
          <a:noFill/>
          <a:ln/>
        </p:spPr>
        <p:txBody>
          <a:bodyPr wrap="square" lIns="0" tIns="0" rIns="0" bIns="0" rtlCol="0" anchor="ctr"/>
          <a:lstStyle/>
          <a:p>
            <a:pPr algn="ctr" indent="0" marL="0">
              <a:buNone/>
            </a:pPr>
            <a:r>
              <a:rPr lang="en-US" sz="1000" i="1" dirty="0">
                <a:solidFill>
                  <a:srgbClr val="5B5B5B"/>
                </a:solidFill>
                <a:latin typeface="Calibri" pitchFamily="34" charset="0"/>
                <a:ea typeface="Calibri" pitchFamily="34" charset="-122"/>
                <a:cs typeface="Calibri" pitchFamily="34" charset="-120"/>
              </a:rPr>
              <a:t>still weak</a:t>
            </a:r>
            <a:endParaRPr lang="en-US" sz="1000" dirty="0"/>
          </a:p>
        </p:txBody>
      </p:sp>
      <p:sp>
        <p:nvSpPr>
          <p:cNvPr id="38" name="Shape 36"/>
          <p:cNvSpPr/>
          <p:nvPr/>
        </p:nvSpPr>
        <p:spPr>
          <a:xfrm>
            <a:off x="3273552" y="2798064"/>
            <a:ext cx="-2194560" cy="-914400"/>
          </a:xfrm>
          <a:prstGeom prst="line">
            <a:avLst/>
          </a:prstGeom>
          <a:noFill/>
          <a:ln w="15875">
            <a:solidFill>
              <a:srgbClr val="5B5B5B"/>
            </a:solidFill>
            <a:prstDash val="solid"/>
            <a:tailEnd type="triangle"/>
          </a:ln>
        </p:spPr>
      </p:sp>
      <p:sp>
        <p:nvSpPr>
          <p:cNvPr id="39" name="Text 37"/>
          <p:cNvSpPr txBox="1"/>
          <p:nvPr/>
        </p:nvSpPr>
        <p:spPr>
          <a:xfrm>
            <a:off x="1280160" y="2423160"/>
            <a:ext cx="1280160" cy="228600"/>
          </a:xfrm>
          <a:prstGeom prst="rect">
            <a:avLst/>
          </a:prstGeom>
          <a:noFill/>
          <a:ln/>
        </p:spPr>
        <p:txBody>
          <a:bodyPr wrap="square" lIns="0" tIns="0" rIns="0" bIns="0" rtlCol="0" anchor="ctr"/>
          <a:lstStyle/>
          <a:p>
            <a:pPr algn="ctr" indent="0" marL="0">
              <a:buNone/>
            </a:pPr>
            <a:r>
              <a:rPr lang="en-US" sz="1000" i="1" dirty="0">
                <a:solidFill>
                  <a:srgbClr val="5B5B5B"/>
                </a:solidFill>
                <a:latin typeface="Calibri" pitchFamily="34" charset="0"/>
                <a:ea typeface="Calibri" pitchFamily="34" charset="-122"/>
                <a:cs typeface="Calibri" pitchFamily="34" charset="-120"/>
              </a:rPr>
              <a:t>try again</a:t>
            </a:r>
            <a:endParaRPr lang="en-US" sz="1000" dirty="0"/>
          </a:p>
        </p:txBody>
      </p:sp>
      <p:sp>
        <p:nvSpPr>
          <p:cNvPr id="40" name="Text 38"/>
          <p:cNvSpPr txBox="1"/>
          <p:nvPr/>
        </p:nvSpPr>
        <p:spPr>
          <a:xfrm>
            <a:off x="365760" y="4434840"/>
            <a:ext cx="8412480" cy="411480"/>
          </a:xfrm>
          <a:prstGeom prst="rect">
            <a:avLst/>
          </a:prstGeom>
          <a:noFill/>
          <a:ln/>
        </p:spPr>
        <p:txBody>
          <a:bodyPr wrap="square" lIns="0" tIns="0" rIns="0" bIns="0" rtlCol="0" anchor="ctr"/>
          <a:lstStyle/>
          <a:p>
            <a:pPr indent="0" marL="0">
              <a:buNone/>
            </a:pPr>
            <a:r>
              <a:rPr lang="en-US" sz="1150" dirty="0">
                <a:solidFill>
                  <a:srgbClr val="5B5B5B"/>
                </a:solidFill>
                <a:latin typeface="Calibri" pitchFamily="34" charset="0"/>
                <a:ea typeface="Calibri" pitchFamily="34" charset="-122"/>
                <a:cs typeface="Calibri" pitchFamily="34" charset="-120"/>
              </a:rPr>
              <a:t>Built with LangChain (ChatOllama, BaseRetriever) and LangGraph (StateGraph, 7 nodes, fixed rule-based routing: a 3B model follows steps reliably but picks tools poorly).</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S5 results on MTRAG-UN</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429 turns; self-check cut-off (p ≥ 0.5) chosen on the dev set, never on test</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5120640" cy="914400"/>
        </p:xfrm>
        <a:graphic>
          <a:graphicData uri="http://schemas.openxmlformats.org/drawingml/2006/table">
            <a:tbl>
              <a:tblPr/>
              <a:tblGrid>
                <a:gridCol w="2377440"/>
                <a:gridCol w="640080"/>
                <a:gridCol w="685800"/>
                <a:gridCol w="777240"/>
                <a:gridCol w="640080"/>
              </a:tblGrid>
              <a:tr h="438912">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System</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FA ↓</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r>
              <a:tr h="438912">
                <a:tc>
                  <a:txBody>
                    <a:bodyPr/>
                    <a:lstStyle/>
                    <a:p>
                      <a:pPr algn="l" indent="0" marL="0">
                        <a:buNone/>
                      </a:pPr>
                      <a:r>
                        <a:rPr lang="en-US" sz="1200" dirty="0">
                          <a:solidFill>
                            <a:srgbClr val="1B1B1B"/>
                          </a:solidFill>
                          <a:latin typeface="Calibri" pitchFamily="34" charset="0"/>
                          <a:ea typeface="Calibri" pitchFamily="34" charset="-122"/>
                          <a:cs typeface="Calibri" pitchFamily="34" charset="-120"/>
                        </a:rPr>
                        <a:t>S2 (fixed pipeline)</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rgbClr val="1B1B1B"/>
                          </a:solidFill>
                          <a:latin typeface="Calibri" pitchFamily="34" charset="0"/>
                          <a:ea typeface="Calibri" pitchFamily="34" charset="-122"/>
                          <a:cs typeface="Calibri" pitchFamily="34" charset="-120"/>
                        </a:rPr>
                        <a:t>.443</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rgbClr val="1B1B1B"/>
                          </a:solidFill>
                          <a:latin typeface="Calibri" pitchFamily="34" charset="0"/>
                          <a:ea typeface="Calibri" pitchFamily="34" charset="-122"/>
                          <a:cs typeface="Calibri" pitchFamily="34" charset="-120"/>
                        </a:rPr>
                        <a:t>.464</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rgbClr val="1B1B1B"/>
                          </a:solidFill>
                          <a:latin typeface="Calibri" pitchFamily="34" charset="0"/>
                          <a:ea typeface="Calibri" pitchFamily="34" charset="-122"/>
                          <a:cs typeface="Calibri" pitchFamily="34" charset="-120"/>
                        </a:rPr>
                        <a:t>.425</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rgbClr val="1B1B1B"/>
                          </a:solidFill>
                          <a:latin typeface="Calibri" pitchFamily="34" charset="0"/>
                          <a:ea typeface="Calibri" pitchFamily="34" charset="-122"/>
                          <a:cs typeface="Calibri" pitchFamily="34" charset="-120"/>
                        </a:rPr>
                        <a:t>.184</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38912">
                <a:tc>
                  <a:txBody>
                    <a:bodyPr/>
                    <a:lstStyle/>
                    <a:p>
                      <a:pPr algn="l" indent="0" marL="0">
                        <a:buNone/>
                      </a:pPr>
                      <a:r>
                        <a:rPr lang="en-US" sz="1200" dirty="0">
                          <a:solidFill>
                            <a:srgbClr val="1B1B1B"/>
                          </a:solidFill>
                          <a:latin typeface="Calibri" pitchFamily="34" charset="0"/>
                          <a:ea typeface="Calibri" pitchFamily="34" charset="-122"/>
                          <a:cs typeface="Calibri" pitchFamily="34" charset="-120"/>
                        </a:rPr>
                        <a:t>S2-rr (best gate before)</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rgbClr val="1B1B1B"/>
                          </a:solidFill>
                          <a:latin typeface="Calibri" pitchFamily="34" charset="0"/>
                          <a:ea typeface="Calibri" pitchFamily="34" charset="-122"/>
                          <a:cs typeface="Calibri" pitchFamily="34" charset="-120"/>
                        </a:rPr>
                        <a:t>.473</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rgbClr val="1B1B1B"/>
                          </a:solidFill>
                          <a:latin typeface="Calibri" pitchFamily="34" charset="0"/>
                          <a:ea typeface="Calibri" pitchFamily="34" charset="-122"/>
                          <a:cs typeface="Calibri" pitchFamily="34" charset="-120"/>
                        </a:rPr>
                        <a:t>.546</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rgbClr val="1B1B1B"/>
                          </a:solidFill>
                          <a:latin typeface="Calibri" pitchFamily="34" charset="0"/>
                          <a:ea typeface="Calibri" pitchFamily="34" charset="-122"/>
                          <a:cs typeface="Calibri" pitchFamily="34" charset="-120"/>
                        </a:rPr>
                        <a:t>.417</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rgbClr val="1B1B1B"/>
                          </a:solidFill>
                          <a:latin typeface="Calibri" pitchFamily="34" charset="0"/>
                          <a:ea typeface="Calibri" pitchFamily="34" charset="-122"/>
                          <a:cs typeface="Calibri" pitchFamily="34" charset="-120"/>
                        </a:rPr>
                        <a:t>.223</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38912">
                <a:tc>
                  <a:txBody>
                    <a:bodyPr/>
                    <a:lstStyle/>
                    <a:p>
                      <a:pPr algn="l" indent="0" marL="0">
                        <a:buNone/>
                      </a:pPr>
                      <a:r>
                        <a:rPr lang="en-US" sz="1200" dirty="0">
                          <a:solidFill>
                            <a:srgbClr val="1B1B1B"/>
                          </a:solidFill>
                          <a:latin typeface="Calibri" pitchFamily="34" charset="0"/>
                          <a:ea typeface="Calibri" pitchFamily="34" charset="-122"/>
                          <a:cs typeface="Calibri" pitchFamily="34" charset="-120"/>
                        </a:rPr>
                        <a:t>S5: retry only</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rgbClr val="1B1B1B"/>
                          </a:solidFill>
                          <a:latin typeface="Calibri" pitchFamily="34" charset="0"/>
                          <a:ea typeface="Calibri" pitchFamily="34" charset="-122"/>
                          <a:cs typeface="Calibri" pitchFamily="34" charset="-120"/>
                        </a:rPr>
                        <a:t>.465</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rgbClr val="1B1B1B"/>
                          </a:solidFill>
                          <a:latin typeface="Calibri" pitchFamily="34" charset="0"/>
                          <a:ea typeface="Calibri" pitchFamily="34" charset="-122"/>
                          <a:cs typeface="Calibri" pitchFamily="34" charset="-120"/>
                        </a:rPr>
                        <a:t>.443</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b="1" dirty="0">
                          <a:solidFill>
                            <a:srgbClr val="EB6834"/>
                          </a:solidFill>
                          <a:latin typeface="Calibri" pitchFamily="34" charset="0"/>
                          <a:ea typeface="Calibri" pitchFamily="34" charset="-122"/>
                          <a:cs typeface="Calibri" pitchFamily="34" charset="-120"/>
                        </a:rPr>
                        <a:t>.489</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b="1" dirty="0">
                          <a:solidFill>
                            <a:srgbClr val="EB6834"/>
                          </a:solidFill>
                          <a:latin typeface="Calibri" pitchFamily="34" charset="0"/>
                          <a:ea typeface="Calibri" pitchFamily="34" charset="-122"/>
                          <a:cs typeface="Calibri" pitchFamily="34" charset="-120"/>
                        </a:rPr>
                        <a:t>.136</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38912">
                <a:tc>
                  <a:txBody>
                    <a:bodyPr/>
                    <a:lstStyle/>
                    <a:p>
                      <a:pPr algn="l" indent="0" marL="0">
                        <a:buNone/>
                      </a:pPr>
                      <a:r>
                        <a:rPr lang="en-US" sz="1200" b="1" dirty="0">
                          <a:solidFill>
                            <a:srgbClr val="1B1B1B"/>
                          </a:solidFill>
                          <a:latin typeface="Calibri" pitchFamily="34" charset="0"/>
                          <a:ea typeface="Calibri" pitchFamily="34" charset="-122"/>
                          <a:cs typeface="Calibri" pitchFamily="34" charset="-120"/>
                        </a:rPr>
                        <a:t>S5: retry + selective self-check</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b="1" dirty="0">
                          <a:solidFill>
                            <a:srgbClr val="EB6834"/>
                          </a:solidFill>
                          <a:latin typeface="Calibri" pitchFamily="34" charset="0"/>
                          <a:ea typeface="Calibri" pitchFamily="34" charset="-122"/>
                          <a:cs typeface="Calibri" pitchFamily="34" charset="-120"/>
                        </a:rPr>
                        <a:t>.511</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rgbClr val="1B1B1B"/>
                          </a:solidFill>
                          <a:latin typeface="Calibri" pitchFamily="34" charset="0"/>
                          <a:ea typeface="Calibri" pitchFamily="34" charset="-122"/>
                          <a:cs typeface="Calibri" pitchFamily="34" charset="-120"/>
                        </a:rPr>
                        <a:t>.577</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rgbClr val="1B1B1B"/>
                          </a:solidFill>
                          <a:latin typeface="Calibri" pitchFamily="34" charset="0"/>
                          <a:ea typeface="Calibri" pitchFamily="34" charset="-122"/>
                          <a:cs typeface="Calibri" pitchFamily="34" charset="-120"/>
                        </a:rPr>
                        <a:t>.459</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rgbClr val="1B1B1B"/>
                          </a:solidFill>
                          <a:latin typeface="Calibri" pitchFamily="34" charset="0"/>
                          <a:ea typeface="Calibri" pitchFamily="34" charset="-122"/>
                          <a:cs typeface="Calibri" pitchFamily="34" charset="-120"/>
                        </a:rPr>
                        <a:t>.199</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38912">
                <a:tc>
                  <a:txBody>
                    <a:bodyPr/>
                    <a:lstStyle/>
                    <a:p>
                      <a:pPr algn="l" indent="0" marL="0">
                        <a:buNone/>
                      </a:pPr>
                      <a:r>
                        <a:rPr lang="en-US" sz="1200" dirty="0">
                          <a:solidFill>
                            <a:srgbClr val="1B1B1B"/>
                          </a:solidFill>
                          <a:latin typeface="Calibri" pitchFamily="34" charset="0"/>
                          <a:ea typeface="Calibri" pitchFamily="34" charset="-122"/>
                          <a:cs typeface="Calibri" pitchFamily="34" charset="-120"/>
                        </a:rPr>
                        <a:t>S5: self-check on every answer</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rgbClr val="1B1B1B"/>
                          </a:solidFill>
                          <a:latin typeface="Calibri" pitchFamily="34" charset="0"/>
                          <a:ea typeface="Calibri" pitchFamily="34" charset="-122"/>
                          <a:cs typeface="Calibri" pitchFamily="34" charset="-120"/>
                        </a:rPr>
                        <a:t>.415</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rgbClr val="1B1B1B"/>
                          </a:solidFill>
                          <a:latin typeface="Calibri" pitchFamily="34" charset="0"/>
                          <a:ea typeface="Calibri" pitchFamily="34" charset="-122"/>
                          <a:cs typeface="Calibri" pitchFamily="34" charset="-120"/>
                        </a:rPr>
                        <a:t>.897</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rgbClr val="1B1B1B"/>
                          </a:solidFill>
                          <a:latin typeface="Calibri" pitchFamily="34" charset="0"/>
                          <a:ea typeface="Calibri" pitchFamily="34" charset="-122"/>
                          <a:cs typeface="Calibri" pitchFamily="34" charset="-120"/>
                        </a:rPr>
                        <a:t>.270</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200" dirty="0">
                          <a:solidFill>
                            <a:srgbClr val="1B1B1B"/>
                          </a:solidFill>
                          <a:latin typeface="Calibri" pitchFamily="34" charset="0"/>
                          <a:ea typeface="Calibri" pitchFamily="34" charset="-122"/>
                          <a:cs typeface="Calibri" pitchFamily="34" charset="-120"/>
                        </a:rPr>
                        <a:t>.708</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bl>
          </a:graphicData>
        </a:graphic>
      </p:graphicFrame>
      <p:sp>
        <p:nvSpPr>
          <p:cNvPr id="5" name="Shape 2"/>
          <p:cNvSpPr/>
          <p:nvPr/>
        </p:nvSpPr>
        <p:spPr>
          <a:xfrm>
            <a:off x="5760720" y="1234440"/>
            <a:ext cx="3017520" cy="3200400"/>
          </a:xfrm>
          <a:prstGeom prst="roundRect">
            <a:avLst>
              <a:gd name="adj" fmla="val 2424"/>
            </a:avLst>
          </a:prstGeom>
          <a:solidFill>
            <a:srgbClr val="F3F5F9"/>
          </a:solidFill>
          <a:ln w="12700">
            <a:solidFill>
              <a:srgbClr val="F3F5F9"/>
            </a:solidFill>
            <a:prstDash val="solid"/>
          </a:ln>
        </p:spPr>
      </p:sp>
      <p:sp>
        <p:nvSpPr>
          <p:cNvPr id="6" name="Text 3"/>
          <p:cNvSpPr txBox="1"/>
          <p:nvPr/>
        </p:nvSpPr>
        <p:spPr>
          <a:xfrm>
            <a:off x="5943600" y="1371600"/>
            <a:ext cx="2697480" cy="2971800"/>
          </a:xfrm>
          <a:prstGeom prst="rect">
            <a:avLst/>
          </a:prstGeom>
          <a:noFill/>
          <a:ln/>
        </p:spPr>
        <p:txBody>
          <a:bodyPr wrap="square" lIns="0" tIns="0" rIns="0" bIns="0" rtlCol="0" anchor="t"/>
          <a:lstStyle/>
          <a:p>
            <a:pPr indent="0" marL="0">
              <a:spcAft>
                <a:spcPts val="300"/>
              </a:spcAft>
              <a:buNone/>
            </a:pPr>
            <a:r>
              <a:rPr lang="en-US" sz="1200" b="1" dirty="0">
                <a:solidFill>
                  <a:srgbClr val="14213D"/>
                </a:solidFill>
                <a:latin typeface="Calibri" pitchFamily="34" charset="0"/>
                <a:ea typeface="Calibri" pitchFamily="34" charset="-122"/>
                <a:cs typeface="Calibri" pitchFamily="34" charset="-120"/>
              </a:rPr>
              <a:t>Retry recovers answerable turns</a:t>
            </a:r>
            <a:endParaRPr lang="en-US" sz="1200" dirty="0"/>
          </a:p>
          <a:p>
            <a:pPr indent="0" marL="0">
              <a:spcAft>
                <a:spcPts val="300"/>
              </a:spcAft>
              <a:buNone/>
            </a:pPr>
            <a:r>
              <a:rPr lang="en-US" sz="1200" dirty="0">
                <a:solidFill>
                  <a:srgbClr val="1B1B1B"/>
                </a:solidFill>
                <a:latin typeface="Calibri" pitchFamily="34" charset="0"/>
                <a:ea typeface="Calibri" pitchFamily="34" charset="-122"/>
                <a:cs typeface="Calibri" pitchFamily="34" charset="-120"/>
              </a:rPr>
              <a:t>16 recovered, 2 lost; wrong refusals 18.4% → 13.6% (lowest of all).</a:t>
            </a:r>
            <a:endParaRPr lang="en-US" sz="1200" dirty="0"/>
          </a:p>
          <a:p>
            <a:pPr indent="0" marL="0">
              <a:spcAft>
                <a:spcPts val="300"/>
              </a:spcAft>
              <a:buNone/>
            </a:pPr>
            <a:r>
              <a:rPr lang="en-US" sz="1200" b="1" dirty="0">
                <a:solidFill>
                  <a:srgbClr val="14213D"/>
                </a:solidFill>
                <a:latin typeface="Calibri" pitchFamily="34" charset="0"/>
                <a:ea typeface="Calibri" pitchFamily="34" charset="-122"/>
                <a:cs typeface="Calibri" pitchFamily="34" charset="-120"/>
              </a:rPr>
              <a:t>Selective self-check: best F1</a:t>
            </a:r>
            <a:endParaRPr lang="en-US" sz="1200" dirty="0"/>
          </a:p>
          <a:p>
            <a:pPr indent="0" marL="0">
              <a:spcAft>
                <a:spcPts val="300"/>
              </a:spcAft>
              <a:buNone/>
            </a:pPr>
            <a:r>
              <a:rPr lang="en-US" sz="1200" dirty="0">
                <a:solidFill>
                  <a:srgbClr val="1B1B1B"/>
                </a:solidFill>
                <a:latin typeface="Calibri" pitchFamily="34" charset="0"/>
                <a:ea typeface="Calibri" pitchFamily="34" charset="-122"/>
                <a:cs typeface="Calibri" pitchFamily="34" charset="-120"/>
              </a:rPr>
              <a:t>+13 unanswerable caught; F1 .511 vs .443.</a:t>
            </a:r>
            <a:endParaRPr lang="en-US" sz="1200" dirty="0"/>
          </a:p>
          <a:p>
            <a:pPr indent="0" marL="0">
              <a:spcAft>
                <a:spcPts val="300"/>
              </a:spcAft>
              <a:buNone/>
            </a:pPr>
            <a:r>
              <a:rPr lang="en-US" sz="1200" b="1" dirty="0">
                <a:solidFill>
                  <a:srgbClr val="14213D"/>
                </a:solidFill>
                <a:latin typeface="Calibri" pitchFamily="34" charset="0"/>
                <a:ea typeface="Calibri" pitchFamily="34" charset="-122"/>
                <a:cs typeface="Calibri" pitchFamily="34" charset="-120"/>
              </a:rPr>
              <a:t>Always-on self-check fails</a:t>
            </a:r>
            <a:endParaRPr lang="en-US" sz="1200" dirty="0"/>
          </a:p>
          <a:p>
            <a:pPr indent="0" marL="0">
              <a:spcAft>
                <a:spcPts val="300"/>
              </a:spcAft>
              <a:buNone/>
            </a:pPr>
            <a:r>
              <a:rPr lang="en-US" sz="1200" dirty="0">
                <a:solidFill>
                  <a:srgbClr val="1B1B1B"/>
                </a:solidFill>
                <a:latin typeface="Calibri" pitchFamily="34" charset="0"/>
                <a:ea typeface="Calibri" pitchFamily="34" charset="-122"/>
                <a:cs typeface="Calibri" pitchFamily="34" charset="-120"/>
              </a:rPr>
              <a:t>The 3B judge rejects 66% of correct answers.</a:t>
            </a:r>
            <a:endParaRPr lang="en-US" sz="1200" dirty="0"/>
          </a:p>
          <a:p>
            <a:pPr indent="0" marL="0">
              <a:spcAft>
                <a:spcPts val="300"/>
              </a:spcAft>
              <a:buNone/>
            </a:pPr>
            <a:r>
              <a:rPr lang="en-US" sz="1200" b="1" dirty="0">
                <a:solidFill>
                  <a:srgbClr val="14213D"/>
                </a:solidFill>
                <a:latin typeface="Calibri" pitchFamily="34" charset="0"/>
                <a:ea typeface="Calibri" pitchFamily="34" charset="-122"/>
                <a:cs typeface="Calibri" pitchFamily="34" charset="-120"/>
              </a:rPr>
              <a:t>Still no drift</a:t>
            </a:r>
            <a:endParaRPr lang="en-US" sz="1200" dirty="0"/>
          </a:p>
          <a:p>
            <a:pPr indent="0" marL="0">
              <a:spcAft>
                <a:spcPts val="300"/>
              </a:spcAft>
              <a:buNone/>
            </a:pPr>
            <a:r>
              <a:rPr lang="en-US" sz="1200" dirty="0">
                <a:solidFill>
                  <a:srgbClr val="1B1B1B"/>
                </a:solidFill>
                <a:latin typeface="Calibri" pitchFamily="34" charset="0"/>
                <a:ea typeface="Calibri" pitchFamily="34" charset="-122"/>
                <a:cs typeface="Calibri" pitchFamily="34" charset="-120"/>
              </a:rPr>
              <a:t>All recall slopes' CIs contain 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The agent in action</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Real traces from our runs</a:t>
            </a:r>
            <a:endParaRPr lang="en-US" sz="1400" dirty="0"/>
          </a:p>
        </p:txBody>
      </p:sp>
      <p:sp>
        <p:nvSpPr>
          <p:cNvPr id="4" name="Shape 2"/>
          <p:cNvSpPr/>
          <p:nvPr/>
        </p:nvSpPr>
        <p:spPr>
          <a:xfrm>
            <a:off x="365760" y="1188720"/>
            <a:ext cx="4114800" cy="3291840"/>
          </a:xfrm>
          <a:prstGeom prst="roundRect">
            <a:avLst>
              <a:gd name="adj" fmla="val 2222"/>
            </a:avLst>
          </a:prstGeom>
          <a:solidFill>
            <a:srgbClr val="F3F5F9"/>
          </a:solidFill>
          <a:ln w="12700">
            <a:solidFill>
              <a:srgbClr val="F3F5F9"/>
            </a:solidFill>
            <a:prstDash val="solid"/>
          </a:ln>
        </p:spPr>
      </p:sp>
      <p:sp>
        <p:nvSpPr>
          <p:cNvPr id="5" name="Text 3"/>
          <p:cNvSpPr txBox="1"/>
          <p:nvPr/>
        </p:nvSpPr>
        <p:spPr>
          <a:xfrm>
            <a:off x="548640" y="1325880"/>
            <a:ext cx="3749040" cy="3017520"/>
          </a:xfrm>
          <a:prstGeom prst="rect">
            <a:avLst/>
          </a:prstGeom>
          <a:noFill/>
          <a:ln/>
        </p:spPr>
        <p:txBody>
          <a:bodyPr wrap="square" lIns="0" tIns="0" rIns="0" bIns="0" rtlCol="0" anchor="t"/>
          <a:lstStyle/>
          <a:p>
            <a:pPr indent="0" marL="0">
              <a:spcAft>
                <a:spcPts val="600"/>
              </a:spcAft>
              <a:buNone/>
            </a:pPr>
            <a:r>
              <a:rPr lang="en-US" sz="1400" b="1" dirty="0">
                <a:solidFill>
                  <a:srgbClr val="14213D"/>
                </a:solidFill>
                <a:latin typeface="Calibri" pitchFamily="34" charset="0"/>
                <a:ea typeface="Calibri" pitchFamily="34" charset="-122"/>
                <a:cs typeface="Calibri" pitchFamily="34" charset="-120"/>
              </a:rPr>
              <a:t>Recovered rewrite error (turn 4)</a:t>
            </a:r>
            <a:endParaRPr lang="en-US" sz="1200" dirty="0"/>
          </a:p>
          <a:p>
            <a:pPr indent="0" marL="0">
              <a:spcAft>
                <a:spcPts val="600"/>
              </a:spcAft>
              <a:buNone/>
            </a:pPr>
            <a:r>
              <a:rPr lang="en-US" sz="1200" i="1" dirty="0">
                <a:solidFill>
                  <a:srgbClr val="1B1B1B"/>
                </a:solidFill>
                <a:latin typeface="Calibri" pitchFamily="34" charset="0"/>
                <a:ea typeface="Calibri" pitchFamily="34" charset="-122"/>
                <a:cs typeface="Calibri" pitchFamily="34" charset="-120"/>
              </a:rPr>
              <a:t>User: "Why were I Fight Dragons chosen to create the theme song for this TV series?"</a:t>
            </a:r>
            <a:endParaRPr lang="en-US" sz="1200" dirty="0"/>
          </a:p>
          <a:p>
            <a:pPr indent="0" marL="0">
              <a:spcAft>
                <a:spcPts val="600"/>
              </a:spcAft>
              <a:buNone/>
            </a:pPr>
            <a:r>
              <a:rPr lang="en-US" sz="1200" dirty="0">
                <a:solidFill>
                  <a:srgbClr val="1B1B1B"/>
                </a:solidFill>
                <a:latin typeface="Calibri" pitchFamily="34" charset="0"/>
                <a:ea typeface="Calibri" pitchFamily="34" charset="-122"/>
                <a:cs typeface="Calibri" pitchFamily="34" charset="-120"/>
              </a:rPr>
              <a:t>1st query: "Where was The Goldbergs set?" → generator refused</a:t>
            </a:r>
            <a:endParaRPr lang="en-US" sz="1200" dirty="0"/>
          </a:p>
          <a:p>
            <a:pPr indent="0" marL="0">
              <a:spcAft>
                <a:spcPts val="600"/>
              </a:spcAft>
              <a:buNone/>
            </a:pPr>
            <a:r>
              <a:rPr lang="en-US" sz="1200" dirty="0">
                <a:solidFill>
                  <a:srgbClr val="1B1B1B"/>
                </a:solidFill>
                <a:latin typeface="Calibri" pitchFamily="34" charset="0"/>
                <a:ea typeface="Calibri" pitchFamily="34" charset="-122"/>
                <a:cs typeface="Calibri" pitchFamily="34" charset="-120"/>
              </a:rPr>
              <a:t>Retry: "Why was I Fight Dragons chosen for The Goldbergs theme song?"</a:t>
            </a:r>
            <a:endParaRPr lang="en-US" sz="1200" dirty="0"/>
          </a:p>
          <a:p>
            <a:pPr indent="0" marL="0">
              <a:spcAft>
                <a:spcPts val="600"/>
              </a:spcAft>
              <a:buNone/>
            </a:pPr>
            <a:r>
              <a:rPr lang="en-US" sz="1200" b="1" dirty="0">
                <a:solidFill>
                  <a:srgbClr val="1BAF7A"/>
                </a:solidFill>
                <a:latin typeface="Calibri" pitchFamily="34" charset="0"/>
                <a:ea typeface="Calibri" pitchFamily="34" charset="-122"/>
                <a:cs typeface="Calibri" pitchFamily="34" charset="-120"/>
              </a:rPr>
              <a:t>→ Answer: written at Goldberg's request by his favourite band.</a:t>
            </a:r>
            <a:endParaRPr lang="en-US" sz="1200" dirty="0"/>
          </a:p>
        </p:txBody>
      </p:sp>
      <p:sp>
        <p:nvSpPr>
          <p:cNvPr id="6" name="Shape 4"/>
          <p:cNvSpPr/>
          <p:nvPr/>
        </p:nvSpPr>
        <p:spPr>
          <a:xfrm>
            <a:off x="4663440" y="1188720"/>
            <a:ext cx="4114800" cy="3291840"/>
          </a:xfrm>
          <a:prstGeom prst="roundRect">
            <a:avLst>
              <a:gd name="adj" fmla="val 2222"/>
            </a:avLst>
          </a:prstGeom>
          <a:solidFill>
            <a:srgbClr val="F3F5F9"/>
          </a:solidFill>
          <a:ln w="12700">
            <a:solidFill>
              <a:srgbClr val="F3F5F9"/>
            </a:solidFill>
            <a:prstDash val="solid"/>
          </a:ln>
        </p:spPr>
      </p:sp>
      <p:sp>
        <p:nvSpPr>
          <p:cNvPr id="7" name="Text 5"/>
          <p:cNvSpPr txBox="1"/>
          <p:nvPr/>
        </p:nvSpPr>
        <p:spPr>
          <a:xfrm>
            <a:off x="4846320" y="1325880"/>
            <a:ext cx="3749040" cy="3017520"/>
          </a:xfrm>
          <a:prstGeom prst="rect">
            <a:avLst/>
          </a:prstGeom>
          <a:noFill/>
          <a:ln/>
        </p:spPr>
        <p:txBody>
          <a:bodyPr wrap="square" lIns="0" tIns="0" rIns="0" bIns="0" rtlCol="0" anchor="t"/>
          <a:lstStyle/>
          <a:p>
            <a:pPr indent="0" marL="0">
              <a:spcAft>
                <a:spcPts val="600"/>
              </a:spcAft>
              <a:buNone/>
            </a:pPr>
            <a:r>
              <a:rPr lang="en-US" sz="1400" b="1" dirty="0">
                <a:solidFill>
                  <a:srgbClr val="14213D"/>
                </a:solidFill>
                <a:latin typeface="Calibri" pitchFamily="34" charset="0"/>
                <a:ea typeface="Calibri" pitchFamily="34" charset="-122"/>
                <a:cs typeface="Calibri" pitchFamily="34" charset="-120"/>
              </a:rPr>
              <a:t>Clarifying questions (underspecified turns)</a:t>
            </a:r>
            <a:endParaRPr lang="en-US" sz="1200" dirty="0"/>
          </a:p>
          <a:p>
            <a:pPr indent="0" marL="0">
              <a:spcAft>
                <a:spcPts val="600"/>
              </a:spcAft>
              <a:buNone/>
            </a:pPr>
            <a:r>
              <a:rPr lang="en-US" sz="1200" dirty="0">
                <a:solidFill>
                  <a:srgbClr val="1B1B1B"/>
                </a:solidFill>
                <a:latin typeface="Calibri" pitchFamily="34" charset="0"/>
                <a:ea typeface="Calibri" pitchFamily="34" charset="-122"/>
                <a:cs typeface="Calibri" pitchFamily="34" charset="-120"/>
              </a:rPr>
              <a:t>Asked on 29 of 78 turns (37%); before, the system could only answer or refuse.</a:t>
            </a:r>
            <a:endParaRPr lang="en-US" sz="1200" dirty="0"/>
          </a:p>
          <a:p>
            <a:pPr indent="0" marL="0">
              <a:spcAft>
                <a:spcPts val="600"/>
              </a:spcAft>
              <a:buNone/>
            </a:pPr>
            <a:r>
              <a:rPr lang="en-US" sz="1200" i="1" dirty="0">
                <a:solidFill>
                  <a:srgbClr val="1B1B1B"/>
                </a:solidFill>
                <a:latin typeface="Calibri" pitchFamily="34" charset="0"/>
                <a:ea typeface="Calibri" pitchFamily="34" charset="-122"/>
                <a:cs typeface="Calibri" pitchFamily="34" charset="-120"/>
              </a:rPr>
              <a:t>"What facilities does this library provide?" → "What type of library are you referring to?"</a:t>
            </a:r>
            <a:endParaRPr lang="en-US" sz="1200" dirty="0"/>
          </a:p>
          <a:p>
            <a:pPr indent="0" marL="0">
              <a:spcAft>
                <a:spcPts val="600"/>
              </a:spcAft>
              <a:buNone/>
            </a:pPr>
            <a:r>
              <a:rPr lang="en-US" sz="1200" i="1" dirty="0">
                <a:solidFill>
                  <a:srgbClr val="1B1B1B"/>
                </a:solidFill>
                <a:latin typeface="Calibri" pitchFamily="34" charset="0"/>
                <a:ea typeface="Calibri" pitchFamily="34" charset="-122"/>
                <a:cs typeface="Calibri" pitchFamily="34" charset="-120"/>
              </a:rPr>
              <a:t>"What awards has the actor received?" → "What actor and which performances?"</a:t>
            </a:r>
            <a:endParaRPr lang="en-US" sz="1200" dirty="0"/>
          </a:p>
          <a:p>
            <a:pPr indent="0" marL="0">
              <a:spcAft>
                <a:spcPts val="600"/>
              </a:spcAft>
              <a:buNone/>
            </a:pPr>
            <a:r>
              <a:rPr lang="en-US" sz="1200" dirty="0">
                <a:solidFill>
                  <a:srgbClr val="1B1B1B"/>
                </a:solidFill>
                <a:latin typeface="Calibri" pitchFamily="34" charset="0"/>
                <a:ea typeface="Calibri" pitchFamily="34" charset="-122"/>
                <a:cs typeface="Calibri" pitchFamily="34" charset="-120"/>
              </a:rPr>
              <a:t>Self-check: a borderline answer about student jobs (p = 0.60) was judged unsupported → correct abstention.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From research code to a production service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The S5 agent as a multi-user web service, run end to end on the laptop with Docker Compose</a:t>
            </a:r>
            <a:endParaRPr lang="en-US" sz="1400" dirty="0"/>
          </a:p>
        </p:txBody>
      </p:sp>
      <p:sp>
        <p:nvSpPr>
          <p:cNvPr id="4" name="Shape 2"/>
          <p:cNvSpPr/>
          <p:nvPr/>
        </p:nvSpPr>
        <p:spPr>
          <a:xfrm>
            <a:off x="365760" y="2286000"/>
            <a:ext cx="1371600" cy="603504"/>
          </a:xfrm>
          <a:prstGeom prst="roundRect">
            <a:avLst>
              <a:gd name="adj" fmla="val 12121"/>
            </a:avLst>
          </a:prstGeom>
          <a:solidFill>
            <a:srgbClr val="DCE8FB"/>
          </a:solidFill>
          <a:ln w="12700">
            <a:solidFill>
              <a:srgbClr val="D9DEE7"/>
            </a:solidFill>
            <a:prstDash val="solid"/>
          </a:ln>
        </p:spPr>
      </p:sp>
      <p:sp>
        <p:nvSpPr>
          <p:cNvPr id="5" name="Text 3"/>
          <p:cNvSpPr txBox="1"/>
          <p:nvPr/>
        </p:nvSpPr>
        <p:spPr>
          <a:xfrm>
            <a:off x="365760" y="2286000"/>
            <a:ext cx="1371600" cy="603504"/>
          </a:xfrm>
          <a:prstGeom prst="rect">
            <a:avLst/>
          </a:prstGeom>
          <a:noFill/>
          <a:ln/>
        </p:spPr>
        <p:txBody>
          <a:bodyPr wrap="square" lIns="25400" tIns="25400" rIns="25400" bIns="25400" rtlCol="0" anchor="ctr"/>
          <a:lstStyle/>
          <a:p>
            <a:pPr algn="ctr" indent="0" marL="0">
              <a:buNone/>
            </a:pPr>
            <a:r>
              <a:rPr lang="en-US" sz="1100" dirty="0">
                <a:solidFill>
                  <a:srgbClr val="1B1B1B"/>
                </a:solidFill>
                <a:latin typeface="Calibri" pitchFamily="34" charset="0"/>
                <a:ea typeface="Calibri" pitchFamily="34" charset="-122"/>
                <a:cs typeface="Calibri" pitchFamily="34" charset="-120"/>
              </a:rPr>
              <a:t>Client</a:t>
            </a:r>
            <a:endParaRPr lang="en-US" sz="1100" dirty="0"/>
          </a:p>
          <a:p>
            <a:pPr algn="ctr" indent="0" marL="0">
              <a:buNone/>
            </a:pPr>
            <a:r>
              <a:rPr lang="en-US" sz="1100" dirty="0">
                <a:solidFill>
                  <a:srgbClr val="1B1B1B"/>
                </a:solidFill>
                <a:latin typeface="Calibri" pitchFamily="34" charset="0"/>
                <a:ea typeface="Calibri" pitchFamily="34" charset="-122"/>
                <a:cs typeface="Calibri" pitchFamily="34" charset="-120"/>
              </a:rPr>
              <a:t>(HTTP + SSE)</a:t>
            </a:r>
            <a:endParaRPr lang="en-US" sz="1100" dirty="0"/>
          </a:p>
        </p:txBody>
      </p:sp>
      <p:sp>
        <p:nvSpPr>
          <p:cNvPr id="6" name="Shape 4"/>
          <p:cNvSpPr/>
          <p:nvPr/>
        </p:nvSpPr>
        <p:spPr>
          <a:xfrm>
            <a:off x="2240280" y="2286000"/>
            <a:ext cx="1828800" cy="603504"/>
          </a:xfrm>
          <a:prstGeom prst="roundRect">
            <a:avLst>
              <a:gd name="adj" fmla="val 12121"/>
            </a:avLst>
          </a:prstGeom>
          <a:solidFill>
            <a:srgbClr val="FCE3D8"/>
          </a:solidFill>
          <a:ln w="12700">
            <a:solidFill>
              <a:srgbClr val="EB6834"/>
            </a:solidFill>
            <a:prstDash val="solid"/>
          </a:ln>
        </p:spPr>
      </p:sp>
      <p:sp>
        <p:nvSpPr>
          <p:cNvPr id="7" name="Text 5"/>
          <p:cNvSpPr txBox="1"/>
          <p:nvPr/>
        </p:nvSpPr>
        <p:spPr>
          <a:xfrm>
            <a:off x="2240280" y="2286000"/>
            <a:ext cx="1828800" cy="603504"/>
          </a:xfrm>
          <a:prstGeom prst="rect">
            <a:avLst/>
          </a:prstGeom>
          <a:noFill/>
          <a:ln/>
        </p:spPr>
        <p:txBody>
          <a:bodyPr wrap="square" lIns="25400" tIns="25400" rIns="25400" bIns="25400" rtlCol="0" anchor="ctr"/>
          <a:lstStyle/>
          <a:p>
            <a:pPr algn="ctr" indent="0" marL="0">
              <a:buNone/>
            </a:pPr>
            <a:r>
              <a:rPr lang="en-US" sz="1100" dirty="0">
                <a:solidFill>
                  <a:srgbClr val="1B1B1B"/>
                </a:solidFill>
                <a:latin typeface="Calibri" pitchFamily="34" charset="0"/>
                <a:ea typeface="Calibri" pitchFamily="34" charset="-122"/>
                <a:cs typeface="Calibri" pitchFamily="34" charset="-120"/>
              </a:rPr>
              <a:t>FastAPI</a:t>
            </a:r>
            <a:endParaRPr lang="en-US" sz="1100" dirty="0"/>
          </a:p>
          <a:p>
            <a:pPr algn="ctr" indent="0" marL="0">
              <a:buNone/>
            </a:pPr>
            <a:r>
              <a:rPr lang="en-US" sz="1100" dirty="0">
                <a:solidFill>
                  <a:srgbClr val="1B1B1B"/>
                </a:solidFill>
                <a:latin typeface="Calibri" pitchFamily="34" charset="0"/>
                <a:ea typeface="Calibri" pitchFamily="34" charset="-122"/>
                <a:cs typeface="Calibri" pitchFamily="34" charset="-120"/>
              </a:rPr>
              <a:t>guardrails · auth · SSE</a:t>
            </a:r>
            <a:endParaRPr lang="en-US" sz="1100" dirty="0"/>
          </a:p>
        </p:txBody>
      </p:sp>
      <p:sp>
        <p:nvSpPr>
          <p:cNvPr id="8" name="Shape 6"/>
          <p:cNvSpPr/>
          <p:nvPr/>
        </p:nvSpPr>
        <p:spPr>
          <a:xfrm>
            <a:off x="4572000" y="2286000"/>
            <a:ext cx="1920240" cy="603504"/>
          </a:xfrm>
          <a:prstGeom prst="roundRect">
            <a:avLst>
              <a:gd name="adj" fmla="val 12121"/>
            </a:avLst>
          </a:prstGeom>
          <a:solidFill>
            <a:srgbClr val="DFF3E8"/>
          </a:solidFill>
          <a:ln w="12700">
            <a:solidFill>
              <a:srgbClr val="D9DEE7"/>
            </a:solidFill>
            <a:prstDash val="solid"/>
          </a:ln>
        </p:spPr>
      </p:sp>
      <p:sp>
        <p:nvSpPr>
          <p:cNvPr id="9" name="Text 7"/>
          <p:cNvSpPr txBox="1"/>
          <p:nvPr/>
        </p:nvSpPr>
        <p:spPr>
          <a:xfrm>
            <a:off x="4572000" y="2286000"/>
            <a:ext cx="1920240" cy="603504"/>
          </a:xfrm>
          <a:prstGeom prst="rect">
            <a:avLst/>
          </a:prstGeom>
          <a:noFill/>
          <a:ln/>
        </p:spPr>
        <p:txBody>
          <a:bodyPr wrap="square" lIns="25400" tIns="25400" rIns="25400" bIns="25400" rtlCol="0" anchor="ctr"/>
          <a:lstStyle/>
          <a:p>
            <a:pPr algn="ctr" indent="0" marL="0">
              <a:buNone/>
            </a:pPr>
            <a:r>
              <a:rPr lang="en-US" sz="1100" dirty="0">
                <a:solidFill>
                  <a:srgbClr val="1B1B1B"/>
                </a:solidFill>
                <a:latin typeface="Calibri" pitchFamily="34" charset="0"/>
                <a:ea typeface="Calibri" pitchFamily="34" charset="-122"/>
                <a:cs typeface="Calibri" pitchFamily="34" charset="-120"/>
              </a:rPr>
              <a:t>S5 LangGraph agent</a:t>
            </a:r>
            <a:endParaRPr lang="en-US" sz="1100" dirty="0"/>
          </a:p>
          <a:p>
            <a:pPr algn="ctr" indent="0" marL="0">
              <a:buNone/>
            </a:pPr>
            <a:r>
              <a:rPr lang="en-US" sz="1100" dirty="0">
                <a:solidFill>
                  <a:srgbClr val="1B1B1B"/>
                </a:solidFill>
                <a:latin typeface="Calibri" pitchFamily="34" charset="0"/>
                <a:ea typeface="Calibri" pitchFamily="34" charset="-122"/>
                <a:cs typeface="Calibri" pitchFamily="34" charset="-120"/>
              </a:rPr>
              <a:t>(Postgres checkpointer)</a:t>
            </a:r>
            <a:endParaRPr lang="en-US" sz="1100" dirty="0"/>
          </a:p>
        </p:txBody>
      </p:sp>
      <p:sp>
        <p:nvSpPr>
          <p:cNvPr id="10" name="Shape 8"/>
          <p:cNvSpPr/>
          <p:nvPr/>
        </p:nvSpPr>
        <p:spPr>
          <a:xfrm>
            <a:off x="6995160" y="1600200"/>
            <a:ext cx="1783080" cy="603504"/>
          </a:xfrm>
          <a:prstGeom prst="roundRect">
            <a:avLst>
              <a:gd name="adj" fmla="val 12121"/>
            </a:avLst>
          </a:prstGeom>
          <a:solidFill>
            <a:srgbClr val="F3F5F9"/>
          </a:solidFill>
          <a:ln w="12700">
            <a:solidFill>
              <a:srgbClr val="D9DEE7"/>
            </a:solidFill>
            <a:prstDash val="solid"/>
          </a:ln>
        </p:spPr>
      </p:sp>
      <p:sp>
        <p:nvSpPr>
          <p:cNvPr id="11" name="Text 9"/>
          <p:cNvSpPr txBox="1"/>
          <p:nvPr/>
        </p:nvSpPr>
        <p:spPr>
          <a:xfrm>
            <a:off x="6995160" y="1600200"/>
            <a:ext cx="1783080" cy="603504"/>
          </a:xfrm>
          <a:prstGeom prst="rect">
            <a:avLst/>
          </a:prstGeom>
          <a:noFill/>
          <a:ln/>
        </p:spPr>
        <p:txBody>
          <a:bodyPr wrap="square" lIns="25400" tIns="25400" rIns="25400" bIns="25400" rtlCol="0" anchor="ctr"/>
          <a:lstStyle/>
          <a:p>
            <a:pPr algn="ctr" indent="0" marL="0">
              <a:buNone/>
            </a:pPr>
            <a:r>
              <a:rPr lang="en-US" sz="1100" dirty="0">
                <a:solidFill>
                  <a:srgbClr val="1B1B1B"/>
                </a:solidFill>
                <a:latin typeface="Calibri" pitchFamily="34" charset="0"/>
                <a:ea typeface="Calibri" pitchFamily="34" charset="-122"/>
                <a:cs typeface="Calibri" pitchFamily="34" charset="-120"/>
              </a:rPr>
              <a:t>LLM: Ollama / vLLM</a:t>
            </a:r>
            <a:endParaRPr lang="en-US" sz="1100" dirty="0"/>
          </a:p>
          <a:p>
            <a:pPr algn="ctr" indent="0" marL="0">
              <a:buNone/>
            </a:pPr>
            <a:r>
              <a:rPr lang="en-US" sz="1100" dirty="0">
                <a:solidFill>
                  <a:srgbClr val="1B1B1B"/>
                </a:solidFill>
                <a:latin typeface="Calibri" pitchFamily="34" charset="0"/>
                <a:ea typeface="Calibri" pitchFamily="34" charset="-122"/>
                <a:cs typeface="Calibri" pitchFamily="34" charset="-120"/>
              </a:rPr>
              <a:t>/ hosted API</a:t>
            </a:r>
            <a:endParaRPr lang="en-US" sz="1100" dirty="0"/>
          </a:p>
        </p:txBody>
      </p:sp>
      <p:sp>
        <p:nvSpPr>
          <p:cNvPr id="12" name="Shape 10"/>
          <p:cNvSpPr/>
          <p:nvPr/>
        </p:nvSpPr>
        <p:spPr>
          <a:xfrm>
            <a:off x="6995160" y="2971800"/>
            <a:ext cx="1783080" cy="603504"/>
          </a:xfrm>
          <a:prstGeom prst="roundRect">
            <a:avLst>
              <a:gd name="adj" fmla="val 12121"/>
            </a:avLst>
          </a:prstGeom>
          <a:solidFill>
            <a:srgbClr val="F3F5F9"/>
          </a:solidFill>
          <a:ln w="12700">
            <a:solidFill>
              <a:srgbClr val="D9DEE7"/>
            </a:solidFill>
            <a:prstDash val="solid"/>
          </a:ln>
        </p:spPr>
      </p:sp>
      <p:sp>
        <p:nvSpPr>
          <p:cNvPr id="13" name="Text 11"/>
          <p:cNvSpPr txBox="1"/>
          <p:nvPr/>
        </p:nvSpPr>
        <p:spPr>
          <a:xfrm>
            <a:off x="6995160" y="2971800"/>
            <a:ext cx="1783080" cy="603504"/>
          </a:xfrm>
          <a:prstGeom prst="rect">
            <a:avLst/>
          </a:prstGeom>
          <a:noFill/>
          <a:ln/>
        </p:spPr>
        <p:txBody>
          <a:bodyPr wrap="square" lIns="25400" tIns="25400" rIns="25400" bIns="25400" rtlCol="0" anchor="ctr"/>
          <a:lstStyle/>
          <a:p>
            <a:pPr algn="ctr" indent="0" marL="0">
              <a:buNone/>
            </a:pPr>
            <a:r>
              <a:rPr lang="en-US" sz="1100" dirty="0">
                <a:solidFill>
                  <a:srgbClr val="1B1B1B"/>
                </a:solidFill>
                <a:latin typeface="Calibri" pitchFamily="34" charset="0"/>
                <a:ea typeface="Calibri" pitchFamily="34" charset="-122"/>
                <a:cs typeface="Calibri" pitchFamily="34" charset="-120"/>
              </a:rPr>
              <a:t>Qdrant hybrid search</a:t>
            </a:r>
            <a:endParaRPr lang="en-US" sz="1100" dirty="0"/>
          </a:p>
          <a:p>
            <a:pPr algn="ctr" indent="0" marL="0">
              <a:buNone/>
            </a:pPr>
            <a:r>
              <a:rPr lang="en-US" sz="1100" dirty="0">
                <a:solidFill>
                  <a:srgbClr val="1B1B1B"/>
                </a:solidFill>
                <a:latin typeface="Calibri" pitchFamily="34" charset="0"/>
                <a:ea typeface="Calibri" pitchFamily="34" charset="-122"/>
                <a:cs typeface="Calibri" pitchFamily="34" charset="-120"/>
              </a:rPr>
              <a:t>(366,479 passages)</a:t>
            </a:r>
            <a:endParaRPr lang="en-US" sz="1100" dirty="0"/>
          </a:p>
        </p:txBody>
      </p:sp>
      <p:sp>
        <p:nvSpPr>
          <p:cNvPr id="14" name="Shape 12"/>
          <p:cNvSpPr/>
          <p:nvPr/>
        </p:nvSpPr>
        <p:spPr>
          <a:xfrm>
            <a:off x="2240280" y="1280160"/>
            <a:ext cx="1828800" cy="603504"/>
          </a:xfrm>
          <a:prstGeom prst="roundRect">
            <a:avLst>
              <a:gd name="adj" fmla="val 12121"/>
            </a:avLst>
          </a:prstGeom>
          <a:solidFill>
            <a:srgbClr val="FFF4CC"/>
          </a:solidFill>
          <a:ln w="12700">
            <a:solidFill>
              <a:srgbClr val="D9DEE7"/>
            </a:solidFill>
            <a:prstDash val="solid"/>
          </a:ln>
        </p:spPr>
      </p:sp>
      <p:sp>
        <p:nvSpPr>
          <p:cNvPr id="15" name="Text 13"/>
          <p:cNvSpPr txBox="1"/>
          <p:nvPr/>
        </p:nvSpPr>
        <p:spPr>
          <a:xfrm>
            <a:off x="2240280" y="1280160"/>
            <a:ext cx="1828800" cy="603504"/>
          </a:xfrm>
          <a:prstGeom prst="rect">
            <a:avLst/>
          </a:prstGeom>
          <a:noFill/>
          <a:ln/>
        </p:spPr>
        <p:txBody>
          <a:bodyPr wrap="square" lIns="25400" tIns="25400" rIns="25400" bIns="25400" rtlCol="0" anchor="ctr"/>
          <a:lstStyle/>
          <a:p>
            <a:pPr algn="ctr" indent="0" marL="0">
              <a:buNone/>
            </a:pPr>
            <a:r>
              <a:rPr lang="en-US" sz="1100" dirty="0">
                <a:solidFill>
                  <a:srgbClr val="1B1B1B"/>
                </a:solidFill>
                <a:latin typeface="Calibri" pitchFamily="34" charset="0"/>
                <a:ea typeface="Calibri" pitchFamily="34" charset="-122"/>
                <a:cs typeface="Calibri" pitchFamily="34" charset="-120"/>
              </a:rPr>
              <a:t>Langfuse traces</a:t>
            </a:r>
            <a:endParaRPr lang="en-US" sz="1100" dirty="0"/>
          </a:p>
          <a:p>
            <a:pPr algn="ctr" indent="0" marL="0">
              <a:buNone/>
            </a:pPr>
            <a:r>
              <a:rPr lang="en-US" sz="1100" dirty="0">
                <a:solidFill>
                  <a:srgbClr val="1B1B1B"/>
                </a:solidFill>
                <a:latin typeface="Calibri" pitchFamily="34" charset="0"/>
                <a:ea typeface="Calibri" pitchFamily="34" charset="-122"/>
                <a:cs typeface="Calibri" pitchFamily="34" charset="-120"/>
              </a:rPr>
              <a:t>Prometheus → Grafana</a:t>
            </a:r>
            <a:endParaRPr lang="en-US" sz="1100" dirty="0"/>
          </a:p>
        </p:txBody>
      </p:sp>
      <p:sp>
        <p:nvSpPr>
          <p:cNvPr id="16" name="Shape 14"/>
          <p:cNvSpPr/>
          <p:nvPr/>
        </p:nvSpPr>
        <p:spPr>
          <a:xfrm>
            <a:off x="1234440" y="3429000"/>
            <a:ext cx="1828800" cy="603504"/>
          </a:xfrm>
          <a:prstGeom prst="roundRect">
            <a:avLst>
              <a:gd name="adj" fmla="val 12121"/>
            </a:avLst>
          </a:prstGeom>
          <a:solidFill>
            <a:srgbClr val="F3F5F9"/>
          </a:solidFill>
          <a:ln w="12700">
            <a:solidFill>
              <a:srgbClr val="D9DEE7"/>
            </a:solidFill>
            <a:prstDash val="solid"/>
          </a:ln>
        </p:spPr>
      </p:sp>
      <p:sp>
        <p:nvSpPr>
          <p:cNvPr id="17" name="Text 15"/>
          <p:cNvSpPr txBox="1"/>
          <p:nvPr/>
        </p:nvSpPr>
        <p:spPr>
          <a:xfrm>
            <a:off x="1234440" y="3429000"/>
            <a:ext cx="1828800" cy="603504"/>
          </a:xfrm>
          <a:prstGeom prst="rect">
            <a:avLst/>
          </a:prstGeom>
          <a:noFill/>
          <a:ln/>
        </p:spPr>
        <p:txBody>
          <a:bodyPr wrap="square" lIns="25400" tIns="25400" rIns="25400" bIns="25400" rtlCol="0" anchor="ctr"/>
          <a:lstStyle/>
          <a:p>
            <a:pPr algn="ctr" indent="0" marL="0">
              <a:buNone/>
            </a:pPr>
            <a:r>
              <a:rPr lang="en-US" sz="1100" dirty="0">
                <a:solidFill>
                  <a:srgbClr val="1B1B1B"/>
                </a:solidFill>
                <a:latin typeface="Calibri" pitchFamily="34" charset="0"/>
                <a:ea typeface="Calibri" pitchFamily="34" charset="-122"/>
                <a:cs typeface="Calibri" pitchFamily="34" charset="-120"/>
              </a:rPr>
              <a:t>PostgreSQL</a:t>
            </a:r>
            <a:endParaRPr lang="en-US" sz="1100" dirty="0"/>
          </a:p>
          <a:p>
            <a:pPr algn="ctr" indent="0" marL="0">
              <a:buNone/>
            </a:pPr>
            <a:r>
              <a:rPr lang="en-US" sz="1100" dirty="0">
                <a:solidFill>
                  <a:srgbClr val="1B1B1B"/>
                </a:solidFill>
                <a:latin typeface="Calibri" pitchFamily="34" charset="0"/>
                <a:ea typeface="Calibri" pitchFamily="34" charset="-122"/>
                <a:cs typeface="Calibri" pitchFamily="34" charset="-120"/>
              </a:rPr>
              <a:t>users · chats · feedback</a:t>
            </a:r>
            <a:endParaRPr lang="en-US" sz="1100" dirty="0"/>
          </a:p>
        </p:txBody>
      </p:sp>
      <p:sp>
        <p:nvSpPr>
          <p:cNvPr id="18" name="Shape 16"/>
          <p:cNvSpPr/>
          <p:nvPr/>
        </p:nvSpPr>
        <p:spPr>
          <a:xfrm>
            <a:off x="3291840" y="3429000"/>
            <a:ext cx="2103120" cy="603504"/>
          </a:xfrm>
          <a:prstGeom prst="roundRect">
            <a:avLst>
              <a:gd name="adj" fmla="val 12121"/>
            </a:avLst>
          </a:prstGeom>
          <a:solidFill>
            <a:srgbClr val="F3F5F9"/>
          </a:solidFill>
          <a:ln w="12700">
            <a:solidFill>
              <a:srgbClr val="D9DEE7"/>
            </a:solidFill>
            <a:prstDash val="solid"/>
          </a:ln>
        </p:spPr>
      </p:sp>
      <p:sp>
        <p:nvSpPr>
          <p:cNvPr id="19" name="Text 17"/>
          <p:cNvSpPr txBox="1"/>
          <p:nvPr/>
        </p:nvSpPr>
        <p:spPr>
          <a:xfrm>
            <a:off x="3291840" y="3429000"/>
            <a:ext cx="2103120" cy="603504"/>
          </a:xfrm>
          <a:prstGeom prst="rect">
            <a:avLst/>
          </a:prstGeom>
          <a:noFill/>
          <a:ln/>
        </p:spPr>
        <p:txBody>
          <a:bodyPr wrap="square" lIns="25400" tIns="25400" rIns="25400" bIns="25400" rtlCol="0" anchor="ctr"/>
          <a:lstStyle/>
          <a:p>
            <a:pPr algn="ctr" indent="0" marL="0">
              <a:buNone/>
            </a:pPr>
            <a:r>
              <a:rPr lang="en-US" sz="1100" dirty="0">
                <a:solidFill>
                  <a:srgbClr val="1B1B1B"/>
                </a:solidFill>
                <a:latin typeface="Calibri" pitchFamily="34" charset="0"/>
                <a:ea typeface="Calibri" pitchFamily="34" charset="-122"/>
                <a:cs typeface="Calibri" pitchFamily="34" charset="-120"/>
              </a:rPr>
              <a:t>Celery + Redis</a:t>
            </a:r>
            <a:endParaRPr lang="en-US" sz="1100" dirty="0"/>
          </a:p>
          <a:p>
            <a:pPr algn="ctr" indent="0" marL="0">
              <a:buNone/>
            </a:pPr>
            <a:r>
              <a:rPr lang="en-US" sz="1100" dirty="0">
                <a:solidFill>
                  <a:srgbClr val="1B1B1B"/>
                </a:solidFill>
                <a:latin typeface="Calibri" pitchFamily="34" charset="0"/>
                <a:ea typeface="Calibri" pitchFamily="34" charset="-122"/>
                <a:cs typeface="Calibri" pitchFamily="34" charset="-120"/>
              </a:rPr>
              <a:t>upload indexing · nightly eval</a:t>
            </a:r>
            <a:endParaRPr lang="en-US" sz="1100" dirty="0"/>
          </a:p>
        </p:txBody>
      </p:sp>
      <p:sp>
        <p:nvSpPr>
          <p:cNvPr id="20" name="Shape 18"/>
          <p:cNvSpPr/>
          <p:nvPr/>
        </p:nvSpPr>
        <p:spPr>
          <a:xfrm>
            <a:off x="1746504" y="2587752"/>
            <a:ext cx="475488" cy="0"/>
          </a:xfrm>
          <a:prstGeom prst="line">
            <a:avLst/>
          </a:prstGeom>
          <a:noFill/>
          <a:ln w="15875">
            <a:solidFill>
              <a:srgbClr val="5B5B5B"/>
            </a:solidFill>
            <a:prstDash val="solid"/>
            <a:tailEnd type="triangle"/>
          </a:ln>
        </p:spPr>
      </p:sp>
      <p:sp>
        <p:nvSpPr>
          <p:cNvPr id="21" name="Shape 19"/>
          <p:cNvSpPr/>
          <p:nvPr/>
        </p:nvSpPr>
        <p:spPr>
          <a:xfrm>
            <a:off x="4078224" y="2587752"/>
            <a:ext cx="475488" cy="0"/>
          </a:xfrm>
          <a:prstGeom prst="line">
            <a:avLst/>
          </a:prstGeom>
          <a:noFill/>
          <a:ln w="15875">
            <a:solidFill>
              <a:srgbClr val="5B5B5B"/>
            </a:solidFill>
            <a:prstDash val="solid"/>
            <a:tailEnd type="triangle"/>
          </a:ln>
        </p:spPr>
      </p:sp>
      <p:sp>
        <p:nvSpPr>
          <p:cNvPr id="22" name="Shape 20"/>
          <p:cNvSpPr/>
          <p:nvPr/>
        </p:nvSpPr>
        <p:spPr>
          <a:xfrm>
            <a:off x="6501384" y="2468880"/>
            <a:ext cx="484632" cy="-548640"/>
          </a:xfrm>
          <a:prstGeom prst="line">
            <a:avLst/>
          </a:prstGeom>
          <a:noFill/>
          <a:ln w="15875">
            <a:solidFill>
              <a:srgbClr val="5B5B5B"/>
            </a:solidFill>
            <a:prstDash val="solid"/>
            <a:tailEnd type="triangle"/>
          </a:ln>
        </p:spPr>
      </p:sp>
      <p:sp>
        <p:nvSpPr>
          <p:cNvPr id="23" name="Shape 21"/>
          <p:cNvSpPr/>
          <p:nvPr/>
        </p:nvSpPr>
        <p:spPr>
          <a:xfrm>
            <a:off x="6501384" y="2706624"/>
            <a:ext cx="484632" cy="548640"/>
          </a:xfrm>
          <a:prstGeom prst="line">
            <a:avLst/>
          </a:prstGeom>
          <a:noFill/>
          <a:ln w="15875">
            <a:solidFill>
              <a:srgbClr val="5B5B5B"/>
            </a:solidFill>
            <a:prstDash val="solid"/>
            <a:tailEnd type="triangle"/>
          </a:ln>
        </p:spPr>
      </p:sp>
      <p:sp>
        <p:nvSpPr>
          <p:cNvPr id="24" name="Shape 22"/>
          <p:cNvSpPr/>
          <p:nvPr/>
        </p:nvSpPr>
        <p:spPr>
          <a:xfrm>
            <a:off x="3154680" y="2276856"/>
            <a:ext cx="0" cy="-384048"/>
          </a:xfrm>
          <a:prstGeom prst="line">
            <a:avLst/>
          </a:prstGeom>
          <a:noFill/>
          <a:ln w="15875">
            <a:solidFill>
              <a:srgbClr val="5B5B5B"/>
            </a:solidFill>
            <a:prstDash val="dash"/>
            <a:tailEnd type="triangle"/>
          </a:ln>
        </p:spPr>
      </p:sp>
      <p:sp>
        <p:nvSpPr>
          <p:cNvPr id="25" name="Shape 23"/>
          <p:cNvSpPr/>
          <p:nvPr/>
        </p:nvSpPr>
        <p:spPr>
          <a:xfrm>
            <a:off x="2743200" y="2898648"/>
            <a:ext cx="-502920" cy="521208"/>
          </a:xfrm>
          <a:prstGeom prst="line">
            <a:avLst/>
          </a:prstGeom>
          <a:noFill/>
          <a:ln w="15875">
            <a:solidFill>
              <a:srgbClr val="5B5B5B"/>
            </a:solidFill>
            <a:prstDash val="solid"/>
            <a:tailEnd type="triangle"/>
          </a:ln>
        </p:spPr>
      </p:sp>
      <p:sp>
        <p:nvSpPr>
          <p:cNvPr id="26" name="Shape 24"/>
          <p:cNvSpPr/>
          <p:nvPr/>
        </p:nvSpPr>
        <p:spPr>
          <a:xfrm>
            <a:off x="3566160" y="2898648"/>
            <a:ext cx="548640" cy="521208"/>
          </a:xfrm>
          <a:prstGeom prst="line">
            <a:avLst/>
          </a:prstGeom>
          <a:noFill/>
          <a:ln w="15875">
            <a:solidFill>
              <a:srgbClr val="5B5B5B"/>
            </a:solidFill>
            <a:prstDash val="solid"/>
            <a:tailEnd type="triangle"/>
          </a:ln>
        </p:spPr>
      </p:sp>
      <p:sp>
        <p:nvSpPr>
          <p:cNvPr id="27" name="Shape 25"/>
          <p:cNvSpPr/>
          <p:nvPr/>
        </p:nvSpPr>
        <p:spPr>
          <a:xfrm>
            <a:off x="5404104" y="3730752"/>
            <a:ext cx="1581912" cy="-429768"/>
          </a:xfrm>
          <a:prstGeom prst="line">
            <a:avLst/>
          </a:prstGeom>
          <a:noFill/>
          <a:ln w="15875">
            <a:solidFill>
              <a:srgbClr val="5B5B5B"/>
            </a:solidFill>
            <a:prstDash val="solid"/>
            <a:tailEnd type="triangle"/>
          </a:ln>
        </p:spPr>
      </p:sp>
      <p:sp>
        <p:nvSpPr>
          <p:cNvPr id="28" name="Text 26"/>
          <p:cNvSpPr txBox="1"/>
          <p:nvPr/>
        </p:nvSpPr>
        <p:spPr>
          <a:xfrm>
            <a:off x="365760" y="4434840"/>
            <a:ext cx="8412480" cy="365760"/>
          </a:xfrm>
          <a:prstGeom prst="rect">
            <a:avLst/>
          </a:prstGeom>
          <a:noFill/>
          <a:ln/>
        </p:spPr>
        <p:txBody>
          <a:bodyPr wrap="square" lIns="0" tIns="0" rIns="0" bIns="0" rtlCol="0" anchor="ctr"/>
          <a:lstStyle/>
          <a:p>
            <a:pPr indent="0" marL="0">
              <a:buNone/>
            </a:pPr>
            <a:r>
              <a:rPr lang="en-US" sz="1150" dirty="0">
                <a:solidFill>
                  <a:srgbClr val="5B5B5B"/>
                </a:solidFill>
                <a:latin typeface="Calibri" pitchFamily="34" charset="0"/>
                <a:ea typeface="Calibri" pitchFamily="34" charset="-122"/>
                <a:cs typeface="Calibri" pitchFamily="34" charset="-120"/>
              </a:rPr>
              <a:t>Research package imported unchanged · ~3,200 lines of service code · 23 service tests + 26 research tests · front end: next slides</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Service features: API, LLMOps and DevOps</a:t>
            </a:r>
            <a:endParaRPr lang="en-US" sz="2800" dirty="0"/>
          </a:p>
        </p:txBody>
      </p:sp>
      <p:sp>
        <p:nvSpPr>
          <p:cNvPr id="3" name="Shape 1"/>
          <p:cNvSpPr/>
          <p:nvPr/>
        </p:nvSpPr>
        <p:spPr>
          <a:xfrm>
            <a:off x="365760" y="1097280"/>
            <a:ext cx="2697480" cy="3063240"/>
          </a:xfrm>
          <a:prstGeom prst="roundRect">
            <a:avLst>
              <a:gd name="adj" fmla="val 2712"/>
            </a:avLst>
          </a:prstGeom>
          <a:solidFill>
            <a:srgbClr val="F3F5F9"/>
          </a:solidFill>
          <a:ln w="12700">
            <a:solidFill>
              <a:srgbClr val="F3F5F9"/>
            </a:solidFill>
            <a:prstDash val="solid"/>
          </a:ln>
        </p:spPr>
      </p:sp>
      <p:sp>
        <p:nvSpPr>
          <p:cNvPr id="4" name="Shape 2"/>
          <p:cNvSpPr/>
          <p:nvPr/>
        </p:nvSpPr>
        <p:spPr>
          <a:xfrm>
            <a:off x="548640" y="1261872"/>
            <a:ext cx="292608" cy="292608"/>
          </a:xfrm>
          <a:prstGeom prst="ellipse">
            <a:avLst/>
          </a:prstGeom>
          <a:solidFill>
            <a:srgbClr val="2A78D6"/>
          </a:solidFill>
          <a:ln w="12700">
            <a:solidFill>
              <a:srgbClr val="2A78D6"/>
            </a:solidFill>
            <a:prstDash val="solid"/>
          </a:ln>
        </p:spPr>
      </p:sp>
      <p:sp>
        <p:nvSpPr>
          <p:cNvPr id="5" name="Text 3"/>
          <p:cNvSpPr txBox="1"/>
          <p:nvPr/>
        </p:nvSpPr>
        <p:spPr>
          <a:xfrm>
            <a:off x="932688" y="1216152"/>
            <a:ext cx="2011680" cy="384048"/>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API &amp; data</a:t>
            </a:r>
            <a:endParaRPr lang="en-US" sz="1600" dirty="0"/>
          </a:p>
        </p:txBody>
      </p:sp>
      <p:sp>
        <p:nvSpPr>
          <p:cNvPr id="6" name="Text 4"/>
          <p:cNvSpPr txBox="1"/>
          <p:nvPr/>
        </p:nvSpPr>
        <p:spPr>
          <a:xfrm>
            <a:off x="548640" y="1737360"/>
            <a:ext cx="2377440" cy="26974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1B1B"/>
                </a:solidFill>
                <a:latin typeface="Calibri" pitchFamily="34" charset="0"/>
                <a:ea typeface="Calibri" pitchFamily="34" charset="-122"/>
                <a:cs typeface="Calibri" pitchFamily="34" charset="-120"/>
              </a:rPr>
              <a:t>POST /chat/stream: streamed agent steps, tokens and final answer</a:t>
            </a:r>
            <a:endParaRPr lang="en-US" sz="1150" dirty="0"/>
          </a:p>
          <a:p>
            <a:pPr marL="342900" indent="-342900">
              <a:spcAft>
                <a:spcPts val="600"/>
              </a:spcAft>
              <a:buSzPct val="100000"/>
              <a:buChar char="•"/>
            </a:pPr>
            <a:r>
              <a:rPr lang="en-US" sz="1150" dirty="0">
                <a:solidFill>
                  <a:srgbClr val="1B1B1B"/>
                </a:solidFill>
                <a:latin typeface="Calibri" pitchFamily="34" charset="0"/>
                <a:ea typeface="Calibri" pitchFamily="34" charset="-122"/>
                <a:cs typeface="Calibri" pitchFamily="34" charset="-120"/>
              </a:rPr>
              <a:t>Conversations, feedback (e.g. wrong_refusal), private collections and uploads</a:t>
            </a:r>
            <a:endParaRPr lang="en-US" sz="1150" dirty="0"/>
          </a:p>
          <a:p>
            <a:pPr marL="342900" indent="-342900">
              <a:spcAft>
                <a:spcPts val="600"/>
              </a:spcAft>
              <a:buSzPct val="100000"/>
              <a:buChar char="•"/>
            </a:pPr>
            <a:r>
              <a:rPr lang="en-US" sz="1150" dirty="0">
                <a:solidFill>
                  <a:srgbClr val="1B1B1B"/>
                </a:solidFill>
                <a:latin typeface="Calibri" pitchFamily="34" charset="0"/>
                <a:ea typeface="Calibri" pitchFamily="34" charset="-122"/>
                <a:cs typeface="Calibri" pitchFamily="34" charset="-120"/>
              </a:rPr>
              <a:t>/metrics/abstention: refusal rate by day, turn and collection</a:t>
            </a:r>
            <a:endParaRPr lang="en-US" sz="1150" dirty="0"/>
          </a:p>
          <a:p>
            <a:pPr marL="342900" indent="-342900">
              <a:spcAft>
                <a:spcPts val="600"/>
              </a:spcAft>
              <a:buSzPct val="100000"/>
              <a:buChar char="•"/>
            </a:pPr>
            <a:r>
              <a:rPr lang="en-US" sz="1150" dirty="0">
                <a:solidFill>
                  <a:srgbClr val="1B1B1B"/>
                </a:solidFill>
                <a:latin typeface="Calibri" pitchFamily="34" charset="0"/>
                <a:ea typeface="Calibri" pitchFamily="34" charset="-122"/>
                <a:cs typeface="Calibri" pitchFamily="34" charset="-120"/>
              </a:rPr>
              <a:t>PostgreSQL + Alembic; JWT auth (Clerk / Auth.js); rate limits</a:t>
            </a:r>
            <a:endParaRPr lang="en-US" sz="1150" dirty="0"/>
          </a:p>
        </p:txBody>
      </p:sp>
      <p:sp>
        <p:nvSpPr>
          <p:cNvPr id="7" name="Shape 5"/>
          <p:cNvSpPr/>
          <p:nvPr/>
        </p:nvSpPr>
        <p:spPr>
          <a:xfrm>
            <a:off x="3200400" y="1097280"/>
            <a:ext cx="2697480" cy="3063240"/>
          </a:xfrm>
          <a:prstGeom prst="roundRect">
            <a:avLst>
              <a:gd name="adj" fmla="val 2712"/>
            </a:avLst>
          </a:prstGeom>
          <a:solidFill>
            <a:srgbClr val="F3F5F9"/>
          </a:solidFill>
          <a:ln w="12700">
            <a:solidFill>
              <a:srgbClr val="F3F5F9"/>
            </a:solidFill>
            <a:prstDash val="solid"/>
          </a:ln>
        </p:spPr>
      </p:sp>
      <p:sp>
        <p:nvSpPr>
          <p:cNvPr id="8" name="Shape 6"/>
          <p:cNvSpPr/>
          <p:nvPr/>
        </p:nvSpPr>
        <p:spPr>
          <a:xfrm>
            <a:off x="3383280" y="1261872"/>
            <a:ext cx="292608" cy="292608"/>
          </a:xfrm>
          <a:prstGeom prst="ellipse">
            <a:avLst/>
          </a:prstGeom>
          <a:solidFill>
            <a:srgbClr val="EB6834"/>
          </a:solidFill>
          <a:ln w="12700">
            <a:solidFill>
              <a:srgbClr val="EB6834"/>
            </a:solidFill>
            <a:prstDash val="solid"/>
          </a:ln>
        </p:spPr>
      </p:sp>
      <p:sp>
        <p:nvSpPr>
          <p:cNvPr id="9" name="Text 7"/>
          <p:cNvSpPr txBox="1"/>
          <p:nvPr/>
        </p:nvSpPr>
        <p:spPr>
          <a:xfrm>
            <a:off x="3767328" y="1216152"/>
            <a:ext cx="2011680" cy="384048"/>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LLMOps</a:t>
            </a:r>
            <a:endParaRPr lang="en-US" sz="1600" dirty="0"/>
          </a:p>
        </p:txBody>
      </p:sp>
      <p:sp>
        <p:nvSpPr>
          <p:cNvPr id="10" name="Text 8"/>
          <p:cNvSpPr txBox="1"/>
          <p:nvPr/>
        </p:nvSpPr>
        <p:spPr>
          <a:xfrm>
            <a:off x="3383280" y="1737360"/>
            <a:ext cx="2377440" cy="26974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1B1B"/>
                </a:solidFill>
                <a:latin typeface="Calibri" pitchFamily="34" charset="0"/>
                <a:ea typeface="Calibri" pitchFamily="34" charset="-122"/>
                <a:cs typeface="Calibri" pitchFamily="34" charset="-120"/>
              </a:rPr>
              <a:t>Langfuse: one readable trace per turn ("chat · cloud · turn 1 · blocked")</a:t>
            </a:r>
            <a:endParaRPr lang="en-US" sz="1150" dirty="0"/>
          </a:p>
          <a:p>
            <a:pPr marL="342900" indent="-342900">
              <a:spcAft>
                <a:spcPts val="600"/>
              </a:spcAft>
              <a:buSzPct val="100000"/>
              <a:buChar char="•"/>
            </a:pPr>
            <a:r>
              <a:rPr lang="en-US" sz="1150" dirty="0">
                <a:solidFill>
                  <a:srgbClr val="1B1B1B"/>
                </a:solidFill>
                <a:latin typeface="Calibri" pitchFamily="34" charset="0"/>
                <a:ea typeface="Calibri" pitchFamily="34" charset="-122"/>
                <a:cs typeface="Calibri" pitchFamily="34" charset="-120"/>
              </a:rPr>
              <a:t>Prometheus + Grafana dashboard and alerts; Sentry for errors</a:t>
            </a:r>
            <a:endParaRPr lang="en-US" sz="1150" dirty="0"/>
          </a:p>
          <a:p>
            <a:pPr marL="342900" indent="-342900">
              <a:spcAft>
                <a:spcPts val="600"/>
              </a:spcAft>
              <a:buSzPct val="100000"/>
              <a:buChar char="•"/>
            </a:pPr>
            <a:r>
              <a:rPr lang="en-US" sz="1150" dirty="0">
                <a:solidFill>
                  <a:srgbClr val="1B1B1B"/>
                </a:solidFill>
                <a:latin typeface="Calibri" pitchFamily="34" charset="0"/>
                <a:ea typeface="Calibri" pitchFamily="34" charset="-122"/>
                <a:cs typeface="Calibri" pitchFamily="34" charset="-120"/>
              </a:rPr>
              <a:t>Prompt, model, τ and min_p versions stored with every answer</a:t>
            </a:r>
            <a:endParaRPr lang="en-US" sz="1150" dirty="0"/>
          </a:p>
          <a:p>
            <a:pPr marL="342900" indent="-342900">
              <a:spcAft>
                <a:spcPts val="600"/>
              </a:spcAft>
              <a:buSzPct val="100000"/>
              <a:buChar char="•"/>
            </a:pPr>
            <a:r>
              <a:rPr lang="en-US" sz="1150" dirty="0">
                <a:solidFill>
                  <a:srgbClr val="1B1B1B"/>
                </a:solidFill>
                <a:latin typeface="Calibri" pitchFamily="34" charset="0"/>
                <a:ea typeface="Calibri" pitchFamily="34" charset="-122"/>
                <a:cs typeface="Calibri" pitchFamily="34" charset="-120"/>
              </a:rPr>
              <a:t>Quality gate: 150-turn sample, fails if F1 drops &gt; 0.03 or FA &gt; 0.25</a:t>
            </a:r>
            <a:endParaRPr lang="en-US" sz="1150" dirty="0"/>
          </a:p>
        </p:txBody>
      </p:sp>
      <p:sp>
        <p:nvSpPr>
          <p:cNvPr id="11" name="Shape 9"/>
          <p:cNvSpPr/>
          <p:nvPr/>
        </p:nvSpPr>
        <p:spPr>
          <a:xfrm>
            <a:off x="6035040" y="1097280"/>
            <a:ext cx="2697480" cy="3063240"/>
          </a:xfrm>
          <a:prstGeom prst="roundRect">
            <a:avLst>
              <a:gd name="adj" fmla="val 2712"/>
            </a:avLst>
          </a:prstGeom>
          <a:solidFill>
            <a:srgbClr val="F3F5F9"/>
          </a:solidFill>
          <a:ln w="12700">
            <a:solidFill>
              <a:srgbClr val="F3F5F9"/>
            </a:solidFill>
            <a:prstDash val="solid"/>
          </a:ln>
        </p:spPr>
      </p:sp>
      <p:sp>
        <p:nvSpPr>
          <p:cNvPr id="12" name="Shape 10"/>
          <p:cNvSpPr/>
          <p:nvPr/>
        </p:nvSpPr>
        <p:spPr>
          <a:xfrm>
            <a:off x="6217920" y="1261872"/>
            <a:ext cx="292608" cy="292608"/>
          </a:xfrm>
          <a:prstGeom prst="ellipse">
            <a:avLst/>
          </a:prstGeom>
          <a:solidFill>
            <a:srgbClr val="1BAF7A"/>
          </a:solidFill>
          <a:ln w="12700">
            <a:solidFill>
              <a:srgbClr val="1BAF7A"/>
            </a:solidFill>
            <a:prstDash val="solid"/>
          </a:ln>
        </p:spPr>
      </p:sp>
      <p:sp>
        <p:nvSpPr>
          <p:cNvPr id="13" name="Text 11"/>
          <p:cNvSpPr txBox="1"/>
          <p:nvPr/>
        </p:nvSpPr>
        <p:spPr>
          <a:xfrm>
            <a:off x="6601968" y="1216152"/>
            <a:ext cx="2011680" cy="384048"/>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DevOps</a:t>
            </a:r>
            <a:endParaRPr lang="en-US" sz="1600" dirty="0"/>
          </a:p>
        </p:txBody>
      </p:sp>
      <p:sp>
        <p:nvSpPr>
          <p:cNvPr id="14" name="Text 12"/>
          <p:cNvSpPr txBox="1"/>
          <p:nvPr/>
        </p:nvSpPr>
        <p:spPr>
          <a:xfrm>
            <a:off x="6217920" y="1737360"/>
            <a:ext cx="2377440" cy="26974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1B1B"/>
                </a:solidFill>
                <a:latin typeface="Calibri" pitchFamily="34" charset="0"/>
                <a:ea typeface="Calibri" pitchFamily="34" charset="-122"/>
                <a:cs typeface="Calibri" pitchFamily="34" charset="-120"/>
              </a:rPr>
              <a:t>Docker Compose: API, worker, Postgres, Redis, Qdrant, Langfuse, Grafana</a:t>
            </a:r>
            <a:endParaRPr lang="en-US" sz="1150" dirty="0"/>
          </a:p>
          <a:p>
            <a:pPr marL="342900" indent="-342900">
              <a:spcAft>
                <a:spcPts val="600"/>
              </a:spcAft>
              <a:buSzPct val="100000"/>
              <a:buChar char="•"/>
            </a:pPr>
            <a:r>
              <a:rPr lang="en-US" sz="1150" dirty="0">
                <a:solidFill>
                  <a:srgbClr val="1B1B1B"/>
                </a:solidFill>
                <a:latin typeface="Calibri" pitchFamily="34" charset="0"/>
                <a:ea typeface="Calibri" pitchFamily="34" charset="-122"/>
                <a:cs typeface="Calibri" pitchFamily="34" charset="-120"/>
              </a:rPr>
              <a:t>uv workspace + Ruff; GitHub Actions: lint, tests, gate, image</a:t>
            </a:r>
            <a:endParaRPr lang="en-US" sz="1150" dirty="0"/>
          </a:p>
          <a:p>
            <a:pPr marL="342900" indent="-342900">
              <a:spcAft>
                <a:spcPts val="600"/>
              </a:spcAft>
              <a:buSzPct val="100000"/>
              <a:buChar char="•"/>
            </a:pPr>
            <a:r>
              <a:rPr lang="en-US" sz="1150" dirty="0">
                <a:solidFill>
                  <a:srgbClr val="1B1B1B"/>
                </a:solidFill>
                <a:latin typeface="Calibri" pitchFamily="34" charset="0"/>
                <a:ea typeface="Calibri" pitchFamily="34" charset="-122"/>
                <a:cs typeface="Calibri" pitchFamily="34" charset="-120"/>
              </a:rPr>
              <a:t>Deploy files: Fly.io, Render, Kubernetes (vLLM), Modal, RunPod</a:t>
            </a:r>
            <a:endParaRPr lang="en-US" sz="1150" dirty="0"/>
          </a:p>
          <a:p>
            <a:pPr marL="342900" indent="-342900">
              <a:spcAft>
                <a:spcPts val="600"/>
              </a:spcAft>
              <a:buSzPct val="100000"/>
              <a:buChar char="•"/>
            </a:pPr>
            <a:r>
              <a:rPr lang="en-US" sz="1150" dirty="0">
                <a:solidFill>
                  <a:srgbClr val="1B1B1B"/>
                </a:solidFill>
                <a:latin typeface="Calibri" pitchFamily="34" charset="0"/>
                <a:ea typeface="Calibri" pitchFamily="34" charset="-122"/>
                <a:cs typeface="Calibri" pitchFamily="34" charset="-120"/>
              </a:rPr>
              <a:t>Nightly evaluation with Celery beat</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Guardrails with Guardrails AI</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Custom validators on every question, answer and uploaded chunk</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5120640" cy="914400"/>
        </p:xfrm>
        <a:graphic>
          <a:graphicData uri="http://schemas.openxmlformats.org/drawingml/2006/table">
            <a:tbl>
              <a:tblPr/>
              <a:tblGrid>
                <a:gridCol w="914400"/>
                <a:gridCol w="2651760"/>
                <a:gridCol w="1554480"/>
              </a:tblGrid>
              <a:tr h="4114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Check</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Action</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r>
              <a:tr h="411480">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Question</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Prompt injection / jailbreak</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Blocked, no LLM call</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11480">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Question</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Threats, harassment</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Blocked</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11480">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Question</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E-mail, phone, cards, keys, Aadhaar, PAN</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Redacted</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11480">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Answer</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Toxicity</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Blocked</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11480">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Answer</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Personal data, secrets</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Redacted</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11480">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Upload</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Injection in a chunk</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Chunk dropped</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bl>
          </a:graphicData>
        </a:graphic>
      </p:graphicFrame>
      <p:sp>
        <p:nvSpPr>
          <p:cNvPr id="5" name="Text 2"/>
          <p:cNvSpPr txBox="1"/>
          <p:nvPr/>
        </p:nvSpPr>
        <p:spPr>
          <a:xfrm>
            <a:off x="5852160" y="1143000"/>
            <a:ext cx="2926080" cy="685800"/>
          </a:xfrm>
          <a:prstGeom prst="rect">
            <a:avLst/>
          </a:prstGeom>
          <a:noFill/>
          <a:ln/>
        </p:spPr>
        <p:txBody>
          <a:bodyPr wrap="square" lIns="0" tIns="0" rIns="0" bIns="0" rtlCol="0" anchor="ctr"/>
          <a:lstStyle/>
          <a:p>
            <a:pPr indent="0" marL="0">
              <a:buNone/>
            </a:pPr>
            <a:r>
              <a:rPr lang="en-US" sz="3000" b="1" dirty="0">
                <a:solidFill>
                  <a:srgbClr val="2A78D6"/>
                </a:solidFill>
                <a:latin typeface="Cambria" pitchFamily="34" charset="0"/>
                <a:ea typeface="Cambria" pitchFamily="34" charset="-122"/>
                <a:cs typeface="Cambria" pitchFamily="34" charset="-120"/>
              </a:rPr>
              <a:t>0 / 1,349</a:t>
            </a:r>
            <a:endParaRPr lang="en-US" sz="3000" dirty="0"/>
          </a:p>
        </p:txBody>
      </p:sp>
      <p:sp>
        <p:nvSpPr>
          <p:cNvPr id="6" name="Text 3"/>
          <p:cNvSpPr txBox="1"/>
          <p:nvPr/>
        </p:nvSpPr>
        <p:spPr>
          <a:xfrm>
            <a:off x="5852160" y="1828800"/>
            <a:ext cx="2926080" cy="548640"/>
          </a:xfrm>
          <a:prstGeom prst="rect">
            <a:avLst/>
          </a:prstGeom>
          <a:noFill/>
          <a:ln/>
        </p:spPr>
        <p:txBody>
          <a:bodyPr wrap="square" lIns="0" tIns="0" rIns="0" bIns="0" rtlCol="0" anchor="t"/>
          <a:lstStyle/>
          <a:p>
            <a:pPr indent="0" marL="0">
              <a:buNone/>
            </a:pPr>
            <a:r>
              <a:rPr lang="en-US" sz="1200" dirty="0">
                <a:solidFill>
                  <a:srgbClr val="5B5B5B"/>
                </a:solidFill>
                <a:latin typeface="Calibri" pitchFamily="34" charset="0"/>
                <a:ea typeface="Calibri" pitchFamily="34" charset="-122"/>
                <a:cs typeface="Calibri" pitchFamily="34" charset="-120"/>
              </a:rPr>
              <a:t>real MTRAG questions blocked or redacted (no false alarms)</a:t>
            </a:r>
            <a:endParaRPr lang="en-US" sz="1200" dirty="0"/>
          </a:p>
        </p:txBody>
      </p:sp>
      <p:sp>
        <p:nvSpPr>
          <p:cNvPr id="7" name="Text 4"/>
          <p:cNvSpPr txBox="1"/>
          <p:nvPr/>
        </p:nvSpPr>
        <p:spPr>
          <a:xfrm>
            <a:off x="5852160" y="2240280"/>
            <a:ext cx="2926080" cy="685800"/>
          </a:xfrm>
          <a:prstGeom prst="rect">
            <a:avLst/>
          </a:prstGeom>
          <a:noFill/>
          <a:ln/>
        </p:spPr>
        <p:txBody>
          <a:bodyPr wrap="square" lIns="0" tIns="0" rIns="0" bIns="0" rtlCol="0" anchor="ctr"/>
          <a:lstStyle/>
          <a:p>
            <a:pPr indent="0" marL="0">
              <a:buNone/>
            </a:pPr>
            <a:r>
              <a:rPr lang="en-US" sz="3000" b="1" dirty="0">
                <a:solidFill>
                  <a:srgbClr val="2A78D6"/>
                </a:solidFill>
                <a:latin typeface="Cambria" pitchFamily="34" charset="0"/>
                <a:ea typeface="Cambria" pitchFamily="34" charset="-122"/>
                <a:cs typeface="Cambria" pitchFamily="34" charset="-120"/>
              </a:rPr>
              <a:t>0 / 24,004</a:t>
            </a:r>
            <a:endParaRPr lang="en-US" sz="3000" dirty="0"/>
          </a:p>
        </p:txBody>
      </p:sp>
      <p:sp>
        <p:nvSpPr>
          <p:cNvPr id="8" name="Text 5"/>
          <p:cNvSpPr txBox="1"/>
          <p:nvPr/>
        </p:nvSpPr>
        <p:spPr>
          <a:xfrm>
            <a:off x="5852160" y="2926080"/>
            <a:ext cx="2926080" cy="548640"/>
          </a:xfrm>
          <a:prstGeom prst="rect">
            <a:avLst/>
          </a:prstGeom>
          <a:noFill/>
          <a:ln/>
        </p:spPr>
        <p:txBody>
          <a:bodyPr wrap="square" lIns="0" tIns="0" rIns="0" bIns="0" rtlCol="0" anchor="t"/>
          <a:lstStyle/>
          <a:p>
            <a:pPr indent="0" marL="0">
              <a:buNone/>
            </a:pPr>
            <a:r>
              <a:rPr lang="en-US" sz="1200" dirty="0">
                <a:solidFill>
                  <a:srgbClr val="5B5B5B"/>
                </a:solidFill>
                <a:latin typeface="Calibri" pitchFamily="34" charset="0"/>
                <a:ea typeface="Calibri" pitchFamily="34" charset="-122"/>
                <a:cs typeface="Calibri" pitchFamily="34" charset="-120"/>
              </a:rPr>
              <a:t>corpus passages flagged after re-tuning (first version: 2.3% of IBM Cloud docs)</a:t>
            </a:r>
            <a:endParaRPr lang="en-US" sz="1200" dirty="0"/>
          </a:p>
        </p:txBody>
      </p:sp>
      <p:sp>
        <p:nvSpPr>
          <p:cNvPr id="9" name="Text 6"/>
          <p:cNvSpPr txBox="1"/>
          <p:nvPr/>
        </p:nvSpPr>
        <p:spPr>
          <a:xfrm>
            <a:off x="5852160" y="3337560"/>
            <a:ext cx="2926080" cy="685800"/>
          </a:xfrm>
          <a:prstGeom prst="rect">
            <a:avLst/>
          </a:prstGeom>
          <a:noFill/>
          <a:ln/>
        </p:spPr>
        <p:txBody>
          <a:bodyPr wrap="square" lIns="0" tIns="0" rIns="0" bIns="0" rtlCol="0" anchor="ctr"/>
          <a:lstStyle/>
          <a:p>
            <a:pPr indent="0" marL="0">
              <a:buNone/>
            </a:pPr>
            <a:r>
              <a:rPr lang="en-US" sz="3000" b="1" dirty="0">
                <a:solidFill>
                  <a:srgbClr val="EB6834"/>
                </a:solidFill>
                <a:latin typeface="Cambria" pitchFamily="34" charset="0"/>
                <a:ea typeface="Cambria" pitchFamily="34" charset="-122"/>
                <a:cs typeface="Cambria" pitchFamily="34" charset="-120"/>
              </a:rPr>
              <a:t>0 ms</a:t>
            </a:r>
            <a:endParaRPr lang="en-US" sz="3000" dirty="0"/>
          </a:p>
        </p:txBody>
      </p:sp>
      <p:sp>
        <p:nvSpPr>
          <p:cNvPr id="10" name="Text 7"/>
          <p:cNvSpPr txBox="1"/>
          <p:nvPr/>
        </p:nvSpPr>
        <p:spPr>
          <a:xfrm>
            <a:off x="5852160" y="4023360"/>
            <a:ext cx="2926080" cy="548640"/>
          </a:xfrm>
          <a:prstGeom prst="rect">
            <a:avLst/>
          </a:prstGeom>
          <a:noFill/>
          <a:ln/>
        </p:spPr>
        <p:txBody>
          <a:bodyPr wrap="square" lIns="0" tIns="0" rIns="0" bIns="0" rtlCol="0" anchor="t"/>
          <a:lstStyle/>
          <a:p>
            <a:pPr indent="0" marL="0">
              <a:buNone/>
            </a:pPr>
            <a:r>
              <a:rPr lang="en-US" sz="1200" dirty="0">
                <a:solidFill>
                  <a:srgbClr val="5B5B5B"/>
                </a:solidFill>
                <a:latin typeface="Calibri" pitchFamily="34" charset="0"/>
                <a:ea typeface="Calibri" pitchFamily="34" charset="-122"/>
                <a:cs typeface="Calibri" pitchFamily="34" charset="-120"/>
              </a:rPr>
              <a:t>to block "Ignore all previous instructions…"; before, it was answered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What end-to-end testing found</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Problems the offline evaluation could not show, all fixed</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8412480" cy="914400"/>
        </p:xfrm>
        <a:graphic>
          <a:graphicData uri="http://schemas.openxmlformats.org/drawingml/2006/table">
            <a:tbl>
              <a:tblPr/>
              <a:tblGrid>
                <a:gridCol w="4206240"/>
                <a:gridCol w="4206240"/>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Problem</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Fix</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r>
              <a:tr h="402336">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Refusals with a curly apostrophe ("don’t") counted as answers</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Normalise apostrophes; re-scoring all saved research predictions changed 0 decisions</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02336">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Upload chunks (~1,400 chars) longer than the 1,000 chars the LLM reads</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150-word chunks, hard 1,000-character cap</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02336">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Chunks lost their section, so the right one was not retrieved</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Contextual chunk headers ("Appendix A. Prompts")</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02336">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Retry repeated the same query</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Skip straight to clarify-or-abstain</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02336">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Grafana lost the first event of each counter (0% abstention)</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Start every counter series at 0</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02336">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Needless clarifying question on turn 1</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CLARIFY_MIN_TURN option (off by default)</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402336">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MinIO image removed; editable install broke the image</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50" dirty="0">
                          <a:solidFill>
                            <a:srgbClr val="1B1B1B"/>
                          </a:solidFill>
                          <a:latin typeface="Calibri" pitchFamily="34" charset="0"/>
                          <a:ea typeface="Calibri" pitchFamily="34" charset="-122"/>
                          <a:cs typeface="Calibri" pitchFamily="34" charset="-120"/>
                        </a:rPr>
                        <a:t>SeaweedFS for Langfuse; non-editable uv install</a:t>
                      </a:r>
                      <a:endParaRPr lang="en-US" sz="115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Uploads: one question, three chunking versions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"What is the answer generation system prompt given in the appendix of the report?" (this report uploaded)</a:t>
            </a:r>
            <a:endParaRPr lang="en-US" sz="1400" dirty="0"/>
          </a:p>
        </p:txBody>
      </p:sp>
      <p:sp>
        <p:nvSpPr>
          <p:cNvPr id="4" name="Shape 2"/>
          <p:cNvSpPr/>
          <p:nvPr/>
        </p:nvSpPr>
        <p:spPr>
          <a:xfrm>
            <a:off x="365760" y="1325880"/>
            <a:ext cx="2697480" cy="2514600"/>
          </a:xfrm>
          <a:prstGeom prst="roundRect">
            <a:avLst>
              <a:gd name="adj" fmla="val 2909"/>
            </a:avLst>
          </a:prstGeom>
          <a:solidFill>
            <a:srgbClr val="FBE0E0"/>
          </a:solidFill>
          <a:ln w="12700">
            <a:solidFill>
              <a:srgbClr val="FBE0E0"/>
            </a:solidFill>
            <a:prstDash val="solid"/>
          </a:ln>
        </p:spPr>
      </p:sp>
      <p:sp>
        <p:nvSpPr>
          <p:cNvPr id="5" name="Text 3"/>
          <p:cNvSpPr txBox="1"/>
          <p:nvPr/>
        </p:nvSpPr>
        <p:spPr>
          <a:xfrm>
            <a:off x="548640" y="1417320"/>
            <a:ext cx="2377440" cy="45720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220-word chunks</a:t>
            </a:r>
            <a:endParaRPr lang="en-US" sz="1500" dirty="0"/>
          </a:p>
        </p:txBody>
      </p:sp>
      <p:sp>
        <p:nvSpPr>
          <p:cNvPr id="6" name="Text 4"/>
          <p:cNvSpPr txBox="1"/>
          <p:nvPr/>
        </p:nvSpPr>
        <p:spPr>
          <a:xfrm>
            <a:off x="548640" y="1920240"/>
            <a:ext cx="2377440" cy="1051560"/>
          </a:xfrm>
          <a:prstGeom prst="rect">
            <a:avLst/>
          </a:prstGeom>
          <a:noFill/>
          <a:ln/>
        </p:spPr>
        <p:txBody>
          <a:bodyPr wrap="square" lIns="0" tIns="0" rIns="0" bIns="0" rtlCol="0" anchor="t"/>
          <a:lstStyle/>
          <a:p>
            <a:pPr indent="0" marL="0">
              <a:buNone/>
            </a:pPr>
            <a:r>
              <a:rPr lang="en-US" sz="1150" dirty="0">
                <a:solidFill>
                  <a:srgbClr val="1B1B1B"/>
                </a:solidFill>
                <a:latin typeface="Calibri" pitchFamily="34" charset="0"/>
                <a:ea typeface="Calibri" pitchFamily="34" charset="-122"/>
                <a:cs typeface="Calibri" pitchFamily="34" charset="-120"/>
              </a:rPr>
              <a:t>Top passage: references + start of the appendix; the prompt was beyond the 1,000-character cut</a:t>
            </a:r>
            <a:endParaRPr lang="en-US" sz="1150" dirty="0"/>
          </a:p>
        </p:txBody>
      </p:sp>
      <p:sp>
        <p:nvSpPr>
          <p:cNvPr id="7" name="Text 5"/>
          <p:cNvSpPr txBox="1"/>
          <p:nvPr/>
        </p:nvSpPr>
        <p:spPr>
          <a:xfrm>
            <a:off x="548640" y="3017520"/>
            <a:ext cx="2377440" cy="731520"/>
          </a:xfrm>
          <a:prstGeom prst="rect">
            <a:avLst/>
          </a:prstGeom>
          <a:noFill/>
          <a:ln/>
        </p:spPr>
        <p:txBody>
          <a:bodyPr wrap="square" lIns="0" tIns="0" rIns="0" bIns="0" rtlCol="0" anchor="t"/>
          <a:lstStyle/>
          <a:p>
            <a:pPr indent="0" marL="0">
              <a:buNone/>
            </a:pPr>
            <a:r>
              <a:rPr lang="en-US" sz="1150" b="1" dirty="0">
                <a:solidFill>
                  <a:srgbClr val="14213D"/>
                </a:solidFill>
                <a:latin typeface="Calibri" pitchFamily="34" charset="0"/>
                <a:ea typeface="Calibri" pitchFamily="34" charset="-122"/>
                <a:cs typeface="Calibri" pitchFamily="34" charset="-120"/>
              </a:rPr>
              <a:t>Wrong answer: "Query rewriting – user message"</a:t>
            </a:r>
            <a:endParaRPr lang="en-US" sz="1150" dirty="0"/>
          </a:p>
        </p:txBody>
      </p:sp>
      <p:sp>
        <p:nvSpPr>
          <p:cNvPr id="8" name="Shape 6"/>
          <p:cNvSpPr/>
          <p:nvPr/>
        </p:nvSpPr>
        <p:spPr>
          <a:xfrm>
            <a:off x="3200400" y="1325880"/>
            <a:ext cx="2697480" cy="2514600"/>
          </a:xfrm>
          <a:prstGeom prst="roundRect">
            <a:avLst>
              <a:gd name="adj" fmla="val 2909"/>
            </a:avLst>
          </a:prstGeom>
          <a:solidFill>
            <a:srgbClr val="FFF4CC"/>
          </a:solidFill>
          <a:ln w="12700">
            <a:solidFill>
              <a:srgbClr val="FFF4CC"/>
            </a:solidFill>
            <a:prstDash val="solid"/>
          </a:ln>
        </p:spPr>
      </p:sp>
      <p:sp>
        <p:nvSpPr>
          <p:cNvPr id="9" name="Text 7"/>
          <p:cNvSpPr txBox="1"/>
          <p:nvPr/>
        </p:nvSpPr>
        <p:spPr>
          <a:xfrm>
            <a:off x="3383280" y="1417320"/>
            <a:ext cx="2377440" cy="45720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150-word chunks</a:t>
            </a:r>
            <a:endParaRPr lang="en-US" sz="1500" dirty="0"/>
          </a:p>
        </p:txBody>
      </p:sp>
      <p:sp>
        <p:nvSpPr>
          <p:cNvPr id="10" name="Text 8"/>
          <p:cNvSpPr txBox="1"/>
          <p:nvPr/>
        </p:nvSpPr>
        <p:spPr>
          <a:xfrm>
            <a:off x="3383280" y="1920240"/>
            <a:ext cx="2377440" cy="1051560"/>
          </a:xfrm>
          <a:prstGeom prst="rect">
            <a:avLst/>
          </a:prstGeom>
          <a:noFill/>
          <a:ln/>
        </p:spPr>
        <p:txBody>
          <a:bodyPr wrap="square" lIns="0" tIns="0" rIns="0" bIns="0" rtlCol="0" anchor="t"/>
          <a:lstStyle/>
          <a:p>
            <a:pPr indent="0" marL="0">
              <a:buNone/>
            </a:pPr>
            <a:r>
              <a:rPr lang="en-US" sz="1150" dirty="0">
                <a:solidFill>
                  <a:srgbClr val="1B1B1B"/>
                </a:solidFill>
                <a:latin typeface="Calibri" pitchFamily="34" charset="0"/>
                <a:ea typeface="Calibri" pitchFamily="34" charset="-122"/>
                <a:cs typeface="Calibri" pitchFamily="34" charset="-120"/>
              </a:rPr>
              <a:t>Appendix chunk found, but the prompt sat in the next chunk, which was not retrieved</a:t>
            </a:r>
            <a:endParaRPr lang="en-US" sz="1150" dirty="0"/>
          </a:p>
        </p:txBody>
      </p:sp>
      <p:sp>
        <p:nvSpPr>
          <p:cNvPr id="11" name="Text 9"/>
          <p:cNvSpPr txBox="1"/>
          <p:nvPr/>
        </p:nvSpPr>
        <p:spPr>
          <a:xfrm>
            <a:off x="3383280" y="3017520"/>
            <a:ext cx="2377440" cy="731520"/>
          </a:xfrm>
          <a:prstGeom prst="rect">
            <a:avLst/>
          </a:prstGeom>
          <a:noFill/>
          <a:ln/>
        </p:spPr>
        <p:txBody>
          <a:bodyPr wrap="square" lIns="0" tIns="0" rIns="0" bIns="0" rtlCol="0" anchor="t"/>
          <a:lstStyle/>
          <a:p>
            <a:pPr indent="0" marL="0">
              <a:buNone/>
            </a:pPr>
            <a:r>
              <a:rPr lang="en-US" sz="1150" b="1" dirty="0">
                <a:solidFill>
                  <a:srgbClr val="14213D"/>
                </a:solidFill>
                <a:latin typeface="Calibri" pitchFamily="34" charset="0"/>
                <a:ea typeface="Calibri" pitchFamily="34" charset="-122"/>
                <a:cs typeface="Calibri" pitchFamily="34" charset="-120"/>
              </a:rPr>
              <a:t>Grounded but generic answer (from section 5.4)</a:t>
            </a:r>
            <a:endParaRPr lang="en-US" sz="1150" dirty="0"/>
          </a:p>
        </p:txBody>
      </p:sp>
      <p:sp>
        <p:nvSpPr>
          <p:cNvPr id="12" name="Shape 10"/>
          <p:cNvSpPr/>
          <p:nvPr/>
        </p:nvSpPr>
        <p:spPr>
          <a:xfrm>
            <a:off x="6035040" y="1325880"/>
            <a:ext cx="2697480" cy="2514600"/>
          </a:xfrm>
          <a:prstGeom prst="roundRect">
            <a:avLst>
              <a:gd name="adj" fmla="val 2909"/>
            </a:avLst>
          </a:prstGeom>
          <a:solidFill>
            <a:srgbClr val="DFF3E8"/>
          </a:solidFill>
          <a:ln w="12700">
            <a:solidFill>
              <a:srgbClr val="DFF3E8"/>
            </a:solidFill>
            <a:prstDash val="solid"/>
          </a:ln>
        </p:spPr>
      </p:sp>
      <p:sp>
        <p:nvSpPr>
          <p:cNvPr id="13" name="Text 11"/>
          <p:cNvSpPr txBox="1"/>
          <p:nvPr/>
        </p:nvSpPr>
        <p:spPr>
          <a:xfrm>
            <a:off x="6217920" y="1417320"/>
            <a:ext cx="2377440" cy="45720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 contextual headers</a:t>
            </a:r>
            <a:endParaRPr lang="en-US" sz="1500" dirty="0"/>
          </a:p>
        </p:txBody>
      </p:sp>
      <p:sp>
        <p:nvSpPr>
          <p:cNvPr id="14" name="Text 12"/>
          <p:cNvSpPr txBox="1"/>
          <p:nvPr/>
        </p:nvSpPr>
        <p:spPr>
          <a:xfrm>
            <a:off x="6217920" y="1920240"/>
            <a:ext cx="2377440" cy="1051560"/>
          </a:xfrm>
          <a:prstGeom prst="rect">
            <a:avLst/>
          </a:prstGeom>
          <a:noFill/>
          <a:ln/>
        </p:spPr>
        <p:txBody>
          <a:bodyPr wrap="square" lIns="0" tIns="0" rIns="0" bIns="0" rtlCol="0" anchor="t"/>
          <a:lstStyle/>
          <a:p>
            <a:pPr indent="0" marL="0">
              <a:buNone/>
            </a:pPr>
            <a:r>
              <a:rPr lang="en-US" sz="1150" dirty="0">
                <a:solidFill>
                  <a:srgbClr val="1B1B1B"/>
                </a:solidFill>
                <a:latin typeface="Calibri" pitchFamily="34" charset="0"/>
                <a:ea typeface="Calibri" pitchFamily="34" charset="-122"/>
                <a:cs typeface="Calibri" pitchFamily="34" charset="-120"/>
              </a:rPr>
              <a:t>"Appendix A. Prompts" chunk with the full prompt is the top passage (score 0.99)</a:t>
            </a:r>
            <a:endParaRPr lang="en-US" sz="1150" dirty="0"/>
          </a:p>
        </p:txBody>
      </p:sp>
      <p:sp>
        <p:nvSpPr>
          <p:cNvPr id="15" name="Text 13"/>
          <p:cNvSpPr txBox="1"/>
          <p:nvPr/>
        </p:nvSpPr>
        <p:spPr>
          <a:xfrm>
            <a:off x="6217920" y="3017520"/>
            <a:ext cx="2377440" cy="731520"/>
          </a:xfrm>
          <a:prstGeom prst="rect">
            <a:avLst/>
          </a:prstGeom>
          <a:noFill/>
          <a:ln/>
        </p:spPr>
        <p:txBody>
          <a:bodyPr wrap="square" lIns="0" tIns="0" rIns="0" bIns="0" rtlCol="0" anchor="t"/>
          <a:lstStyle/>
          <a:p>
            <a:pPr indent="0" marL="0">
              <a:buNone/>
            </a:pPr>
            <a:r>
              <a:rPr lang="en-US" sz="1150" b="1" dirty="0">
                <a:solidFill>
                  <a:srgbClr val="14213D"/>
                </a:solidFill>
                <a:latin typeface="Calibri" pitchFamily="34" charset="0"/>
                <a:ea typeface="Calibri" pitchFamily="34" charset="-122"/>
                <a:cs typeface="Calibri" pitchFamily="34" charset="-120"/>
              </a:rPr>
              <a:t>Right passage; answer quality now depends on the 3B model</a:t>
            </a:r>
            <a:endParaRPr lang="en-US" sz="1150" dirty="0"/>
          </a:p>
        </p:txBody>
      </p:sp>
      <p:sp>
        <p:nvSpPr>
          <p:cNvPr id="16" name="Text 14"/>
          <p:cNvSpPr txBox="1"/>
          <p:nvPr/>
        </p:nvSpPr>
        <p:spPr>
          <a:xfrm>
            <a:off x="365760" y="4023360"/>
            <a:ext cx="8412480" cy="457200"/>
          </a:xfrm>
          <a:prstGeom prst="rect">
            <a:avLst/>
          </a:prstGeom>
          <a:noFill/>
          <a:ln/>
        </p:spPr>
        <p:txBody>
          <a:bodyPr wrap="square" lIns="0" tIns="0" rIns="0" bIns="0" rtlCol="0" anchor="ctr"/>
          <a:lstStyle/>
          <a:p>
            <a:pPr indent="0" marL="0">
              <a:buNone/>
            </a:pPr>
            <a:r>
              <a:rPr lang="en-US" sz="1150" i="1" dirty="0">
                <a:solidFill>
                  <a:srgbClr val="5B5B5B"/>
                </a:solidFill>
                <a:latin typeface="Calibri" pitchFamily="34" charset="0"/>
                <a:ea typeface="Calibri" pitchFamily="34" charset="-122"/>
                <a:cs typeface="Calibri" pitchFamily="34" charset="-120"/>
              </a:rPr>
              <a:t>Limit: an answer that is itself the refusal sentence (quoting the generator prompt) cannot be given; the model follows it and the detector flags it.</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A NotebookLM-style notebook</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Sources · cited chat that still says "not in your sources" · Studio</a:t>
            </a:r>
            <a:endParaRPr lang="en-US" sz="1400" dirty="0"/>
          </a:p>
        </p:txBody>
      </p:sp>
      <p:pic>
        <p:nvPicPr>
          <p:cNvPr id="4" name="Image 0" descr="/home/claude/work/rep2/fig_ui_notebook.png">    </p:cNvPr>
          <p:cNvPicPr>
            <a:picLocks noChangeAspect="1"/>
          </p:cNvPicPr>
          <p:nvPr/>
        </p:nvPicPr>
        <p:blipFill>
          <a:blip r:embed="rId1"/>
          <a:stretch>
            <a:fillRect/>
          </a:stretch>
        </p:blipFill>
        <p:spPr>
          <a:xfrm>
            <a:off x="457200" y="1188720"/>
            <a:ext cx="5760720" cy="3648456"/>
          </a:xfrm>
          <a:prstGeom prst="rect">
            <a:avLst/>
          </a:prstGeom>
        </p:spPr>
      </p:pic>
      <p:sp>
        <p:nvSpPr>
          <p:cNvPr id="5" name="Shape 2"/>
          <p:cNvSpPr/>
          <p:nvPr/>
        </p:nvSpPr>
        <p:spPr>
          <a:xfrm>
            <a:off x="6400800" y="1188720"/>
            <a:ext cx="2377440" cy="1097280"/>
          </a:xfrm>
          <a:prstGeom prst="roundRect">
            <a:avLst>
              <a:gd name="adj" fmla="val 6667"/>
            </a:avLst>
          </a:prstGeom>
          <a:solidFill>
            <a:srgbClr val="F3F5F9"/>
          </a:solidFill>
          <a:ln w="12700">
            <a:solidFill>
              <a:srgbClr val="F3F5F9"/>
            </a:solidFill>
            <a:prstDash val="solid"/>
          </a:ln>
        </p:spPr>
      </p:sp>
      <p:sp>
        <p:nvSpPr>
          <p:cNvPr id="6" name="Text 3"/>
          <p:cNvSpPr txBox="1"/>
          <p:nvPr/>
        </p:nvSpPr>
        <p:spPr>
          <a:xfrm>
            <a:off x="6537960" y="1234440"/>
            <a:ext cx="2103120" cy="347472"/>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Sources</a:t>
            </a:r>
            <a:endParaRPr lang="en-US" sz="1400" dirty="0"/>
          </a:p>
        </p:txBody>
      </p:sp>
      <p:sp>
        <p:nvSpPr>
          <p:cNvPr id="7" name="Text 4"/>
          <p:cNvSpPr txBox="1"/>
          <p:nvPr/>
        </p:nvSpPr>
        <p:spPr>
          <a:xfrm>
            <a:off x="6537960" y="1572768"/>
            <a:ext cx="2148840" cy="685800"/>
          </a:xfrm>
          <a:prstGeom prst="rect">
            <a:avLst/>
          </a:prstGeom>
          <a:noFill/>
          <a:ln/>
        </p:spPr>
        <p:txBody>
          <a:bodyPr wrap="square" lIns="0" tIns="0" rIns="0" bIns="0" rtlCol="0" anchor="t"/>
          <a:lstStyle/>
          <a:p>
            <a:pPr indent="0" marL="0">
              <a:buNone/>
            </a:pPr>
            <a:r>
              <a:rPr lang="en-US" sz="1050" dirty="0">
                <a:solidFill>
                  <a:srgbClr val="1B1B1B"/>
                </a:solidFill>
                <a:latin typeface="Calibri" pitchFamily="34" charset="0"/>
                <a:ea typeface="Calibri" pitchFamily="34" charset="-122"/>
                <a:cs typeface="Calibri" pitchFamily="34" charset="-120"/>
              </a:rPr>
              <a:t>Files, web pages, YouTube transcripts, pasted text, web search. A source guide: summary, topics, questions to click.</a:t>
            </a:r>
            <a:endParaRPr lang="en-US" sz="1050" dirty="0"/>
          </a:p>
        </p:txBody>
      </p:sp>
      <p:sp>
        <p:nvSpPr>
          <p:cNvPr id="8" name="Shape 5"/>
          <p:cNvSpPr/>
          <p:nvPr/>
        </p:nvSpPr>
        <p:spPr>
          <a:xfrm>
            <a:off x="6400800" y="2423160"/>
            <a:ext cx="2377440" cy="1097280"/>
          </a:xfrm>
          <a:prstGeom prst="roundRect">
            <a:avLst>
              <a:gd name="adj" fmla="val 6667"/>
            </a:avLst>
          </a:prstGeom>
          <a:solidFill>
            <a:srgbClr val="F3F5F9"/>
          </a:solidFill>
          <a:ln w="12700">
            <a:solidFill>
              <a:srgbClr val="F3F5F9"/>
            </a:solidFill>
            <a:prstDash val="solid"/>
          </a:ln>
        </p:spPr>
      </p:sp>
      <p:sp>
        <p:nvSpPr>
          <p:cNvPr id="9" name="Text 6"/>
          <p:cNvSpPr txBox="1"/>
          <p:nvPr/>
        </p:nvSpPr>
        <p:spPr>
          <a:xfrm>
            <a:off x="6537960" y="2468880"/>
            <a:ext cx="2103120" cy="347472"/>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Chat</a:t>
            </a:r>
            <a:endParaRPr lang="en-US" sz="1400" dirty="0"/>
          </a:p>
        </p:txBody>
      </p:sp>
      <p:sp>
        <p:nvSpPr>
          <p:cNvPr id="10" name="Text 7"/>
          <p:cNvSpPr txBox="1"/>
          <p:nvPr/>
        </p:nvSpPr>
        <p:spPr>
          <a:xfrm>
            <a:off x="6537960" y="2807208"/>
            <a:ext cx="2148840" cy="685800"/>
          </a:xfrm>
          <a:prstGeom prst="rect">
            <a:avLst/>
          </a:prstGeom>
          <a:noFill/>
          <a:ln/>
        </p:spPr>
        <p:txBody>
          <a:bodyPr wrap="square" lIns="0" tIns="0" rIns="0" bIns="0" rtlCol="0" anchor="t"/>
          <a:lstStyle/>
          <a:p>
            <a:pPr indent="0" marL="0">
              <a:buNone/>
            </a:pPr>
            <a:r>
              <a:rPr lang="en-US" sz="1050" dirty="0">
                <a:solidFill>
                  <a:srgbClr val="1B1B1B"/>
                </a:solidFill>
                <a:latin typeface="Calibri" pitchFamily="34" charset="0"/>
                <a:ea typeface="Calibri" pitchFamily="34" charset="-122"/>
                <a:cs typeface="Calibri" pitchFamily="34" charset="-120"/>
              </a:rPr>
              <a:t>The S5 agent, cited. "Summarise my sources" is answered from the guides, one citation per source.</a:t>
            </a:r>
            <a:endParaRPr lang="en-US" sz="1050" dirty="0"/>
          </a:p>
        </p:txBody>
      </p:sp>
      <p:sp>
        <p:nvSpPr>
          <p:cNvPr id="11" name="Shape 8"/>
          <p:cNvSpPr/>
          <p:nvPr/>
        </p:nvSpPr>
        <p:spPr>
          <a:xfrm>
            <a:off x="6400800" y="3657600"/>
            <a:ext cx="2377440" cy="1097280"/>
          </a:xfrm>
          <a:prstGeom prst="roundRect">
            <a:avLst>
              <a:gd name="adj" fmla="val 6667"/>
            </a:avLst>
          </a:prstGeom>
          <a:solidFill>
            <a:srgbClr val="F3F5F9"/>
          </a:solidFill>
          <a:ln w="12700">
            <a:solidFill>
              <a:srgbClr val="F3F5F9"/>
            </a:solidFill>
            <a:prstDash val="solid"/>
          </a:ln>
        </p:spPr>
      </p:sp>
      <p:sp>
        <p:nvSpPr>
          <p:cNvPr id="12" name="Text 9"/>
          <p:cNvSpPr txBox="1"/>
          <p:nvPr/>
        </p:nvSpPr>
        <p:spPr>
          <a:xfrm>
            <a:off x="6537960" y="3703320"/>
            <a:ext cx="2103120" cy="347472"/>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Studio</a:t>
            </a:r>
            <a:endParaRPr lang="en-US" sz="1400" dirty="0"/>
          </a:p>
        </p:txBody>
      </p:sp>
      <p:sp>
        <p:nvSpPr>
          <p:cNvPr id="13" name="Text 10"/>
          <p:cNvSpPr txBox="1"/>
          <p:nvPr/>
        </p:nvSpPr>
        <p:spPr>
          <a:xfrm>
            <a:off x="6537960" y="4041648"/>
            <a:ext cx="2148840" cy="685800"/>
          </a:xfrm>
          <a:prstGeom prst="rect">
            <a:avLst/>
          </a:prstGeom>
          <a:noFill/>
          <a:ln/>
        </p:spPr>
        <p:txBody>
          <a:bodyPr wrap="square" lIns="0" tIns="0" rIns="0" bIns="0" rtlCol="0" anchor="t"/>
          <a:lstStyle/>
          <a:p>
            <a:pPr indent="0" marL="0">
              <a:buNone/>
            </a:pPr>
            <a:r>
              <a:rPr lang="en-US" sz="1050" dirty="0">
                <a:solidFill>
                  <a:srgbClr val="1B1B1B"/>
                </a:solidFill>
                <a:latin typeface="Calibri" pitchFamily="34" charset="0"/>
                <a:ea typeface="Calibri" pitchFamily="34" charset="-122"/>
                <a:cs typeface="Calibri" pitchFamily="34" charset="-120"/>
              </a:rPr>
              <a:t>Audio overview, briefing doc, study guide, FAQ, timeline, mind map, flashcards, quiz.</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The Studio: from sources to study material</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One LLM call per output over a digest of the ticked sources; formats a 3B model can follow</a:t>
            </a:r>
            <a:endParaRPr lang="en-US" sz="1400" dirty="0"/>
          </a:p>
        </p:txBody>
      </p:sp>
      <p:pic>
        <p:nvPicPr>
          <p:cNvPr id="4" name="Image 0" descr="/home/claude/work/rep2/fig_ui_mindmap.png">    </p:cNvPr>
          <p:cNvPicPr>
            <a:picLocks noChangeAspect="1"/>
          </p:cNvPicPr>
          <p:nvPr/>
        </p:nvPicPr>
        <p:blipFill>
          <a:blip r:embed="rId1"/>
          <a:stretch>
            <a:fillRect/>
          </a:stretch>
        </p:blipFill>
        <p:spPr>
          <a:xfrm>
            <a:off x="457200" y="1234440"/>
            <a:ext cx="4754880" cy="2962656"/>
          </a:xfrm>
          <a:prstGeom prst="rect">
            <a:avLst/>
          </a:prstGeom>
        </p:spPr>
      </p:pic>
      <p:sp>
        <p:nvSpPr>
          <p:cNvPr id="5" name="Text 2"/>
          <p:cNvSpPr txBox="1"/>
          <p:nvPr/>
        </p:nvSpPr>
        <p:spPr>
          <a:xfrm>
            <a:off x="5440680" y="1234440"/>
            <a:ext cx="3337560" cy="30175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1B1B"/>
                </a:solidFill>
                <a:latin typeface="Calibri" pitchFamily="34" charset="0"/>
                <a:ea typeface="Calibri" pitchFamily="34" charset="-122"/>
                <a:cs typeface="Calibri" pitchFamily="34" charset="-120"/>
              </a:rPr>
              <a:t>Briefing doc, study guide, FAQ: Markdown with clickable source numbers</a:t>
            </a:r>
            <a:endParaRPr lang="en-US" sz="1200" dirty="0"/>
          </a:p>
          <a:p>
            <a:pPr marL="342900" indent="-342900">
              <a:spcAft>
                <a:spcPts val="600"/>
              </a:spcAft>
              <a:buSzPct val="100000"/>
              <a:buChar char="•"/>
            </a:pPr>
            <a:r>
              <a:rPr lang="en-US" sz="1200" dirty="0">
                <a:solidFill>
                  <a:srgbClr val="1B1B1B"/>
                </a:solidFill>
                <a:latin typeface="Calibri" pitchFamily="34" charset="0"/>
                <a:ea typeface="Calibri" pitchFamily="34" charset="-122"/>
                <a:cs typeface="Calibri" pitchFamily="34" charset="-120"/>
              </a:rPr>
              <a:t>Timeline: dated events in order (or "no dated events")</a:t>
            </a:r>
            <a:endParaRPr lang="en-US" sz="1200" dirty="0"/>
          </a:p>
          <a:p>
            <a:pPr marL="342900" indent="-342900">
              <a:spcAft>
                <a:spcPts val="600"/>
              </a:spcAft>
              <a:buSzPct val="100000"/>
              <a:buChar char="•"/>
            </a:pPr>
            <a:r>
              <a:rPr lang="en-US" sz="1200" dirty="0">
                <a:solidFill>
                  <a:srgbClr val="1B1B1B"/>
                </a:solidFill>
                <a:latin typeface="Calibri" pitchFamily="34" charset="0"/>
                <a:ea typeface="Calibri" pitchFamily="34" charset="-122"/>
                <a:cs typeface="Calibri" pitchFamily="34" charset="-120"/>
              </a:rPr>
              <a:t>Mind map: fold branches; click a topic to ask about it</a:t>
            </a:r>
            <a:endParaRPr lang="en-US" sz="1200" dirty="0"/>
          </a:p>
          <a:p>
            <a:pPr marL="342900" indent="-342900">
              <a:spcAft>
                <a:spcPts val="600"/>
              </a:spcAft>
              <a:buSzPct val="100000"/>
              <a:buChar char="•"/>
            </a:pPr>
            <a:r>
              <a:rPr lang="en-US" sz="1200" dirty="0">
                <a:solidFill>
                  <a:srgbClr val="1B1B1B"/>
                </a:solidFill>
                <a:latin typeface="Calibri" pitchFamily="34" charset="0"/>
                <a:ea typeface="Calibri" pitchFamily="34" charset="-122"/>
                <a:cs typeface="Calibri" pitchFamily="34" charset="-120"/>
              </a:rPr>
              <a:t>Flashcards (flip, shuffle) and a scored quiz with explanations</a:t>
            </a:r>
            <a:endParaRPr lang="en-US" sz="1200" dirty="0"/>
          </a:p>
          <a:p>
            <a:pPr marL="342900" indent="-342900">
              <a:spcAft>
                <a:spcPts val="600"/>
              </a:spcAft>
              <a:buSzPct val="100000"/>
              <a:buChar char="•"/>
            </a:pPr>
            <a:r>
              <a:rPr lang="en-US" sz="1200" dirty="0">
                <a:solidFill>
                  <a:srgbClr val="1B1B1B"/>
                </a:solidFill>
                <a:latin typeface="Calibri" pitchFamily="34" charset="0"/>
                <a:ea typeface="Calibri" pitchFamily="34" charset="-122"/>
                <a:cs typeface="Calibri" pitchFamily="34" charset="-120"/>
              </a:rPr>
              <a:t>Audio overview: two hosts (Alex, Sam) spoken by Kokoro-82M on the CPU</a:t>
            </a:r>
            <a:endParaRPr lang="en-US" sz="1200" dirty="0"/>
          </a:p>
        </p:txBody>
      </p:sp>
      <p:sp>
        <p:nvSpPr>
          <p:cNvPr id="6" name="Text 3"/>
          <p:cNvSpPr txBox="1"/>
          <p:nvPr/>
        </p:nvSpPr>
        <p:spPr>
          <a:xfrm>
            <a:off x="457200" y="4343400"/>
            <a:ext cx="8321040" cy="411480"/>
          </a:xfrm>
          <a:prstGeom prst="rect">
            <a:avLst/>
          </a:prstGeom>
          <a:noFill/>
          <a:ln/>
        </p:spPr>
        <p:txBody>
          <a:bodyPr wrap="square" lIns="0" tIns="0" rIns="0" bIns="0" rtlCol="0" anchor="ctr"/>
          <a:lstStyle/>
          <a:p>
            <a:pPr indent="0" marL="0">
              <a:buNone/>
            </a:pPr>
            <a:r>
              <a:rPr lang="en-US" sz="1100" i="1" dirty="0">
                <a:solidFill>
                  <a:srgbClr val="5B5B5B"/>
                </a:solidFill>
                <a:latin typeface="Calibri" pitchFamily="34" charset="0"/>
                <a:ea typeface="Calibri" pitchFamily="34" charset="-122"/>
                <a:cs typeface="Calibri" pitchFamily="34" charset="-120"/>
              </a:rPr>
              <a:t>Plain labelled formats (Q: / A:, date | event, ALEX: / SAM:) instead of JSON, parsed leniently; unreadable output is marked failed, not shown broken.</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Choose any model, like ChatGPT or Claude.ai</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Ten free open-weight models on the laptop; any cloud model with an API key</a:t>
            </a:r>
            <a:endParaRPr lang="en-US" sz="1400" dirty="0"/>
          </a:p>
        </p:txBody>
      </p:sp>
      <p:pic>
        <p:nvPicPr>
          <p:cNvPr id="4" name="Image 0" descr="/home/claude/work/rep2/fig_ui_models.png">    </p:cNvPr>
          <p:cNvPicPr>
            <a:picLocks noChangeAspect="1"/>
          </p:cNvPicPr>
          <p:nvPr/>
        </p:nvPicPr>
        <p:blipFill>
          <a:blip r:embed="rId1"/>
          <a:stretch>
            <a:fillRect/>
          </a:stretch>
        </p:blipFill>
        <p:spPr>
          <a:xfrm>
            <a:off x="457200" y="1188720"/>
            <a:ext cx="3291840" cy="3566160"/>
          </a:xfrm>
          <a:prstGeom prst="rect">
            <a:avLst/>
          </a:prstGeom>
        </p:spPr>
      </p:pic>
      <p:sp>
        <p:nvSpPr>
          <p:cNvPr id="5" name="Shape 2"/>
          <p:cNvSpPr/>
          <p:nvPr/>
        </p:nvSpPr>
        <p:spPr>
          <a:xfrm>
            <a:off x="4023360" y="1188720"/>
            <a:ext cx="4754880" cy="1051560"/>
          </a:xfrm>
          <a:prstGeom prst="roundRect">
            <a:avLst>
              <a:gd name="adj" fmla="val 6957"/>
            </a:avLst>
          </a:prstGeom>
          <a:solidFill>
            <a:srgbClr val="F3F5F9"/>
          </a:solidFill>
          <a:ln w="12700">
            <a:solidFill>
              <a:srgbClr val="F3F5F9"/>
            </a:solidFill>
            <a:prstDash val="solid"/>
          </a:ln>
        </p:spPr>
      </p:sp>
      <p:sp>
        <p:nvSpPr>
          <p:cNvPr id="6" name="Shape 3"/>
          <p:cNvSpPr/>
          <p:nvPr/>
        </p:nvSpPr>
        <p:spPr>
          <a:xfrm>
            <a:off x="4187952" y="1344168"/>
            <a:ext cx="256032" cy="256032"/>
          </a:xfrm>
          <a:prstGeom prst="ellipse">
            <a:avLst/>
          </a:prstGeom>
          <a:solidFill>
            <a:srgbClr val="2A78D6"/>
          </a:solidFill>
          <a:ln w="12700">
            <a:solidFill>
              <a:srgbClr val="2A78D6"/>
            </a:solidFill>
            <a:prstDash val="solid"/>
          </a:ln>
        </p:spPr>
      </p:sp>
      <p:sp>
        <p:nvSpPr>
          <p:cNvPr id="7" name="Text 4"/>
          <p:cNvSpPr txBox="1"/>
          <p:nvPr/>
        </p:nvSpPr>
        <p:spPr>
          <a:xfrm>
            <a:off x="4553712" y="1261872"/>
            <a:ext cx="4023360" cy="384048"/>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Standard models</a:t>
            </a:r>
            <a:endParaRPr lang="en-US" sz="1400" dirty="0"/>
          </a:p>
        </p:txBody>
      </p:sp>
      <p:sp>
        <p:nvSpPr>
          <p:cNvPr id="8" name="Text 5"/>
          <p:cNvSpPr txBox="1"/>
          <p:nvPr/>
        </p:nvSpPr>
        <p:spPr>
          <a:xfrm>
            <a:off x="4206240" y="1645920"/>
            <a:ext cx="4434840" cy="566928"/>
          </a:xfrm>
          <a:prstGeom prst="rect">
            <a:avLst/>
          </a:prstGeom>
          <a:noFill/>
          <a:ln/>
        </p:spPr>
        <p:txBody>
          <a:bodyPr wrap="square" lIns="0" tIns="0" rIns="0" bIns="0" rtlCol="0" anchor="t"/>
          <a:lstStyle/>
          <a:p>
            <a:pPr indent="0" marL="0">
              <a:buNone/>
            </a:pPr>
            <a:r>
              <a:rPr lang="en-US" sz="1100" dirty="0">
                <a:solidFill>
                  <a:srgbClr val="1B1B1B"/>
                </a:solidFill>
                <a:latin typeface="Calibri" pitchFamily="34" charset="0"/>
                <a:ea typeface="Calibri" pitchFamily="34" charset="-122"/>
                <a:cs typeface="Calibri" pitchFamily="34" charset="-120"/>
              </a:rPr>
              <a:t>Answer directly, faster: Qwen2.5 (1.5B, 3B), Llama 3.2 (1B, 3B), Gemma 3 4B, Phi-4-mini, Granite 4 3B, SmolLM2 1.7B</a:t>
            </a:r>
            <a:endParaRPr lang="en-US" sz="1100" dirty="0"/>
          </a:p>
        </p:txBody>
      </p:sp>
      <p:sp>
        <p:nvSpPr>
          <p:cNvPr id="9" name="Shape 6"/>
          <p:cNvSpPr/>
          <p:nvPr/>
        </p:nvSpPr>
        <p:spPr>
          <a:xfrm>
            <a:off x="4023360" y="2377440"/>
            <a:ext cx="4754880" cy="1051560"/>
          </a:xfrm>
          <a:prstGeom prst="roundRect">
            <a:avLst>
              <a:gd name="adj" fmla="val 6957"/>
            </a:avLst>
          </a:prstGeom>
          <a:solidFill>
            <a:srgbClr val="F3F5F9"/>
          </a:solidFill>
          <a:ln w="12700">
            <a:solidFill>
              <a:srgbClr val="F3F5F9"/>
            </a:solidFill>
            <a:prstDash val="solid"/>
          </a:ln>
        </p:spPr>
      </p:sp>
      <p:sp>
        <p:nvSpPr>
          <p:cNvPr id="10" name="Shape 7"/>
          <p:cNvSpPr/>
          <p:nvPr/>
        </p:nvSpPr>
        <p:spPr>
          <a:xfrm>
            <a:off x="4187952" y="2532888"/>
            <a:ext cx="256032" cy="256032"/>
          </a:xfrm>
          <a:prstGeom prst="ellipse">
            <a:avLst/>
          </a:prstGeom>
          <a:solidFill>
            <a:srgbClr val="EB6834"/>
          </a:solidFill>
          <a:ln w="12700">
            <a:solidFill>
              <a:srgbClr val="EB6834"/>
            </a:solidFill>
            <a:prstDash val="solid"/>
          </a:ln>
        </p:spPr>
      </p:sp>
      <p:sp>
        <p:nvSpPr>
          <p:cNvPr id="11" name="Text 8"/>
          <p:cNvSpPr txBox="1"/>
          <p:nvPr/>
        </p:nvSpPr>
        <p:spPr>
          <a:xfrm>
            <a:off x="4553712" y="2450592"/>
            <a:ext cx="4023360" cy="384048"/>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Thinking models</a:t>
            </a:r>
            <a:endParaRPr lang="en-US" sz="1400" dirty="0"/>
          </a:p>
        </p:txBody>
      </p:sp>
      <p:sp>
        <p:nvSpPr>
          <p:cNvPr id="12" name="Text 9"/>
          <p:cNvSpPr txBox="1"/>
          <p:nvPr/>
        </p:nvSpPr>
        <p:spPr>
          <a:xfrm>
            <a:off x="4206240" y="2834640"/>
            <a:ext cx="4434840" cy="566928"/>
          </a:xfrm>
          <a:prstGeom prst="rect">
            <a:avLst/>
          </a:prstGeom>
          <a:noFill/>
          <a:ln/>
        </p:spPr>
        <p:txBody>
          <a:bodyPr wrap="square" lIns="0" tIns="0" rIns="0" bIns="0" rtlCol="0" anchor="t"/>
          <a:lstStyle/>
          <a:p>
            <a:pPr indent="0" marL="0">
              <a:buNone/>
            </a:pPr>
            <a:r>
              <a:rPr lang="en-US" sz="1100" dirty="0">
                <a:solidFill>
                  <a:srgbClr val="1B1B1B"/>
                </a:solidFill>
                <a:latin typeface="Calibri" pitchFamily="34" charset="0"/>
                <a:ea typeface="Calibri" pitchFamily="34" charset="-122"/>
                <a:cs typeface="Calibri" pitchFamily="34" charset="-120"/>
              </a:rPr>
              <a:t>Reason first, slower: Qwen3 1.7B, DeepSeek-R1 1.5B. The reasoning is hidden; budget 4,000 tokens</a:t>
            </a:r>
            <a:endParaRPr lang="en-US" sz="1100" dirty="0"/>
          </a:p>
        </p:txBody>
      </p:sp>
      <p:sp>
        <p:nvSpPr>
          <p:cNvPr id="13" name="Shape 10"/>
          <p:cNvSpPr/>
          <p:nvPr/>
        </p:nvSpPr>
        <p:spPr>
          <a:xfrm>
            <a:off x="4023360" y="3566160"/>
            <a:ext cx="4754880" cy="1051560"/>
          </a:xfrm>
          <a:prstGeom prst="roundRect">
            <a:avLst>
              <a:gd name="adj" fmla="val 6957"/>
            </a:avLst>
          </a:prstGeom>
          <a:solidFill>
            <a:srgbClr val="F3F5F9"/>
          </a:solidFill>
          <a:ln w="12700">
            <a:solidFill>
              <a:srgbClr val="F3F5F9"/>
            </a:solidFill>
            <a:prstDash val="solid"/>
          </a:ln>
        </p:spPr>
      </p:sp>
      <p:sp>
        <p:nvSpPr>
          <p:cNvPr id="14" name="Shape 11"/>
          <p:cNvSpPr/>
          <p:nvPr/>
        </p:nvSpPr>
        <p:spPr>
          <a:xfrm>
            <a:off x="4187952" y="3721608"/>
            <a:ext cx="256032" cy="256032"/>
          </a:xfrm>
          <a:prstGeom prst="ellipse">
            <a:avLst/>
          </a:prstGeom>
          <a:solidFill>
            <a:srgbClr val="1BAF7A"/>
          </a:solidFill>
          <a:ln w="12700">
            <a:solidFill>
              <a:srgbClr val="1BAF7A"/>
            </a:solidFill>
            <a:prstDash val="solid"/>
          </a:ln>
        </p:spPr>
      </p:sp>
      <p:sp>
        <p:nvSpPr>
          <p:cNvPr id="15" name="Text 12"/>
          <p:cNvSpPr txBox="1"/>
          <p:nvPr/>
        </p:nvSpPr>
        <p:spPr>
          <a:xfrm>
            <a:off x="4553712" y="3639312"/>
            <a:ext cx="4023360" cy="384048"/>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Cloud</a:t>
            </a:r>
            <a:endParaRPr lang="en-US" sz="1400" dirty="0"/>
          </a:p>
        </p:txBody>
      </p:sp>
      <p:sp>
        <p:nvSpPr>
          <p:cNvPr id="16" name="Text 13"/>
          <p:cNvSpPr txBox="1"/>
          <p:nvPr/>
        </p:nvSpPr>
        <p:spPr>
          <a:xfrm>
            <a:off x="4206240" y="4023360"/>
            <a:ext cx="4434840" cy="566928"/>
          </a:xfrm>
          <a:prstGeom prst="rect">
            <a:avLst/>
          </a:prstGeom>
          <a:noFill/>
          <a:ln/>
        </p:spPr>
        <p:txBody>
          <a:bodyPr wrap="square" lIns="0" tIns="0" rIns="0" bIns="0" rtlCol="0" anchor="t"/>
          <a:lstStyle/>
          <a:p>
            <a:pPr indent="0" marL="0">
              <a:buNone/>
            </a:pPr>
            <a:r>
              <a:rPr lang="en-US" sz="1100" dirty="0">
                <a:solidFill>
                  <a:srgbClr val="1B1B1B"/>
                </a:solidFill>
                <a:latin typeface="Calibri" pitchFamily="34" charset="0"/>
                <a:ea typeface="Calibri" pitchFamily="34" charset="-122"/>
                <a:cs typeface="Calibri" pitchFamily="34" charset="-120"/>
              </a:rPr>
              <a:t>One OPENROUTER_API_KEY lists Claude, GPT, Gemini, Llama, DeepSeek… live from the provider</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Refusal thresholds for every model</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τ and min_p chosen per model on the 224 MTRAG dev examples (never test); FA = answerable questions refused</a:t>
            </a:r>
            <a:endParaRPr lang="en-US" sz="1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5394960" cy="914400"/>
        </p:xfrm>
        <a:graphic>
          <a:graphicData uri="http://schemas.openxmlformats.org/drawingml/2006/table">
            <a:tbl>
              <a:tblPr/>
              <a:tblGrid>
                <a:gridCol w="1965960"/>
                <a:gridCol w="457200"/>
                <a:gridCol w="548640"/>
                <a:gridCol w="457200"/>
                <a:gridCol w="594360"/>
                <a:gridCol w="457200"/>
                <a:gridCol w="914400"/>
              </a:tblGrid>
              <a:tr h="27432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τ</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min_p</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F1</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Recall</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FA</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Own refusals</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r>
              <a:tr h="274320">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gemma3:4b</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.64</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.55</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.67</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.34</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.33</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274320">
                <a:tc>
                  <a:txBody>
                    <a:bodyPr/>
                    <a:lstStyle/>
                    <a:p>
                      <a:pPr algn="ctr" indent="0" marL="0">
                        <a:buNone/>
                      </a:pPr>
                      <a:r>
                        <a:rPr lang="en-US" sz="1000" b="1" dirty="0">
                          <a:solidFill>
                            <a:srgbClr val="EB6834"/>
                          </a:solidFill>
                          <a:latin typeface="Calibri" pitchFamily="34" charset="0"/>
                          <a:ea typeface="Calibri" pitchFamily="34" charset="-122"/>
                          <a:cs typeface="Calibri" pitchFamily="34" charset="-120"/>
                        </a:rPr>
                        <a:t>qwen3:1.7b (thinking)</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.63</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.35</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.67</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.72</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.21</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274320">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granite4:3b</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.61</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.45</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.64</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.43</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.38</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274320">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qwen2.5:3b (research)</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.61</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.62</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.73</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.22</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274320">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llama3.2:3b</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.45</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.35</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.62</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.89</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.48</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.38</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274320">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phi4-mini</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.52</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off</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.92</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.57</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.54</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274320">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qwen2.5:1.5b</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.61</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.35</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.56</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.49</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.02</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274320">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smollm2:1.7b</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.61</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.54</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.46</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.02</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274320">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deepseek-r1:1.5b (thinking)</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.54</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off</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.54</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.51</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.09</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274320">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llama3.2:1b</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.52</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off</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.53</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.72</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.48</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algn="ctr" indent="0" marL="0">
                        <a:buNone/>
                      </a:pPr>
                      <a:r>
                        <a:rPr lang="en-US" sz="1000" dirty="0">
                          <a:solidFill>
                            <a:srgbClr val="1B1B1B"/>
                          </a:solidFill>
                          <a:latin typeface="Calibri" pitchFamily="34" charset="0"/>
                          <a:ea typeface="Calibri" pitchFamily="34" charset="-122"/>
                          <a:cs typeface="Calibri" pitchFamily="34" charset="-120"/>
                        </a:rPr>
                        <a:t>.38</a:t>
                      </a:r>
                      <a:endParaRPr lang="en-US" sz="10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bl>
          </a:graphicData>
        </a:graphic>
      </p:graphicFrame>
      <p:sp>
        <p:nvSpPr>
          <p:cNvPr id="5" name="Text 2"/>
          <p:cNvSpPr txBox="1"/>
          <p:nvPr/>
        </p:nvSpPr>
        <p:spPr>
          <a:xfrm>
            <a:off x="6035040" y="1188720"/>
            <a:ext cx="2743200" cy="685800"/>
          </a:xfrm>
          <a:prstGeom prst="rect">
            <a:avLst/>
          </a:prstGeom>
          <a:noFill/>
          <a:ln/>
        </p:spPr>
        <p:txBody>
          <a:bodyPr wrap="square" lIns="0" tIns="0" rIns="0" bIns="0" rtlCol="0" anchor="ctr"/>
          <a:lstStyle/>
          <a:p>
            <a:pPr indent="0" marL="0">
              <a:buNone/>
            </a:pPr>
            <a:r>
              <a:rPr lang="en-US" sz="3000" b="1" dirty="0">
                <a:solidFill>
                  <a:srgbClr val="EB6834"/>
                </a:solidFill>
                <a:latin typeface="Cambria" pitchFamily="34" charset="0"/>
                <a:ea typeface="Cambria" pitchFamily="34" charset="-122"/>
                <a:cs typeface="Cambria" pitchFamily="34" charset="-120"/>
              </a:rPr>
              <a:t>.67</a:t>
            </a:r>
            <a:endParaRPr lang="en-US" sz="3000" dirty="0"/>
          </a:p>
        </p:txBody>
      </p:sp>
      <p:sp>
        <p:nvSpPr>
          <p:cNvPr id="6" name="Text 3"/>
          <p:cNvSpPr txBox="1"/>
          <p:nvPr/>
        </p:nvSpPr>
        <p:spPr>
          <a:xfrm>
            <a:off x="6035040" y="1874520"/>
            <a:ext cx="2743200" cy="548640"/>
          </a:xfrm>
          <a:prstGeom prst="rect">
            <a:avLst/>
          </a:prstGeom>
          <a:noFill/>
          <a:ln/>
        </p:spPr>
        <p:txBody>
          <a:bodyPr wrap="square" lIns="0" tIns="0" rIns="0" bIns="0" rtlCol="0" anchor="t"/>
          <a:lstStyle/>
          <a:p>
            <a:pPr indent="0" marL="0">
              <a:buNone/>
            </a:pPr>
            <a:r>
              <a:rPr lang="en-US" sz="1200" dirty="0">
                <a:solidFill>
                  <a:srgbClr val="5B5B5B"/>
                </a:solidFill>
                <a:latin typeface="Calibri" pitchFamily="34" charset="0"/>
                <a:ea typeface="Calibri" pitchFamily="34" charset="-122"/>
                <a:cs typeface="Calibri" pitchFamily="34" charset="-120"/>
              </a:rPr>
              <a:t>best F1: Gemma-3-4B and Qwen3-1.7B (research model .62)</a:t>
            </a:r>
            <a:endParaRPr lang="en-US" sz="1200" dirty="0"/>
          </a:p>
        </p:txBody>
      </p:sp>
      <p:sp>
        <p:nvSpPr>
          <p:cNvPr id="7" name="Text 4"/>
          <p:cNvSpPr txBox="1"/>
          <p:nvPr/>
        </p:nvSpPr>
        <p:spPr>
          <a:xfrm>
            <a:off x="6035040" y="2286000"/>
            <a:ext cx="2743200" cy="685800"/>
          </a:xfrm>
          <a:prstGeom prst="rect">
            <a:avLst/>
          </a:prstGeom>
          <a:noFill/>
          <a:ln/>
        </p:spPr>
        <p:txBody>
          <a:bodyPr wrap="square" lIns="0" tIns="0" rIns="0" bIns="0" rtlCol="0" anchor="ctr"/>
          <a:lstStyle/>
          <a:p>
            <a:pPr indent="0" marL="0">
              <a:buNone/>
            </a:pPr>
            <a:r>
              <a:rPr lang="en-US" sz="3000" b="1" dirty="0">
                <a:solidFill>
                  <a:srgbClr val="2A78D6"/>
                </a:solidFill>
                <a:latin typeface="Cambria" pitchFamily="34" charset="0"/>
                <a:ea typeface="Cambria" pitchFamily="34" charset="-122"/>
                <a:cs typeface="Cambria" pitchFamily="34" charset="-120"/>
              </a:rPr>
              <a:t>21%</a:t>
            </a:r>
            <a:endParaRPr lang="en-US" sz="3000" dirty="0"/>
          </a:p>
        </p:txBody>
      </p:sp>
      <p:sp>
        <p:nvSpPr>
          <p:cNvPr id="8" name="Text 5"/>
          <p:cNvSpPr txBox="1"/>
          <p:nvPr/>
        </p:nvSpPr>
        <p:spPr>
          <a:xfrm>
            <a:off x="6035040" y="2971800"/>
            <a:ext cx="2743200" cy="548640"/>
          </a:xfrm>
          <a:prstGeom prst="rect">
            <a:avLst/>
          </a:prstGeom>
          <a:noFill/>
          <a:ln/>
        </p:spPr>
        <p:txBody>
          <a:bodyPr wrap="square" lIns="0" tIns="0" rIns="0" bIns="0" rtlCol="0" anchor="t"/>
          <a:lstStyle/>
          <a:p>
            <a:pPr indent="0" marL="0">
              <a:buNone/>
            </a:pPr>
            <a:r>
              <a:rPr lang="en-US" sz="1200" dirty="0">
                <a:solidFill>
                  <a:srgbClr val="5B5B5B"/>
                </a:solidFill>
                <a:latin typeface="Calibri" pitchFamily="34" charset="0"/>
                <a:ea typeface="Calibri" pitchFamily="34" charset="-122"/>
                <a:cs typeface="Calibri" pitchFamily="34" charset="-120"/>
              </a:rPr>
              <a:t>answerable questions refused by Qwen3-1.7B: the best balance</a:t>
            </a:r>
            <a:endParaRPr lang="en-US" sz="1200" dirty="0"/>
          </a:p>
        </p:txBody>
      </p:sp>
      <p:sp>
        <p:nvSpPr>
          <p:cNvPr id="9" name="Text 6"/>
          <p:cNvSpPr txBox="1"/>
          <p:nvPr/>
        </p:nvSpPr>
        <p:spPr>
          <a:xfrm>
            <a:off x="6035040" y="3383280"/>
            <a:ext cx="2743200" cy="685800"/>
          </a:xfrm>
          <a:prstGeom prst="rect">
            <a:avLst/>
          </a:prstGeom>
          <a:noFill/>
          <a:ln/>
        </p:spPr>
        <p:txBody>
          <a:bodyPr wrap="square" lIns="0" tIns="0" rIns="0" bIns="0" rtlCol="0" anchor="ctr"/>
          <a:lstStyle/>
          <a:p>
            <a:pPr indent="0" marL="0">
              <a:buNone/>
            </a:pPr>
            <a:r>
              <a:rPr lang="en-US" sz="3000" b="1" dirty="0">
                <a:solidFill>
                  <a:srgbClr val="2A78D6"/>
                </a:solidFill>
                <a:latin typeface="Cambria" pitchFamily="34" charset="0"/>
                <a:ea typeface="Cambria" pitchFamily="34" charset="-122"/>
                <a:cs typeface="Cambria" pitchFamily="34" charset="-120"/>
              </a:rPr>
              <a:t>2–54%</a:t>
            </a:r>
            <a:endParaRPr lang="en-US" sz="3000" dirty="0"/>
          </a:p>
        </p:txBody>
      </p:sp>
      <p:sp>
        <p:nvSpPr>
          <p:cNvPr id="10" name="Text 7"/>
          <p:cNvSpPr txBox="1"/>
          <p:nvPr/>
        </p:nvSpPr>
        <p:spPr>
          <a:xfrm>
            <a:off x="6035040" y="4069080"/>
            <a:ext cx="2743200" cy="548640"/>
          </a:xfrm>
          <a:prstGeom prst="rect">
            <a:avLst/>
          </a:prstGeom>
          <a:noFill/>
          <a:ln/>
        </p:spPr>
        <p:txBody>
          <a:bodyPr wrap="square" lIns="0" tIns="0" rIns="0" bIns="0" rtlCol="0" anchor="t"/>
          <a:lstStyle/>
          <a:p>
            <a:pPr indent="0" marL="0">
              <a:buNone/>
            </a:pPr>
            <a:r>
              <a:rPr lang="en-US" sz="1200" dirty="0">
                <a:solidFill>
                  <a:srgbClr val="5B5B5B"/>
                </a:solidFill>
                <a:latin typeface="Calibri" pitchFamily="34" charset="0"/>
                <a:ea typeface="Calibri" pitchFamily="34" charset="-122"/>
                <a:cs typeface="Calibri" pitchFamily="34" charset="-120"/>
              </a:rPr>
              <a:t>refused by the models on their own: thresholds must differ per model</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Sharing, safety and testing</a:t>
            </a:r>
            <a:endParaRPr lang="en-US" sz="2800" dirty="0"/>
          </a:p>
        </p:txBody>
      </p:sp>
      <p:sp>
        <p:nvSpPr>
          <p:cNvPr id="3" name="Shape 1"/>
          <p:cNvSpPr/>
          <p:nvPr/>
        </p:nvSpPr>
        <p:spPr>
          <a:xfrm>
            <a:off x="365760" y="1097280"/>
            <a:ext cx="2697480" cy="3429000"/>
          </a:xfrm>
          <a:prstGeom prst="roundRect">
            <a:avLst>
              <a:gd name="adj" fmla="val 2712"/>
            </a:avLst>
          </a:prstGeom>
          <a:solidFill>
            <a:srgbClr val="F3F5F9"/>
          </a:solidFill>
          <a:ln w="12700">
            <a:solidFill>
              <a:srgbClr val="F3F5F9"/>
            </a:solidFill>
            <a:prstDash val="solid"/>
          </a:ln>
        </p:spPr>
      </p:sp>
      <p:sp>
        <p:nvSpPr>
          <p:cNvPr id="4" name="Shape 2"/>
          <p:cNvSpPr/>
          <p:nvPr/>
        </p:nvSpPr>
        <p:spPr>
          <a:xfrm>
            <a:off x="548640" y="1261872"/>
            <a:ext cx="292608" cy="292608"/>
          </a:xfrm>
          <a:prstGeom prst="ellipse">
            <a:avLst/>
          </a:prstGeom>
          <a:solidFill>
            <a:srgbClr val="2A78D6"/>
          </a:solidFill>
          <a:ln w="12700">
            <a:solidFill>
              <a:srgbClr val="2A78D6"/>
            </a:solidFill>
            <a:prstDash val="solid"/>
          </a:ln>
        </p:spPr>
      </p:sp>
      <p:sp>
        <p:nvSpPr>
          <p:cNvPr id="5" name="Text 3"/>
          <p:cNvSpPr txBox="1"/>
          <p:nvPr/>
        </p:nvSpPr>
        <p:spPr>
          <a:xfrm>
            <a:off x="932688" y="1216152"/>
            <a:ext cx="2011680" cy="384048"/>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Sharing</a:t>
            </a:r>
            <a:endParaRPr lang="en-US" sz="1600" dirty="0"/>
          </a:p>
        </p:txBody>
      </p:sp>
      <p:sp>
        <p:nvSpPr>
          <p:cNvPr id="6" name="Text 4"/>
          <p:cNvSpPr txBox="1"/>
          <p:nvPr/>
        </p:nvSpPr>
        <p:spPr>
          <a:xfrm>
            <a:off x="548640" y="1737360"/>
            <a:ext cx="2377440" cy="26974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B1B1B"/>
                </a:solidFill>
                <a:latin typeface="Calibri" pitchFamily="34" charset="0"/>
                <a:ea typeface="Calibri" pitchFamily="34" charset="-122"/>
                <a:cs typeface="Calibri" pitchFamily="34" charset="-120"/>
              </a:rPr>
              <a:t>Share by e-mail or user id as viewer or editor</a:t>
            </a:r>
            <a:endParaRPr lang="en-US" sz="1100" dirty="0"/>
          </a:p>
          <a:p>
            <a:pPr marL="342900" indent="-342900">
              <a:spcAft>
                <a:spcPts val="600"/>
              </a:spcAft>
              <a:buSzPct val="100000"/>
              <a:buChar char="•"/>
            </a:pPr>
            <a:r>
              <a:rPr lang="en-US" sz="1100" dirty="0">
                <a:solidFill>
                  <a:srgbClr val="1B1B1B"/>
                </a:solidFill>
                <a:latin typeface="Calibri" pitchFamily="34" charset="0"/>
                <a:ea typeface="Calibri" pitchFamily="34" charset="-122"/>
                <a:cs typeface="Calibri" pitchFamily="34" charset="-120"/>
              </a:rPr>
              <a:t>Or: anyone signed in with the link can view</a:t>
            </a:r>
            <a:endParaRPr lang="en-US" sz="1100" dirty="0"/>
          </a:p>
          <a:p>
            <a:pPr marL="342900" indent="-342900">
              <a:spcAft>
                <a:spcPts val="600"/>
              </a:spcAft>
              <a:buSzPct val="100000"/>
              <a:buChar char="•"/>
            </a:pPr>
            <a:r>
              <a:rPr lang="en-US" sz="1100" dirty="0">
                <a:solidFill>
                  <a:srgbClr val="1B1B1B"/>
                </a:solidFill>
                <a:latin typeface="Calibri" pitchFamily="34" charset="0"/>
                <a:ea typeface="Calibri" pitchFamily="34" charset="-122"/>
                <a:cs typeface="Calibri" pitchFamily="34" charset="-120"/>
              </a:rPr>
              <a:t>Viewers read and chat; editors add sources and generate; only the owner shares or deletes</a:t>
            </a:r>
            <a:endParaRPr lang="en-US" sz="1100" dirty="0"/>
          </a:p>
          <a:p>
            <a:pPr marL="342900" indent="-342900">
              <a:spcAft>
                <a:spcPts val="600"/>
              </a:spcAft>
              <a:buSzPct val="100000"/>
              <a:buChar char="•"/>
            </a:pPr>
            <a:r>
              <a:rPr lang="en-US" sz="1100" dirty="0">
                <a:solidFill>
                  <a:srgbClr val="1B1B1B"/>
                </a:solidFill>
                <a:latin typeface="Calibri" pitchFamily="34" charset="0"/>
                <a:ea typeface="Calibri" pitchFamily="34" charset="-122"/>
                <a:cs typeface="Calibri" pitchFamily="34" charset="-120"/>
              </a:rPr>
              <a:t>Chats and notes stay private</a:t>
            </a:r>
            <a:endParaRPr lang="en-US" sz="1100" dirty="0"/>
          </a:p>
        </p:txBody>
      </p:sp>
      <p:sp>
        <p:nvSpPr>
          <p:cNvPr id="7" name="Shape 5"/>
          <p:cNvSpPr/>
          <p:nvPr/>
        </p:nvSpPr>
        <p:spPr>
          <a:xfrm>
            <a:off x="3200400" y="1097280"/>
            <a:ext cx="2697480" cy="3429000"/>
          </a:xfrm>
          <a:prstGeom prst="roundRect">
            <a:avLst>
              <a:gd name="adj" fmla="val 2712"/>
            </a:avLst>
          </a:prstGeom>
          <a:solidFill>
            <a:srgbClr val="F3F5F9"/>
          </a:solidFill>
          <a:ln w="12700">
            <a:solidFill>
              <a:srgbClr val="F3F5F9"/>
            </a:solidFill>
            <a:prstDash val="solid"/>
          </a:ln>
        </p:spPr>
      </p:sp>
      <p:sp>
        <p:nvSpPr>
          <p:cNvPr id="8" name="Shape 6"/>
          <p:cNvSpPr/>
          <p:nvPr/>
        </p:nvSpPr>
        <p:spPr>
          <a:xfrm>
            <a:off x="3383280" y="1261872"/>
            <a:ext cx="292608" cy="292608"/>
          </a:xfrm>
          <a:prstGeom prst="ellipse">
            <a:avLst/>
          </a:prstGeom>
          <a:solidFill>
            <a:srgbClr val="EB6834"/>
          </a:solidFill>
          <a:ln w="12700">
            <a:solidFill>
              <a:srgbClr val="EB6834"/>
            </a:solidFill>
            <a:prstDash val="solid"/>
          </a:ln>
        </p:spPr>
      </p:sp>
      <p:sp>
        <p:nvSpPr>
          <p:cNvPr id="9" name="Text 7"/>
          <p:cNvSpPr txBox="1"/>
          <p:nvPr/>
        </p:nvSpPr>
        <p:spPr>
          <a:xfrm>
            <a:off x="3767328" y="1216152"/>
            <a:ext cx="2011680" cy="384048"/>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Safety</a:t>
            </a:r>
            <a:endParaRPr lang="en-US" sz="1600" dirty="0"/>
          </a:p>
        </p:txBody>
      </p:sp>
      <p:sp>
        <p:nvSpPr>
          <p:cNvPr id="10" name="Text 8"/>
          <p:cNvSpPr txBox="1"/>
          <p:nvPr/>
        </p:nvSpPr>
        <p:spPr>
          <a:xfrm>
            <a:off x="3383280" y="1737360"/>
            <a:ext cx="2377440" cy="26974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B1B1B"/>
                </a:solidFill>
                <a:latin typeface="Calibri" pitchFamily="34" charset="0"/>
                <a:ea typeface="Calibri" pitchFamily="34" charset="-122"/>
                <a:cs typeface="Calibri" pitchFamily="34" charset="-120"/>
              </a:rPr>
              <a:t>Web pages fetched by the server: private and local addresses refused, every redirect re-checked</a:t>
            </a:r>
            <a:endParaRPr lang="en-US" sz="1100" dirty="0"/>
          </a:p>
          <a:p>
            <a:pPr marL="342900" indent="-342900">
              <a:spcAft>
                <a:spcPts val="600"/>
              </a:spcAft>
              <a:buSzPct val="100000"/>
              <a:buChar char="•"/>
            </a:pPr>
            <a:r>
              <a:rPr lang="en-US" sz="1100" dirty="0">
                <a:solidFill>
                  <a:srgbClr val="1B1B1B"/>
                </a:solidFill>
                <a:latin typeface="Calibri" pitchFamily="34" charset="0"/>
                <a:ea typeface="Calibri" pitchFamily="34" charset="-122"/>
                <a:cs typeface="Calibri" pitchFamily="34" charset="-120"/>
              </a:rPr>
              <a:t>Fetched HTML only served as a sandboxed download</a:t>
            </a:r>
            <a:endParaRPr lang="en-US" sz="1100" dirty="0"/>
          </a:p>
          <a:p>
            <a:pPr marL="342900" indent="-342900">
              <a:spcAft>
                <a:spcPts val="600"/>
              </a:spcAft>
              <a:buSzPct val="100000"/>
              <a:buChar char="•"/>
            </a:pPr>
            <a:r>
              <a:rPr lang="en-US" sz="1100" dirty="0">
                <a:solidFill>
                  <a:srgbClr val="1B1B1B"/>
                </a:solidFill>
                <a:latin typeface="Calibri" pitchFamily="34" charset="0"/>
                <a:ea typeface="Calibri" pitchFamily="34" charset="-122"/>
                <a:cs typeface="Calibri" pitchFamily="34" charset="-120"/>
              </a:rPr>
              <a:t>Notebook-wide answers pass the same output guardrails</a:t>
            </a:r>
            <a:endParaRPr lang="en-US" sz="1100" dirty="0"/>
          </a:p>
          <a:p>
            <a:pPr marL="342900" indent="-342900">
              <a:spcAft>
                <a:spcPts val="600"/>
              </a:spcAft>
              <a:buSzPct val="100000"/>
              <a:buChar char="•"/>
            </a:pPr>
            <a:r>
              <a:rPr lang="en-US" sz="1100" dirty="0">
                <a:solidFill>
                  <a:srgbClr val="1B1B1B"/>
                </a:solidFill>
                <a:latin typeface="Calibri" pitchFamily="34" charset="0"/>
                <a:ea typeface="Calibri" pitchFamily="34" charset="-122"/>
                <a:cs typeface="Calibri" pitchFamily="34" charset="-120"/>
              </a:rPr>
              <a:t>Web search: DuckDuckGo (no key), Tavily, Brave or SearXNG</a:t>
            </a:r>
            <a:endParaRPr lang="en-US" sz="1100" dirty="0"/>
          </a:p>
        </p:txBody>
      </p:sp>
      <p:sp>
        <p:nvSpPr>
          <p:cNvPr id="11" name="Shape 9"/>
          <p:cNvSpPr/>
          <p:nvPr/>
        </p:nvSpPr>
        <p:spPr>
          <a:xfrm>
            <a:off x="6035040" y="1097280"/>
            <a:ext cx="2697480" cy="3429000"/>
          </a:xfrm>
          <a:prstGeom prst="roundRect">
            <a:avLst>
              <a:gd name="adj" fmla="val 2712"/>
            </a:avLst>
          </a:prstGeom>
          <a:solidFill>
            <a:srgbClr val="F3F5F9"/>
          </a:solidFill>
          <a:ln w="12700">
            <a:solidFill>
              <a:srgbClr val="F3F5F9"/>
            </a:solidFill>
            <a:prstDash val="solid"/>
          </a:ln>
        </p:spPr>
      </p:sp>
      <p:sp>
        <p:nvSpPr>
          <p:cNvPr id="12" name="Shape 10"/>
          <p:cNvSpPr/>
          <p:nvPr/>
        </p:nvSpPr>
        <p:spPr>
          <a:xfrm>
            <a:off x="6217920" y="1261872"/>
            <a:ext cx="292608" cy="292608"/>
          </a:xfrm>
          <a:prstGeom prst="ellipse">
            <a:avLst/>
          </a:prstGeom>
          <a:solidFill>
            <a:srgbClr val="1BAF7A"/>
          </a:solidFill>
          <a:ln w="12700">
            <a:solidFill>
              <a:srgbClr val="1BAF7A"/>
            </a:solidFill>
            <a:prstDash val="solid"/>
          </a:ln>
        </p:spPr>
      </p:sp>
      <p:sp>
        <p:nvSpPr>
          <p:cNvPr id="13" name="Text 11"/>
          <p:cNvSpPr txBox="1"/>
          <p:nvPr/>
        </p:nvSpPr>
        <p:spPr>
          <a:xfrm>
            <a:off x="6601968" y="1216152"/>
            <a:ext cx="2011680" cy="384048"/>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Testing</a:t>
            </a:r>
            <a:endParaRPr lang="en-US" sz="1600" dirty="0"/>
          </a:p>
        </p:txBody>
      </p:sp>
      <p:sp>
        <p:nvSpPr>
          <p:cNvPr id="14" name="Text 12"/>
          <p:cNvSpPr txBox="1"/>
          <p:nvPr/>
        </p:nvSpPr>
        <p:spPr>
          <a:xfrm>
            <a:off x="6217920" y="1737360"/>
            <a:ext cx="2377440" cy="26974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B1B1B"/>
                </a:solidFill>
                <a:latin typeface="Calibri" pitchFamily="34" charset="0"/>
                <a:ea typeface="Calibri" pitchFamily="34" charset="-122"/>
                <a:cs typeface="Calibri" pitchFamily="34" charset="-120"/>
              </a:rPr>
              <a:t>Service tests: 32 → 49 (sources, guides, Studio, audio, roles, search, per-model thresholds)</a:t>
            </a:r>
            <a:endParaRPr lang="en-US" sz="1100" dirty="0"/>
          </a:p>
          <a:p>
            <a:pPr marL="342900" indent="-342900">
              <a:spcAft>
                <a:spcPts val="600"/>
              </a:spcAft>
              <a:buSzPct val="100000"/>
              <a:buChar char="•"/>
            </a:pPr>
            <a:r>
              <a:rPr lang="en-US" sz="1100" dirty="0">
                <a:solidFill>
                  <a:srgbClr val="1B1B1B"/>
                </a:solidFill>
                <a:latin typeface="Calibri" pitchFamily="34" charset="0"/>
                <a:ea typeface="Calibri" pitchFamily="34" charset="-122"/>
                <a:cs typeface="Calibri" pitchFamily="34" charset="-120"/>
              </a:rPr>
              <a:t>Migrations up and down on PostgreSQL</a:t>
            </a:r>
            <a:endParaRPr lang="en-US" sz="1100" dirty="0"/>
          </a:p>
          <a:p>
            <a:pPr marL="342900" indent="-342900">
              <a:spcAft>
                <a:spcPts val="600"/>
              </a:spcAft>
              <a:buSzPct val="100000"/>
              <a:buChar char="•"/>
            </a:pPr>
            <a:r>
              <a:rPr lang="en-US" sz="1100" dirty="0">
                <a:solidFill>
                  <a:srgbClr val="1B1B1B"/>
                </a:solidFill>
                <a:latin typeface="Calibri" pitchFamily="34" charset="0"/>
                <a:ea typeface="Calibri" pitchFamily="34" charset="-122"/>
                <a:cs typeface="Calibri" pitchFamily="34" charset="-120"/>
              </a:rPr>
              <a:t>Development mode with scripted models for the UI</a:t>
            </a:r>
            <a:endParaRPr lang="en-US" sz="1100" dirty="0"/>
          </a:p>
          <a:p>
            <a:pPr marL="342900" indent="-342900">
              <a:spcAft>
                <a:spcPts val="600"/>
              </a:spcAft>
              <a:buSzPct val="100000"/>
              <a:buChar char="•"/>
            </a:pPr>
            <a:r>
              <a:rPr lang="en-US" sz="1100" dirty="0">
                <a:solidFill>
                  <a:srgbClr val="1B1B1B"/>
                </a:solidFill>
                <a:latin typeface="Calibri" pitchFamily="34" charset="0"/>
                <a:ea typeface="Calibri" pitchFamily="34" charset="-122"/>
                <a:cs typeface="Calibri" pitchFamily="34" charset="-120"/>
              </a:rPr>
              <a:t>Per-model calibration run on the laptop with real models</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Error analysis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5B5B"/>
                </a:solidFill>
                <a:latin typeface="Calibri" pitchFamily="34" charset="0"/>
                <a:ea typeface="Calibri" pitchFamily="34" charset="-122"/>
                <a:cs typeface="Calibri" pitchFamily="34" charset="-120"/>
              </a:rPr>
              <a:t>Real examples from our runs</a:t>
            </a:r>
            <a:endParaRPr lang="en-US" sz="1400" dirty="0"/>
          </a:p>
        </p:txBody>
      </p:sp>
      <p:sp>
        <p:nvSpPr>
          <p:cNvPr id="4" name="Shape 2"/>
          <p:cNvSpPr/>
          <p:nvPr/>
        </p:nvSpPr>
        <p:spPr>
          <a:xfrm>
            <a:off x="457200" y="1188720"/>
            <a:ext cx="4023360" cy="1508760"/>
          </a:xfrm>
          <a:prstGeom prst="roundRect">
            <a:avLst>
              <a:gd name="adj" fmla="val 4848"/>
            </a:avLst>
          </a:prstGeom>
          <a:solidFill>
            <a:srgbClr val="F3F5F9"/>
          </a:solidFill>
          <a:ln w="12700">
            <a:solidFill>
              <a:srgbClr val="F3F5F9"/>
            </a:solidFill>
            <a:prstDash val="solid"/>
          </a:ln>
        </p:spPr>
      </p:sp>
      <p:sp>
        <p:nvSpPr>
          <p:cNvPr id="5" name="Shape 3"/>
          <p:cNvSpPr/>
          <p:nvPr/>
        </p:nvSpPr>
        <p:spPr>
          <a:xfrm>
            <a:off x="640080" y="1371600"/>
            <a:ext cx="384048" cy="384048"/>
          </a:xfrm>
          <a:prstGeom prst="ellipse">
            <a:avLst/>
          </a:prstGeom>
          <a:solidFill>
            <a:srgbClr val="2A78D6"/>
          </a:solidFill>
          <a:ln w="12700">
            <a:solidFill>
              <a:srgbClr val="2A78D6"/>
            </a:solidFill>
            <a:prstDash val="solid"/>
          </a:ln>
        </p:spPr>
      </p:sp>
      <p:sp>
        <p:nvSpPr>
          <p:cNvPr id="6" name="Text 4"/>
          <p:cNvSpPr txBox="1"/>
          <p:nvPr/>
        </p:nvSpPr>
        <p:spPr>
          <a:xfrm>
            <a:off x="640080" y="1371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88720" y="1353312"/>
            <a:ext cx="3108960" cy="41148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Rewriting error</a:t>
            </a:r>
            <a:endParaRPr lang="en-US" sz="1500" dirty="0"/>
          </a:p>
        </p:txBody>
      </p:sp>
      <p:sp>
        <p:nvSpPr>
          <p:cNvPr id="8" name="Text 6"/>
          <p:cNvSpPr txBox="1"/>
          <p:nvPr/>
        </p:nvSpPr>
        <p:spPr>
          <a:xfrm>
            <a:off x="640080" y="1847088"/>
            <a:ext cx="3657600" cy="777240"/>
          </a:xfrm>
          <a:prstGeom prst="rect">
            <a:avLst/>
          </a:prstGeom>
          <a:noFill/>
          <a:ln/>
        </p:spPr>
        <p:txBody>
          <a:bodyPr wrap="square" lIns="0" tIns="0" rIns="0" bIns="0" rtlCol="0" anchor="t"/>
          <a:lstStyle/>
          <a:p>
            <a:pPr indent="0" marL="0">
              <a:buNone/>
            </a:pPr>
            <a:r>
              <a:rPr lang="en-US" sz="1250" dirty="0">
                <a:solidFill>
                  <a:srgbClr val="1B1B1B"/>
                </a:solidFill>
                <a:latin typeface="Calibri" pitchFamily="34" charset="0"/>
                <a:ea typeface="Calibri" pitchFamily="34" charset="-122"/>
                <a:cs typeface="Calibri" pitchFamily="34" charset="-120"/>
              </a:rPr>
              <a:t>"Probate?" (turn 6) was rewritten as a question about long-term care, so the wrong passages were retrieved and the answer refused.</a:t>
            </a:r>
            <a:endParaRPr lang="en-US" sz="1250" dirty="0"/>
          </a:p>
        </p:txBody>
      </p:sp>
      <p:sp>
        <p:nvSpPr>
          <p:cNvPr id="9" name="Shape 7"/>
          <p:cNvSpPr/>
          <p:nvPr/>
        </p:nvSpPr>
        <p:spPr>
          <a:xfrm>
            <a:off x="4663440" y="1188720"/>
            <a:ext cx="4023360" cy="1508760"/>
          </a:xfrm>
          <a:prstGeom prst="roundRect">
            <a:avLst>
              <a:gd name="adj" fmla="val 4848"/>
            </a:avLst>
          </a:prstGeom>
          <a:solidFill>
            <a:srgbClr val="F3F5F9"/>
          </a:solidFill>
          <a:ln w="12700">
            <a:solidFill>
              <a:srgbClr val="F3F5F9"/>
            </a:solidFill>
            <a:prstDash val="solid"/>
          </a:ln>
        </p:spPr>
      </p:sp>
      <p:sp>
        <p:nvSpPr>
          <p:cNvPr id="10" name="Shape 8"/>
          <p:cNvSpPr/>
          <p:nvPr/>
        </p:nvSpPr>
        <p:spPr>
          <a:xfrm>
            <a:off x="4846320" y="1371600"/>
            <a:ext cx="384048" cy="384048"/>
          </a:xfrm>
          <a:prstGeom prst="ellipse">
            <a:avLst/>
          </a:prstGeom>
          <a:solidFill>
            <a:srgbClr val="2A78D6"/>
          </a:solidFill>
          <a:ln w="12700">
            <a:solidFill>
              <a:srgbClr val="2A78D6"/>
            </a:solidFill>
            <a:prstDash val="solid"/>
          </a:ln>
        </p:spPr>
      </p:sp>
      <p:sp>
        <p:nvSpPr>
          <p:cNvPr id="11" name="Text 9"/>
          <p:cNvSpPr txBox="1"/>
          <p:nvPr/>
        </p:nvSpPr>
        <p:spPr>
          <a:xfrm>
            <a:off x="4846320" y="1371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5394960" y="1353312"/>
            <a:ext cx="3108960" cy="41148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Over-cautious generator</a:t>
            </a:r>
            <a:endParaRPr lang="en-US" sz="1500" dirty="0"/>
          </a:p>
        </p:txBody>
      </p:sp>
      <p:sp>
        <p:nvSpPr>
          <p:cNvPr id="13" name="Text 11"/>
          <p:cNvSpPr txBox="1"/>
          <p:nvPr/>
        </p:nvSpPr>
        <p:spPr>
          <a:xfrm>
            <a:off x="4846320" y="1847088"/>
            <a:ext cx="3657600" cy="777240"/>
          </a:xfrm>
          <a:prstGeom prst="rect">
            <a:avLst/>
          </a:prstGeom>
          <a:noFill/>
          <a:ln/>
        </p:spPr>
        <p:txBody>
          <a:bodyPr wrap="square" lIns="0" tIns="0" rIns="0" bIns="0" rtlCol="0" anchor="t"/>
          <a:lstStyle/>
          <a:p>
            <a:pPr indent="0" marL="0">
              <a:buNone/>
            </a:pPr>
            <a:r>
              <a:rPr lang="en-US" sz="1250" dirty="0">
                <a:solidFill>
                  <a:srgbClr val="1B1B1B"/>
                </a:solidFill>
                <a:latin typeface="Calibri" pitchFamily="34" charset="0"/>
                <a:ea typeface="Calibri" pitchFamily="34" charset="-122"/>
                <a:cs typeface="Calibri" pitchFamily="34" charset="-120"/>
              </a:rPr>
              <a:t>"Why does the last point drop in the Metrics Report?" The answer was retrieved, but the 3B model refused.</a:t>
            </a:r>
            <a:endParaRPr lang="en-US" sz="1250" dirty="0"/>
          </a:p>
        </p:txBody>
      </p:sp>
      <p:sp>
        <p:nvSpPr>
          <p:cNvPr id="14" name="Shape 12"/>
          <p:cNvSpPr/>
          <p:nvPr/>
        </p:nvSpPr>
        <p:spPr>
          <a:xfrm>
            <a:off x="457200" y="2880360"/>
            <a:ext cx="4023360" cy="1508760"/>
          </a:xfrm>
          <a:prstGeom prst="roundRect">
            <a:avLst>
              <a:gd name="adj" fmla="val 4848"/>
            </a:avLst>
          </a:prstGeom>
          <a:solidFill>
            <a:srgbClr val="F3F5F9"/>
          </a:solidFill>
          <a:ln w="12700">
            <a:solidFill>
              <a:srgbClr val="F3F5F9"/>
            </a:solidFill>
            <a:prstDash val="solid"/>
          </a:ln>
        </p:spPr>
      </p:sp>
      <p:sp>
        <p:nvSpPr>
          <p:cNvPr id="15" name="Shape 13"/>
          <p:cNvSpPr/>
          <p:nvPr/>
        </p:nvSpPr>
        <p:spPr>
          <a:xfrm>
            <a:off x="640080" y="3063240"/>
            <a:ext cx="384048" cy="384048"/>
          </a:xfrm>
          <a:prstGeom prst="ellipse">
            <a:avLst/>
          </a:prstGeom>
          <a:solidFill>
            <a:srgbClr val="EB6834"/>
          </a:solidFill>
          <a:ln w="12700">
            <a:solidFill>
              <a:srgbClr val="EB6834"/>
            </a:solidFill>
            <a:prstDash val="solid"/>
          </a:ln>
        </p:spPr>
      </p:sp>
      <p:sp>
        <p:nvSpPr>
          <p:cNvPr id="16" name="Text 14"/>
          <p:cNvSpPr txBox="1"/>
          <p:nvPr/>
        </p:nvSpPr>
        <p:spPr>
          <a:xfrm>
            <a:off x="640080" y="3063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188720" y="3044952"/>
            <a:ext cx="3108960" cy="41148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Label vs. corpus</a:t>
            </a:r>
            <a:endParaRPr lang="en-US" sz="1500" dirty="0"/>
          </a:p>
        </p:txBody>
      </p:sp>
      <p:sp>
        <p:nvSpPr>
          <p:cNvPr id="18" name="Text 16"/>
          <p:cNvSpPr txBox="1"/>
          <p:nvPr/>
        </p:nvSpPr>
        <p:spPr>
          <a:xfrm>
            <a:off x="640080" y="3538728"/>
            <a:ext cx="3657600" cy="777240"/>
          </a:xfrm>
          <a:prstGeom prst="rect">
            <a:avLst/>
          </a:prstGeom>
          <a:noFill/>
          <a:ln/>
        </p:spPr>
        <p:txBody>
          <a:bodyPr wrap="square" lIns="0" tIns="0" rIns="0" bIns="0" rtlCol="0" anchor="t"/>
          <a:lstStyle/>
          <a:p>
            <a:pPr indent="0" marL="0">
              <a:buNone/>
            </a:pPr>
            <a:r>
              <a:rPr lang="en-US" sz="1250" dirty="0">
                <a:solidFill>
                  <a:srgbClr val="1B1B1B"/>
                </a:solidFill>
                <a:latin typeface="Calibri" pitchFamily="34" charset="0"/>
                <a:ea typeface="Calibri" pitchFamily="34" charset="-122"/>
                <a:cs typeface="Calibri" pitchFamily="34" charset="-120"/>
              </a:rPr>
              <a:t>"How many were arrested?" is labelled unanswerable, but the passage states "over 100,000 arrests".</a:t>
            </a:r>
            <a:endParaRPr lang="en-US" sz="1250" dirty="0"/>
          </a:p>
        </p:txBody>
      </p:sp>
      <p:sp>
        <p:nvSpPr>
          <p:cNvPr id="19" name="Shape 17"/>
          <p:cNvSpPr/>
          <p:nvPr/>
        </p:nvSpPr>
        <p:spPr>
          <a:xfrm>
            <a:off x="4663440" y="2880360"/>
            <a:ext cx="4023360" cy="1508760"/>
          </a:xfrm>
          <a:prstGeom prst="roundRect">
            <a:avLst>
              <a:gd name="adj" fmla="val 4848"/>
            </a:avLst>
          </a:prstGeom>
          <a:solidFill>
            <a:srgbClr val="F3F5F9"/>
          </a:solidFill>
          <a:ln w="12700">
            <a:solidFill>
              <a:srgbClr val="F3F5F9"/>
            </a:solidFill>
            <a:prstDash val="solid"/>
          </a:ln>
        </p:spPr>
      </p:sp>
      <p:sp>
        <p:nvSpPr>
          <p:cNvPr id="20" name="Shape 18"/>
          <p:cNvSpPr/>
          <p:nvPr/>
        </p:nvSpPr>
        <p:spPr>
          <a:xfrm>
            <a:off x="4846320" y="3063240"/>
            <a:ext cx="384048" cy="384048"/>
          </a:xfrm>
          <a:prstGeom prst="ellipse">
            <a:avLst/>
          </a:prstGeom>
          <a:solidFill>
            <a:srgbClr val="EB6834"/>
          </a:solidFill>
          <a:ln w="12700">
            <a:solidFill>
              <a:srgbClr val="EB6834"/>
            </a:solidFill>
            <a:prstDash val="solid"/>
          </a:ln>
        </p:spPr>
      </p:sp>
      <p:sp>
        <p:nvSpPr>
          <p:cNvPr id="21" name="Text 19"/>
          <p:cNvSpPr txBox="1"/>
          <p:nvPr/>
        </p:nvSpPr>
        <p:spPr>
          <a:xfrm>
            <a:off x="4846320" y="3063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5394960" y="3044952"/>
            <a:ext cx="3108960" cy="41148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Ambiguous terms</a:t>
            </a:r>
            <a:endParaRPr lang="en-US" sz="1500" dirty="0"/>
          </a:p>
        </p:txBody>
      </p:sp>
      <p:sp>
        <p:nvSpPr>
          <p:cNvPr id="23" name="Text 21"/>
          <p:cNvSpPr txBox="1"/>
          <p:nvPr/>
        </p:nvSpPr>
        <p:spPr>
          <a:xfrm>
            <a:off x="4846320" y="3538728"/>
            <a:ext cx="3657600" cy="777240"/>
          </a:xfrm>
          <a:prstGeom prst="rect">
            <a:avLst/>
          </a:prstGeom>
          <a:noFill/>
          <a:ln/>
        </p:spPr>
        <p:txBody>
          <a:bodyPr wrap="square" lIns="0" tIns="0" rIns="0" bIns="0" rtlCol="0" anchor="t"/>
          <a:lstStyle/>
          <a:p>
            <a:pPr indent="0" marL="0">
              <a:buNone/>
            </a:pPr>
            <a:r>
              <a:rPr lang="en-US" sz="1250" dirty="0">
                <a:solidFill>
                  <a:srgbClr val="1B1B1B"/>
                </a:solidFill>
                <a:latin typeface="Calibri" pitchFamily="34" charset="0"/>
                <a:ea typeface="Calibri" pitchFamily="34" charset="-122"/>
                <a:cs typeface="Calibri" pitchFamily="34" charset="-120"/>
              </a:rPr>
              <a:t>"EV" (electric vehicle) retrieved enterprise value pages in the finance corpus; the gate then wrongly refused.</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Challenges and solutions</a:t>
            </a:r>
            <a:endParaRPr lang="en-US" sz="2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931920"/>
                <a:gridCol w="429768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Challenge</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Solution</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4213D"/>
                    </a:solidFill>
                  </a:tcPr>
                </a:tc>
              </a:tr>
              <a:tr h="38404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LLM too slow (161 s/task with bitsandbytes)</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Ollama GGUF (35 s) + shorter prompts (24 s/task)</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8404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FP16 training errors, API changes in Transformers 5</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fp32 master weights; compute warm-up steps ourselves</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8404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DeBERTa checker near chance (AUROC ≈ 0.65)</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Per-passage scoring; start from the BGE re-ranker (0.747)</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8404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23% of synthetic labels wrong</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Qwen LLM judge with a resumable cache and retries</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8404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Threshold tuned on only 6 real examples</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Tune on all 224 dev examples; safe fallback</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8404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Checker training took 5 h (GPU shared with Ollama)</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Unload Ollama first: 74 min</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8404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Six full runs would take ~18 h</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Derive S2-rr, S3, S4 from the deterministic S2 run (10 min each)</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84048">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Agent self-check refused 71% of answerable turns</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200" dirty="0">
                          <a:solidFill>
                            <a:srgbClr val="1B1B1B"/>
                          </a:solidFill>
                          <a:latin typeface="Calibri" pitchFamily="34" charset="0"/>
                          <a:ea typeface="Calibri" pitchFamily="34" charset="-122"/>
                          <a:cs typeface="Calibri" pitchFamily="34" charset="-120"/>
                        </a:rPr>
                        <a:t>Self-check only doubtful answers (p ≥ 0.5), cut-off chosen on dev</a:t>
                      </a:r>
                      <a:endParaRPr lang="en-US" sz="1200" dirty="0">
                        <a:latin typeface="Calibri" charset="0"/>
                        <a:ea typeface="Calibri" charset="0"/>
                        <a:cs typeface="Calibri"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3" name="Shape 1"/>
          <p:cNvSpPr/>
          <p:nvPr/>
        </p:nvSpPr>
        <p:spPr>
          <a:xfrm>
            <a:off x="548640" y="1143000"/>
            <a:ext cx="384048" cy="384048"/>
          </a:xfrm>
          <a:prstGeom prst="ellipse">
            <a:avLst/>
          </a:prstGeom>
          <a:solidFill>
            <a:srgbClr val="EB6834"/>
          </a:solidFill>
          <a:ln w="12700">
            <a:solidFill>
              <a:srgbClr val="EB6834"/>
            </a:solidFill>
            <a:prstDash val="solid"/>
          </a:ln>
        </p:spPr>
      </p:sp>
      <p:sp>
        <p:nvSpPr>
          <p:cNvPr id="4" name="Text 2"/>
          <p:cNvSpPr txBox="1"/>
          <p:nvPr/>
        </p:nvSpPr>
        <p:spPr>
          <a:xfrm>
            <a:off x="548640" y="1143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txBox="1"/>
          <p:nvPr/>
        </p:nvSpPr>
        <p:spPr>
          <a:xfrm>
            <a:off x="1097280" y="1097280"/>
            <a:ext cx="338328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RQ1: no abstention drift</a:t>
            </a:r>
            <a:endParaRPr lang="en-US" sz="1600" dirty="0"/>
          </a:p>
        </p:txBody>
      </p:sp>
      <p:sp>
        <p:nvSpPr>
          <p:cNvPr id="6" name="Text 4"/>
          <p:cNvSpPr txBox="1"/>
          <p:nvPr/>
        </p:nvSpPr>
        <p:spPr>
          <a:xfrm>
            <a:off x="1097280" y="1554480"/>
            <a:ext cx="3383280" cy="731520"/>
          </a:xfrm>
          <a:prstGeom prst="rect">
            <a:avLst/>
          </a:prstGeom>
          <a:noFill/>
          <a:ln/>
        </p:spPr>
        <p:txBody>
          <a:bodyPr wrap="square" lIns="0" tIns="0" rIns="0" bIns="0" rtlCol="0" anchor="t"/>
          <a:lstStyle/>
          <a:p>
            <a:pPr indent="0" marL="0">
              <a:buNone/>
            </a:pPr>
            <a:r>
              <a:rPr lang="en-US" sz="1250" dirty="0">
                <a:solidFill>
                  <a:srgbClr val="CADCFC"/>
                </a:solidFill>
                <a:latin typeface="Calibri" pitchFamily="34" charset="0"/>
                <a:ea typeface="Calibri" pitchFamily="34" charset="-122"/>
                <a:cs typeface="Calibri" pitchFamily="34" charset="-120"/>
              </a:rPr>
              <a:t>Flat recall across turns on the test set and under the controlled probe (declines &gt; ~1 pt/turn ruled out).</a:t>
            </a:r>
            <a:endParaRPr lang="en-US" sz="1250" dirty="0"/>
          </a:p>
        </p:txBody>
      </p:sp>
      <p:sp>
        <p:nvSpPr>
          <p:cNvPr id="7" name="Shape 5"/>
          <p:cNvSpPr/>
          <p:nvPr/>
        </p:nvSpPr>
        <p:spPr>
          <a:xfrm>
            <a:off x="4663440" y="1143000"/>
            <a:ext cx="384048" cy="384048"/>
          </a:xfrm>
          <a:prstGeom prst="ellipse">
            <a:avLst/>
          </a:prstGeom>
          <a:solidFill>
            <a:srgbClr val="EB6834"/>
          </a:solidFill>
          <a:ln w="12700">
            <a:solidFill>
              <a:srgbClr val="EB6834"/>
            </a:solidFill>
            <a:prstDash val="solid"/>
          </a:ln>
        </p:spPr>
      </p:sp>
      <p:sp>
        <p:nvSpPr>
          <p:cNvPr id="8" name="Text 6"/>
          <p:cNvSpPr txBox="1"/>
          <p:nvPr/>
        </p:nvSpPr>
        <p:spPr>
          <a:xfrm>
            <a:off x="4663440" y="1143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5212080" y="1097280"/>
            <a:ext cx="338328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Cheap data is noisy</a:t>
            </a:r>
            <a:endParaRPr lang="en-US" sz="1600" dirty="0"/>
          </a:p>
        </p:txBody>
      </p:sp>
      <p:sp>
        <p:nvSpPr>
          <p:cNvPr id="10" name="Text 8"/>
          <p:cNvSpPr txBox="1"/>
          <p:nvPr/>
        </p:nvSpPr>
        <p:spPr>
          <a:xfrm>
            <a:off x="5212080" y="1554480"/>
            <a:ext cx="3383280" cy="731520"/>
          </a:xfrm>
          <a:prstGeom prst="rect">
            <a:avLst/>
          </a:prstGeom>
          <a:noFill/>
          <a:ln/>
        </p:spPr>
        <p:txBody>
          <a:bodyPr wrap="square" lIns="0" tIns="0" rIns="0" bIns="0" rtlCol="0" anchor="t"/>
          <a:lstStyle/>
          <a:p>
            <a:pPr indent="0" marL="0">
              <a:buNone/>
            </a:pPr>
            <a:r>
              <a:rPr lang="en-US" sz="1250" dirty="0">
                <a:solidFill>
                  <a:srgbClr val="CADCFC"/>
                </a:solidFill>
                <a:latin typeface="Calibri" pitchFamily="34" charset="0"/>
                <a:ea typeface="Calibri" pitchFamily="34" charset="-122"/>
                <a:cs typeface="Calibri" pitchFamily="34" charset="-120"/>
              </a:rPr>
              <a:t>23% of evidence-removed examples were still answerable; filtering is required.</a:t>
            </a:r>
            <a:endParaRPr lang="en-US" sz="1250" dirty="0"/>
          </a:p>
        </p:txBody>
      </p:sp>
      <p:sp>
        <p:nvSpPr>
          <p:cNvPr id="11" name="Shape 9"/>
          <p:cNvSpPr/>
          <p:nvPr/>
        </p:nvSpPr>
        <p:spPr>
          <a:xfrm>
            <a:off x="548640" y="2468880"/>
            <a:ext cx="384048" cy="384048"/>
          </a:xfrm>
          <a:prstGeom prst="ellipse">
            <a:avLst/>
          </a:prstGeom>
          <a:solidFill>
            <a:srgbClr val="EB6834"/>
          </a:solidFill>
          <a:ln w="12700">
            <a:solidFill>
              <a:srgbClr val="EB6834"/>
            </a:solidFill>
            <a:prstDash val="solid"/>
          </a:ln>
        </p:spPr>
      </p:sp>
      <p:sp>
        <p:nvSpPr>
          <p:cNvPr id="12" name="Text 10"/>
          <p:cNvSpPr txBox="1"/>
          <p:nvPr/>
        </p:nvSpPr>
        <p:spPr>
          <a:xfrm>
            <a:off x="548640" y="2468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097280" y="2423160"/>
            <a:ext cx="338328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RQ2: gates don't pay off</a:t>
            </a:r>
            <a:endParaRPr lang="en-US" sz="1600" dirty="0"/>
          </a:p>
        </p:txBody>
      </p:sp>
      <p:sp>
        <p:nvSpPr>
          <p:cNvPr id="14" name="Text 12"/>
          <p:cNvSpPr txBox="1"/>
          <p:nvPr/>
        </p:nvSpPr>
        <p:spPr>
          <a:xfrm>
            <a:off x="1097280" y="2880360"/>
            <a:ext cx="3383280" cy="731520"/>
          </a:xfrm>
          <a:prstGeom prst="rect">
            <a:avLst/>
          </a:prstGeom>
          <a:noFill/>
          <a:ln/>
        </p:spPr>
        <p:txBody>
          <a:bodyPr wrap="square" lIns="0" tIns="0" rIns="0" bIns="0" rtlCol="0" anchor="t"/>
          <a:lstStyle/>
          <a:p>
            <a:pPr indent="0" marL="0">
              <a:buNone/>
            </a:pPr>
            <a:r>
              <a:rPr lang="en-US" sz="1250" dirty="0">
                <a:solidFill>
                  <a:srgbClr val="CADCFC"/>
                </a:solidFill>
                <a:latin typeface="Calibri" pitchFamily="34" charset="0"/>
                <a:ea typeface="Calibri" pitchFamily="34" charset="-122"/>
                <a:cs typeface="Calibri" pitchFamily="34" charset="-120"/>
              </a:rPr>
              <a:t>Each gate adds more wrong refusals (8–13) than catches (3–8); untrained re-ranker is best.</a:t>
            </a:r>
            <a:endParaRPr lang="en-US" sz="1250" dirty="0"/>
          </a:p>
        </p:txBody>
      </p:sp>
      <p:sp>
        <p:nvSpPr>
          <p:cNvPr id="15" name="Shape 13"/>
          <p:cNvSpPr/>
          <p:nvPr/>
        </p:nvSpPr>
        <p:spPr>
          <a:xfrm>
            <a:off x="4663440" y="2468880"/>
            <a:ext cx="384048" cy="384048"/>
          </a:xfrm>
          <a:prstGeom prst="ellipse">
            <a:avLst/>
          </a:prstGeom>
          <a:solidFill>
            <a:srgbClr val="EB6834"/>
          </a:solidFill>
          <a:ln w="12700">
            <a:solidFill>
              <a:srgbClr val="EB6834"/>
            </a:solidFill>
            <a:prstDash val="solid"/>
          </a:ln>
        </p:spPr>
      </p:sp>
      <p:sp>
        <p:nvSpPr>
          <p:cNvPr id="16" name="Text 14"/>
          <p:cNvSpPr txBox="1"/>
          <p:nvPr/>
        </p:nvSpPr>
        <p:spPr>
          <a:xfrm>
            <a:off x="4663440" y="2468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5212080" y="2423160"/>
            <a:ext cx="338328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Agent (S5) helps</a:t>
            </a:r>
            <a:endParaRPr lang="en-US" sz="1600" dirty="0"/>
          </a:p>
        </p:txBody>
      </p:sp>
      <p:sp>
        <p:nvSpPr>
          <p:cNvPr id="18" name="Text 16"/>
          <p:cNvSpPr txBox="1"/>
          <p:nvPr/>
        </p:nvSpPr>
        <p:spPr>
          <a:xfrm>
            <a:off x="5212080" y="2880360"/>
            <a:ext cx="3383280" cy="731520"/>
          </a:xfrm>
          <a:prstGeom prst="rect">
            <a:avLst/>
          </a:prstGeom>
          <a:noFill/>
          <a:ln/>
        </p:spPr>
        <p:txBody>
          <a:bodyPr wrap="square" lIns="0" tIns="0" rIns="0" bIns="0" rtlCol="0" anchor="t"/>
          <a:lstStyle/>
          <a:p>
            <a:pPr indent="0" marL="0">
              <a:buNone/>
            </a:pPr>
            <a:r>
              <a:rPr lang="en-US" sz="1250" dirty="0">
                <a:solidFill>
                  <a:srgbClr val="CADCFC"/>
                </a:solidFill>
                <a:latin typeface="Calibri" pitchFamily="34" charset="0"/>
                <a:ea typeface="Calibri" pitchFamily="34" charset="-122"/>
                <a:cs typeface="Calibri" pitchFamily="34" charset="-120"/>
              </a:rPr>
              <a:t>Retry before refusing: wrong refusals 18.4% → 13.6%. With selective self-check: best F1 (.511 vs .443).</a:t>
            </a:r>
            <a:endParaRPr lang="en-US" sz="1250" dirty="0"/>
          </a:p>
        </p:txBody>
      </p:sp>
      <p:sp>
        <p:nvSpPr>
          <p:cNvPr id="19" name="Text 17"/>
          <p:cNvSpPr txBox="1"/>
          <p:nvPr/>
        </p:nvSpPr>
        <p:spPr>
          <a:xfrm>
            <a:off x="548640" y="3931920"/>
            <a:ext cx="8046720" cy="54864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Over-refusal (18–28%) is the main error of the fixed pipeline. The agent runs as a production service and a NotebookLM-style app with ten local models, each with its own refusal thresholds. Future work: GPU serving (vLLM) · larger LLMs · per-model thresholds on test · human-validated labels</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Team contributions</a:t>
            </a:r>
            <a:endParaRPr lang="en-US" sz="2800" dirty="0"/>
          </a:p>
        </p:txBody>
      </p:sp>
      <p:sp>
        <p:nvSpPr>
          <p:cNvPr id="3" name="Shape 1"/>
          <p:cNvSpPr/>
          <p:nvPr/>
        </p:nvSpPr>
        <p:spPr>
          <a:xfrm>
            <a:off x="457200" y="1143000"/>
            <a:ext cx="8229600" cy="548640"/>
          </a:xfrm>
          <a:prstGeom prst="roundRect">
            <a:avLst>
              <a:gd name="adj" fmla="val 13333"/>
            </a:avLst>
          </a:prstGeom>
          <a:solidFill>
            <a:srgbClr val="F3F5F9"/>
          </a:solidFill>
          <a:ln w="12700">
            <a:solidFill>
              <a:srgbClr val="F3F5F9"/>
            </a:solidFill>
            <a:prstDash val="solid"/>
          </a:ln>
        </p:spPr>
      </p:sp>
      <p:sp>
        <p:nvSpPr>
          <p:cNvPr id="4" name="Text 2"/>
          <p:cNvSpPr txBox="1"/>
          <p:nvPr/>
        </p:nvSpPr>
        <p:spPr>
          <a:xfrm>
            <a:off x="640080" y="1143000"/>
            <a:ext cx="1280160" cy="548640"/>
          </a:xfrm>
          <a:prstGeom prst="rect">
            <a:avLst/>
          </a:prstGeom>
          <a:noFill/>
          <a:ln/>
        </p:spPr>
        <p:txBody>
          <a:bodyPr wrap="square" lIns="0" tIns="0" rIns="0" bIns="0" rtlCol="0" anchor="ctr"/>
          <a:lstStyle/>
          <a:p>
            <a:pPr indent="0" marL="0">
              <a:buNone/>
            </a:pPr>
            <a:r>
              <a:rPr lang="en-US" sz="1400" b="1" dirty="0">
                <a:solidFill>
                  <a:srgbClr val="EB6834"/>
                </a:solidFill>
                <a:latin typeface="Cambria" pitchFamily="34" charset="0"/>
                <a:ea typeface="Cambria" pitchFamily="34" charset="-122"/>
                <a:cs typeface="Cambria" pitchFamily="34" charset="-120"/>
              </a:rPr>
              <a:t>Member 1</a:t>
            </a:r>
            <a:endParaRPr lang="en-US" sz="1400" dirty="0"/>
          </a:p>
        </p:txBody>
      </p:sp>
      <p:sp>
        <p:nvSpPr>
          <p:cNvPr id="5" name="Text 3"/>
          <p:cNvSpPr txBox="1"/>
          <p:nvPr/>
        </p:nvSpPr>
        <p:spPr>
          <a:xfrm>
            <a:off x="1920240" y="1143000"/>
            <a:ext cx="2377440" cy="54864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Retrieval lead</a:t>
            </a:r>
            <a:endParaRPr lang="en-US" sz="1400" dirty="0"/>
          </a:p>
        </p:txBody>
      </p:sp>
      <p:sp>
        <p:nvSpPr>
          <p:cNvPr id="6" name="Text 4"/>
          <p:cNvSpPr txBox="1"/>
          <p:nvPr/>
        </p:nvSpPr>
        <p:spPr>
          <a:xfrm>
            <a:off x="4297680" y="1143000"/>
            <a:ext cx="4297680" cy="548640"/>
          </a:xfrm>
          <a:prstGeom prst="rect">
            <a:avLst/>
          </a:prstGeom>
          <a:noFill/>
          <a:ln/>
        </p:spPr>
        <p:txBody>
          <a:bodyPr wrap="square" lIns="0" tIns="0" rIns="0" bIns="0" rtlCol="0" anchor="ctr"/>
          <a:lstStyle/>
          <a:p>
            <a:pPr indent="0" marL="0">
              <a:buNone/>
            </a:pPr>
            <a:r>
              <a:rPr lang="en-US" sz="1250" dirty="0">
                <a:solidFill>
                  <a:srgbClr val="1B1B1B"/>
                </a:solidFill>
                <a:latin typeface="Calibri" pitchFamily="34" charset="0"/>
                <a:ea typeface="Calibri" pitchFamily="34" charset="-122"/>
                <a:cs typeface="Calibri" pitchFamily="34" charset="-120"/>
              </a:rPr>
              <a:t>Indexes (BM25, BGE-small, FAISS), fusion, re-ranking</a:t>
            </a:r>
            <a:endParaRPr lang="en-US" sz="1250" dirty="0"/>
          </a:p>
        </p:txBody>
      </p:sp>
      <p:sp>
        <p:nvSpPr>
          <p:cNvPr id="7" name="Shape 5"/>
          <p:cNvSpPr/>
          <p:nvPr/>
        </p:nvSpPr>
        <p:spPr>
          <a:xfrm>
            <a:off x="457200" y="1801368"/>
            <a:ext cx="8229600" cy="548640"/>
          </a:xfrm>
          <a:prstGeom prst="roundRect">
            <a:avLst>
              <a:gd name="adj" fmla="val 13333"/>
            </a:avLst>
          </a:prstGeom>
          <a:solidFill>
            <a:srgbClr val="F3F5F9"/>
          </a:solidFill>
          <a:ln w="12700">
            <a:solidFill>
              <a:srgbClr val="F3F5F9"/>
            </a:solidFill>
            <a:prstDash val="solid"/>
          </a:ln>
        </p:spPr>
      </p:sp>
      <p:sp>
        <p:nvSpPr>
          <p:cNvPr id="8" name="Text 6"/>
          <p:cNvSpPr txBox="1"/>
          <p:nvPr/>
        </p:nvSpPr>
        <p:spPr>
          <a:xfrm>
            <a:off x="640080" y="1801368"/>
            <a:ext cx="1280160" cy="548640"/>
          </a:xfrm>
          <a:prstGeom prst="rect">
            <a:avLst/>
          </a:prstGeom>
          <a:noFill/>
          <a:ln/>
        </p:spPr>
        <p:txBody>
          <a:bodyPr wrap="square" lIns="0" tIns="0" rIns="0" bIns="0" rtlCol="0" anchor="ctr"/>
          <a:lstStyle/>
          <a:p>
            <a:pPr indent="0" marL="0">
              <a:buNone/>
            </a:pPr>
            <a:r>
              <a:rPr lang="en-US" sz="1400" b="1" dirty="0">
                <a:solidFill>
                  <a:srgbClr val="EB6834"/>
                </a:solidFill>
                <a:latin typeface="Cambria" pitchFamily="34" charset="0"/>
                <a:ea typeface="Cambria" pitchFamily="34" charset="-122"/>
                <a:cs typeface="Cambria" pitchFamily="34" charset="-120"/>
              </a:rPr>
              <a:t>Member 2</a:t>
            </a:r>
            <a:endParaRPr lang="en-US" sz="1400" dirty="0"/>
          </a:p>
        </p:txBody>
      </p:sp>
      <p:sp>
        <p:nvSpPr>
          <p:cNvPr id="9" name="Text 7"/>
          <p:cNvSpPr txBox="1"/>
          <p:nvPr/>
        </p:nvSpPr>
        <p:spPr>
          <a:xfrm>
            <a:off x="1920240" y="1801368"/>
            <a:ext cx="2377440" cy="54864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Generation &amp; rewriting</a:t>
            </a:r>
            <a:endParaRPr lang="en-US" sz="1400" dirty="0"/>
          </a:p>
        </p:txBody>
      </p:sp>
      <p:sp>
        <p:nvSpPr>
          <p:cNvPr id="10" name="Text 8"/>
          <p:cNvSpPr txBox="1"/>
          <p:nvPr/>
        </p:nvSpPr>
        <p:spPr>
          <a:xfrm>
            <a:off x="4297680" y="1801368"/>
            <a:ext cx="4297680" cy="548640"/>
          </a:xfrm>
          <a:prstGeom prst="rect">
            <a:avLst/>
          </a:prstGeom>
          <a:noFill/>
          <a:ln/>
        </p:spPr>
        <p:txBody>
          <a:bodyPr wrap="square" lIns="0" tIns="0" rIns="0" bIns="0" rtlCol="0" anchor="ctr"/>
          <a:lstStyle/>
          <a:p>
            <a:pPr indent="0" marL="0">
              <a:buNone/>
            </a:pPr>
            <a:r>
              <a:rPr lang="en-US" sz="1250" dirty="0">
                <a:solidFill>
                  <a:srgbClr val="1B1B1B"/>
                </a:solidFill>
                <a:latin typeface="Calibri" pitchFamily="34" charset="0"/>
                <a:ea typeface="Calibri" pitchFamily="34" charset="-122"/>
                <a:cs typeface="Calibri" pitchFamily="34" charset="-120"/>
              </a:rPr>
              <a:t>Qwen2.5-3B prompts, Ollama backend, system runs S0–S2</a:t>
            </a:r>
            <a:endParaRPr lang="en-US" sz="1250" dirty="0"/>
          </a:p>
        </p:txBody>
      </p:sp>
      <p:sp>
        <p:nvSpPr>
          <p:cNvPr id="11" name="Shape 9"/>
          <p:cNvSpPr/>
          <p:nvPr/>
        </p:nvSpPr>
        <p:spPr>
          <a:xfrm>
            <a:off x="457200" y="2459736"/>
            <a:ext cx="8229600" cy="548640"/>
          </a:xfrm>
          <a:prstGeom prst="roundRect">
            <a:avLst>
              <a:gd name="adj" fmla="val 13333"/>
            </a:avLst>
          </a:prstGeom>
          <a:solidFill>
            <a:srgbClr val="F3F5F9"/>
          </a:solidFill>
          <a:ln w="12700">
            <a:solidFill>
              <a:srgbClr val="F3F5F9"/>
            </a:solidFill>
            <a:prstDash val="solid"/>
          </a:ln>
        </p:spPr>
      </p:sp>
      <p:sp>
        <p:nvSpPr>
          <p:cNvPr id="12" name="Text 10"/>
          <p:cNvSpPr txBox="1"/>
          <p:nvPr/>
        </p:nvSpPr>
        <p:spPr>
          <a:xfrm>
            <a:off x="640080" y="2459736"/>
            <a:ext cx="1280160" cy="548640"/>
          </a:xfrm>
          <a:prstGeom prst="rect">
            <a:avLst/>
          </a:prstGeom>
          <a:noFill/>
          <a:ln/>
        </p:spPr>
        <p:txBody>
          <a:bodyPr wrap="square" lIns="0" tIns="0" rIns="0" bIns="0" rtlCol="0" anchor="ctr"/>
          <a:lstStyle/>
          <a:p>
            <a:pPr indent="0" marL="0">
              <a:buNone/>
            </a:pPr>
            <a:r>
              <a:rPr lang="en-US" sz="1400" b="1" dirty="0">
                <a:solidFill>
                  <a:srgbClr val="EB6834"/>
                </a:solidFill>
                <a:latin typeface="Cambria" pitchFamily="34" charset="0"/>
                <a:ea typeface="Cambria" pitchFamily="34" charset="-122"/>
                <a:cs typeface="Cambria" pitchFamily="34" charset="-120"/>
              </a:rPr>
              <a:t>Member 3</a:t>
            </a:r>
            <a:endParaRPr lang="en-US" sz="1400" dirty="0"/>
          </a:p>
        </p:txBody>
      </p:sp>
      <p:sp>
        <p:nvSpPr>
          <p:cNvPr id="13" name="Text 11"/>
          <p:cNvSpPr txBox="1"/>
          <p:nvPr/>
        </p:nvSpPr>
        <p:spPr>
          <a:xfrm>
            <a:off x="1920240" y="2459736"/>
            <a:ext cx="2377440" cy="54864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Checker &amp; data</a:t>
            </a:r>
            <a:endParaRPr lang="en-US" sz="1400" dirty="0"/>
          </a:p>
        </p:txBody>
      </p:sp>
      <p:sp>
        <p:nvSpPr>
          <p:cNvPr id="14" name="Text 12"/>
          <p:cNvSpPr txBox="1"/>
          <p:nvPr/>
        </p:nvSpPr>
        <p:spPr>
          <a:xfrm>
            <a:off x="4297680" y="2459736"/>
            <a:ext cx="4297680" cy="548640"/>
          </a:xfrm>
          <a:prstGeom prst="rect">
            <a:avLst/>
          </a:prstGeom>
          <a:noFill/>
          <a:ln/>
        </p:spPr>
        <p:txBody>
          <a:bodyPr wrap="square" lIns="0" tIns="0" rIns="0" bIns="0" rtlCol="0" anchor="ctr"/>
          <a:lstStyle/>
          <a:p>
            <a:pPr indent="0" marL="0">
              <a:buNone/>
            </a:pPr>
            <a:r>
              <a:rPr lang="en-US" sz="1250" dirty="0">
                <a:solidFill>
                  <a:srgbClr val="1B1B1B"/>
                </a:solidFill>
                <a:latin typeface="Calibri" pitchFamily="34" charset="0"/>
                <a:ea typeface="Calibri" pitchFamily="34" charset="-122"/>
                <a:cs typeface="Calibri" pitchFamily="34" charset="-120"/>
              </a:rPr>
              <a:t>Evidence removal, LLM judge, checker training, thresholds</a:t>
            </a:r>
            <a:endParaRPr lang="en-US" sz="1250" dirty="0"/>
          </a:p>
        </p:txBody>
      </p:sp>
      <p:sp>
        <p:nvSpPr>
          <p:cNvPr id="15" name="Shape 13"/>
          <p:cNvSpPr/>
          <p:nvPr/>
        </p:nvSpPr>
        <p:spPr>
          <a:xfrm>
            <a:off x="457200" y="3118104"/>
            <a:ext cx="8229600" cy="548640"/>
          </a:xfrm>
          <a:prstGeom prst="roundRect">
            <a:avLst>
              <a:gd name="adj" fmla="val 13333"/>
            </a:avLst>
          </a:prstGeom>
          <a:solidFill>
            <a:srgbClr val="F3F5F9"/>
          </a:solidFill>
          <a:ln w="12700">
            <a:solidFill>
              <a:srgbClr val="F3F5F9"/>
            </a:solidFill>
            <a:prstDash val="solid"/>
          </a:ln>
        </p:spPr>
      </p:sp>
      <p:sp>
        <p:nvSpPr>
          <p:cNvPr id="16" name="Text 14"/>
          <p:cNvSpPr txBox="1"/>
          <p:nvPr/>
        </p:nvSpPr>
        <p:spPr>
          <a:xfrm>
            <a:off x="640080" y="3118104"/>
            <a:ext cx="1280160" cy="548640"/>
          </a:xfrm>
          <a:prstGeom prst="rect">
            <a:avLst/>
          </a:prstGeom>
          <a:noFill/>
          <a:ln/>
        </p:spPr>
        <p:txBody>
          <a:bodyPr wrap="square" lIns="0" tIns="0" rIns="0" bIns="0" rtlCol="0" anchor="ctr"/>
          <a:lstStyle/>
          <a:p>
            <a:pPr indent="0" marL="0">
              <a:buNone/>
            </a:pPr>
            <a:r>
              <a:rPr lang="en-US" sz="1400" b="1" dirty="0">
                <a:solidFill>
                  <a:srgbClr val="EB6834"/>
                </a:solidFill>
                <a:latin typeface="Cambria" pitchFamily="34" charset="0"/>
                <a:ea typeface="Cambria" pitchFamily="34" charset="-122"/>
                <a:cs typeface="Cambria" pitchFamily="34" charset="-120"/>
              </a:rPr>
              <a:t>Member 4</a:t>
            </a:r>
            <a:endParaRPr lang="en-US" sz="1400" dirty="0"/>
          </a:p>
        </p:txBody>
      </p:sp>
      <p:sp>
        <p:nvSpPr>
          <p:cNvPr id="17" name="Text 15"/>
          <p:cNvSpPr txBox="1"/>
          <p:nvPr/>
        </p:nvSpPr>
        <p:spPr>
          <a:xfrm>
            <a:off x="1920240" y="3118104"/>
            <a:ext cx="2377440" cy="54864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Evaluation &amp; analysis</a:t>
            </a:r>
            <a:endParaRPr lang="en-US" sz="1400" dirty="0"/>
          </a:p>
        </p:txBody>
      </p:sp>
      <p:sp>
        <p:nvSpPr>
          <p:cNvPr id="18" name="Text 16"/>
          <p:cNvSpPr txBox="1"/>
          <p:nvPr/>
        </p:nvSpPr>
        <p:spPr>
          <a:xfrm>
            <a:off x="4297680" y="3118104"/>
            <a:ext cx="4297680" cy="548640"/>
          </a:xfrm>
          <a:prstGeom prst="rect">
            <a:avLst/>
          </a:prstGeom>
          <a:noFill/>
          <a:ln/>
        </p:spPr>
        <p:txBody>
          <a:bodyPr wrap="square" lIns="0" tIns="0" rIns="0" bIns="0" rtlCol="0" anchor="ctr"/>
          <a:lstStyle/>
          <a:p>
            <a:pPr indent="0" marL="0">
              <a:buNone/>
            </a:pPr>
            <a:r>
              <a:rPr lang="en-US" sz="1250" dirty="0">
                <a:solidFill>
                  <a:srgbClr val="1B1B1B"/>
                </a:solidFill>
                <a:latin typeface="Calibri" pitchFamily="34" charset="0"/>
                <a:ea typeface="Calibri" pitchFamily="34" charset="-122"/>
                <a:cs typeface="Calibri" pitchFamily="34" charset="-120"/>
              </a:rPr>
              <a:t>Metrics, drift slope, bootstrap, regression, probe, figures</a:t>
            </a:r>
            <a:endParaRPr lang="en-US" sz="1250" dirty="0"/>
          </a:p>
        </p:txBody>
      </p:sp>
      <p:sp>
        <p:nvSpPr>
          <p:cNvPr id="19" name="Shape 17"/>
          <p:cNvSpPr/>
          <p:nvPr/>
        </p:nvSpPr>
        <p:spPr>
          <a:xfrm>
            <a:off x="457200" y="3776472"/>
            <a:ext cx="8229600" cy="548640"/>
          </a:xfrm>
          <a:prstGeom prst="roundRect">
            <a:avLst>
              <a:gd name="adj" fmla="val 13333"/>
            </a:avLst>
          </a:prstGeom>
          <a:solidFill>
            <a:srgbClr val="F3F5F9"/>
          </a:solidFill>
          <a:ln w="12700">
            <a:solidFill>
              <a:srgbClr val="F3F5F9"/>
            </a:solidFill>
            <a:prstDash val="solid"/>
          </a:ln>
        </p:spPr>
      </p:sp>
      <p:sp>
        <p:nvSpPr>
          <p:cNvPr id="20" name="Text 18"/>
          <p:cNvSpPr txBox="1"/>
          <p:nvPr/>
        </p:nvSpPr>
        <p:spPr>
          <a:xfrm>
            <a:off x="640080" y="3776472"/>
            <a:ext cx="1280160" cy="548640"/>
          </a:xfrm>
          <a:prstGeom prst="rect">
            <a:avLst/>
          </a:prstGeom>
          <a:noFill/>
          <a:ln/>
        </p:spPr>
        <p:txBody>
          <a:bodyPr wrap="square" lIns="0" tIns="0" rIns="0" bIns="0" rtlCol="0" anchor="ctr"/>
          <a:lstStyle/>
          <a:p>
            <a:pPr indent="0" marL="0">
              <a:buNone/>
            </a:pPr>
            <a:r>
              <a:rPr lang="en-US" sz="1400" b="1" dirty="0">
                <a:solidFill>
                  <a:srgbClr val="EB6834"/>
                </a:solidFill>
                <a:latin typeface="Cambria" pitchFamily="34" charset="0"/>
                <a:ea typeface="Cambria" pitchFamily="34" charset="-122"/>
                <a:cs typeface="Cambria" pitchFamily="34" charset="-120"/>
              </a:rPr>
              <a:t>Member 5</a:t>
            </a:r>
            <a:endParaRPr lang="en-US" sz="1400" dirty="0"/>
          </a:p>
        </p:txBody>
      </p:sp>
      <p:sp>
        <p:nvSpPr>
          <p:cNvPr id="21" name="Text 19"/>
          <p:cNvSpPr txBox="1"/>
          <p:nvPr/>
        </p:nvSpPr>
        <p:spPr>
          <a:xfrm>
            <a:off x="1920240" y="3776472"/>
            <a:ext cx="2377440" cy="54864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Validation, demo &amp; docs</a:t>
            </a:r>
            <a:endParaRPr lang="en-US" sz="1400" dirty="0"/>
          </a:p>
        </p:txBody>
      </p:sp>
      <p:sp>
        <p:nvSpPr>
          <p:cNvPr id="22" name="Text 20"/>
          <p:cNvSpPr txBox="1"/>
          <p:nvPr/>
        </p:nvSpPr>
        <p:spPr>
          <a:xfrm>
            <a:off x="4297680" y="3776472"/>
            <a:ext cx="4297680" cy="548640"/>
          </a:xfrm>
          <a:prstGeom prst="rect">
            <a:avLst/>
          </a:prstGeom>
          <a:noFill/>
          <a:ln/>
        </p:spPr>
        <p:txBody>
          <a:bodyPr wrap="square" lIns="0" tIns="0" rIns="0" bIns="0" rtlCol="0" anchor="ctr"/>
          <a:lstStyle/>
          <a:p>
            <a:pPr indent="0" marL="0">
              <a:buNone/>
            </a:pPr>
            <a:r>
              <a:rPr lang="en-US" sz="1250" dirty="0">
                <a:solidFill>
                  <a:srgbClr val="1B1B1B"/>
                </a:solidFill>
                <a:latin typeface="Calibri" pitchFamily="34" charset="0"/>
                <a:ea typeface="Calibri" pitchFamily="34" charset="-122"/>
                <a:cs typeface="Calibri" pitchFamily="34" charset="-120"/>
              </a:rPr>
              <a:t>Error analysis, Gradio demo, report and slides</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645920"/>
            <a:ext cx="8046720"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1"/>
          <p:cNvSpPr txBox="1"/>
          <p:nvPr/>
        </p:nvSpPr>
        <p:spPr>
          <a:xfrm>
            <a:off x="548640" y="2468880"/>
            <a:ext cx="8046720" cy="457200"/>
          </a:xfrm>
          <a:prstGeom prst="rect">
            <a:avLst/>
          </a:prstGeom>
          <a:noFill/>
          <a:ln/>
        </p:spPr>
        <p:txBody>
          <a:bodyPr wrap="square" lIns="0" tIns="0" rIns="0" bIns="0" rtlCol="0" anchor="ctr"/>
          <a:lstStyle/>
          <a:p>
            <a:pPr algn="ctr" indent="0" marL="0">
              <a:buNone/>
            </a:pPr>
            <a:r>
              <a:rPr lang="en-US" sz="2200" i="1" dirty="0">
                <a:solidFill>
                  <a:srgbClr val="CADCFC"/>
                </a:solidFill>
                <a:latin typeface="Cambria" pitchFamily="34" charset="0"/>
                <a:ea typeface="Cambria" pitchFamily="34" charset="-122"/>
                <a:cs typeface="Cambria" pitchFamily="34" charset="-120"/>
              </a:rPr>
              <a:t>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Knowing When Not to Answer</dc:title>
  <dc:subject>PptxGenJS Presentation</dc:subject>
  <dc:creator>PptxGenJS</dc:creator>
  <cp:lastModifiedBy>PptxGenJS</cp:lastModifiedBy>
  <cp:revision>1</cp:revision>
  <dcterms:created xsi:type="dcterms:W3CDTF">2026-10-14T23:22:20Z</dcterms:created>
  <dcterms:modified xsi:type="dcterms:W3CDTF">2026-10-14T23:22:20Z</dcterms:modified>
</cp:coreProperties>
</file>